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f7fc38c-167c-b595-8f3a-dea10ebb9b29}">
          <p14:sldIdLst>
            <p14:sldId id="256"/>
            <p14:sldId id="257"/>
          </p14:sldIdLst>
        </p14:section>
        <p14:section name="Why this matters" id="{9644c9a3-d0da-b188-a0be-5be2d82f1757}">
          <p14:sldIdLst>
            <p14:sldId id="258"/>
            <p14:sldId id="259"/>
            <p14:sldId id="260"/>
          </p14:sldIdLst>
        </p14:section>
        <p14:section name="Why MongoDB" id="{d982c743-4217-9f95-518d-a9b6e7441304}">
          <p14:sldIdLst>
            <p14:sldId id="261"/>
            <p14:sldId id="262"/>
          </p14:sldIdLst>
        </p14:section>
        <p14:section name="Scope and price" id="{6d7a5dde-e7cd-3969-0963-189110f0f829}">
          <p14:sldIdLst>
            <p14:sldId id="263"/>
            <p14:sldId id="264"/>
            <p14:sldId id="265"/>
            <p14:sldId id="266"/>
            <p14:sldId id="267"/>
          </p14:sldIdLst>
        </p14:section>
        <p14:section name="Hosting" id="{a2fee346-d2d1-6dbb-5ab1-9c00f20011e8}">
          <p14:sldIdLst>
            <p14:sldId id="268"/>
            <p14:sldId id="269"/>
            <p14:sldId id="270"/>
            <p14:sldId id="271"/>
          </p14:sldIdLst>
        </p14:section>
        <p14:section name="Decision" id="{59e0f4c3-c10a-3b9e-b477-986169eac75d}">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41F"/>
                </a:solidFill>
                <a:latin typeface="+mn-lt"/>
              </a:defRPr>
            </a:pPr>
            <a:r>
              <a:rPr sz="1400" b="0" i="0" u="none" strike="noStrike">
                <a:solidFill>
                  <a:srgbClr val="16241F"/>
                </a:solidFill>
                <a:latin typeface="+mn-lt"/>
              </a:rPr>
              <a:t>Documents deletable under the 60-day policy</a:t>
            </a:r>
          </a:p>
        </c:rich>
      </c:tx>
      <c:layout/>
      <c:overlay val="0"/>
    </c:title>
    <c:autoTitleDeleted val="0"/>
    <c:plotArea>
      <c:layout/>
      <c:barChart>
        <c:barDir val="col"/>
        <c:grouping val="clustered"/>
        <c:varyColors val="0"/>
        <c:ser>
          <c:idx val="0"/>
          <c:order val="0"/>
          <c:tx>
            <c:strRef>
              <c:f>Sheet1!$B$1</c:f>
              <c:strCache>
                <c:ptCount val="1"/>
                <c:pt idx="0">
                  <c:v>Deletable before the fix</c:v>
                </c:pt>
              </c:strCache>
            </c:strRef>
          </c:tx>
          <c:spPr>
            <a:solidFill>
              <a:srgbClr val="6B7F78"/>
            </a:solidFill>
            <a:effectLst/>
          </c:spPr>
          <c:invertIfNegative val="0"/>
          <c:dLbls>
            <c:numFmt formatCode="#,##0" sourceLinked="0"/>
            <c:txPr>
              <a:bodyPr/>
              <a:lstStyle/>
              <a:p>
                <a:pPr>
                  <a:defRPr b="0" i="0" strike="noStrike" sz="1100" u="none">
                    <a:solidFill>
                      <a:srgbClr val="16241F"/>
                    </a:solidFill>
                    <a:latin typeface="+mn-lt"/>
                  </a:defRPr>
                </a:pPr>
              </a:p>
            </c:txPr>
            <c:showLegendKey val="0"/>
            <c:showVal val="1"/>
            <c:showCatName val="0"/>
            <c:showSerName val="0"/>
            <c:showPercent val="0"/>
            <c:showBubbleSize val="0"/>
            <c:showLeaderLines val="0"/>
          </c:dLbls>
          <c:cat>
            <c:multiLvlStrRef>
              <c:f>Sheet1!$A$2:$A$7</c:f>
              <c:multiLvlStrCache>
                <c:ptCount val="6"/>
                <c:lvl>
                  <c:pt idx="0">
                    <c:v>Dispatch logs</c:v>
                  </c:pt>
                  <c:pt idx="1">
                    <c:v>Purchase orders</c:v>
                  </c:pt>
                  <c:pt idx="2">
                    <c:v>Goods receipts</c:v>
                  </c:pt>
                  <c:pt idx="3">
                    <c:v>Inventory counts</c:v>
                  </c:pt>
                  <c:pt idx="4">
                    <c:v>File attachments</c:v>
                  </c:pt>
                  <c:pt idx="5">
                    <c:v>Stock adjustments</c:v>
                  </c:pt>
                </c:lvl>
              </c:multiLvlStrCache>
            </c:multiLvlStrRef>
          </c:cat>
          <c:val>
            <c:numRef>
              <c:f>Sheet1!$B$2:$B$7</c:f>
              <c:numCache>
                <c:formatCode>General</c:formatCode>
                <c:ptCount val="6"/>
                <c:pt idx="0">
                  <c:v>1</c:v>
                </c:pt>
                <c:pt idx="1">
                  <c:v>576</c:v>
                </c:pt>
                <c:pt idx="2">
                  <c:v>0</c:v>
                </c:pt>
                <c:pt idx="3">
                  <c:v>1</c:v>
                </c:pt>
                <c:pt idx="4">
                  <c:v>0</c:v>
                </c:pt>
                <c:pt idx="5">
                  <c:v>8</c:v>
                </c:pt>
              </c:numCache>
            </c:numRef>
          </c:val>
        </c:ser>
        <c:ser>
          <c:idx val="1"/>
          <c:order val="1"/>
          <c:tx>
            <c:strRef>
              <c:f>Sheet1!$C$1</c:f>
              <c:strCache>
                <c:ptCount val="1"/>
                <c:pt idx="0">
                  <c:v>Deletable after the fix</c:v>
                </c:pt>
              </c:strCache>
            </c:strRef>
          </c:tx>
          <c:spPr>
            <a:solidFill>
              <a:srgbClr val="1F8A5B"/>
            </a:solidFill>
            <a:effectLst/>
          </c:spPr>
          <c:invertIfNegative val="0"/>
          <c:dLbls>
            <c:numFmt formatCode="#,##0" sourceLinked="0"/>
            <c:txPr>
              <a:bodyPr/>
              <a:lstStyle/>
              <a:p>
                <a:pPr>
                  <a:defRPr b="0" i="0" strike="noStrike" sz="1100" u="none">
                    <a:solidFill>
                      <a:srgbClr val="16241F"/>
                    </a:solidFill>
                    <a:latin typeface="+mn-lt"/>
                  </a:defRPr>
                </a:pPr>
              </a:p>
            </c:txPr>
            <c:showLegendKey val="0"/>
            <c:showVal val="1"/>
            <c:showCatName val="0"/>
            <c:showSerName val="0"/>
            <c:showPercent val="0"/>
            <c:showBubbleSize val="0"/>
            <c:showLeaderLines val="0"/>
          </c:dLbls>
          <c:cat>
            <c:multiLvlStrRef>
              <c:f>Sheet1!$A$2:$A$7</c:f>
              <c:multiLvlStrCache>
                <c:ptCount val="6"/>
                <c:lvl>
                  <c:pt idx="0">
                    <c:v>Dispatch logs</c:v>
                  </c:pt>
                  <c:pt idx="1">
                    <c:v>Purchase orders</c:v>
                  </c:pt>
                  <c:pt idx="2">
                    <c:v>Goods receipts</c:v>
                  </c:pt>
                  <c:pt idx="3">
                    <c:v>Inventory counts</c:v>
                  </c:pt>
                  <c:pt idx="4">
                    <c:v>File attachments</c:v>
                  </c:pt>
                  <c:pt idx="5">
                    <c:v>Stock adjustments</c:v>
                  </c:pt>
                </c:lvl>
              </c:multiLvlStrCache>
            </c:multiLvlStrRef>
          </c:cat>
          <c:val>
            <c:numRef>
              <c:f>Sheet1!$C$2:$C$7</c:f>
              <c:numCache>
                <c:formatCode>General</c:formatCode>
                <c:ptCount val="6"/>
                <c:pt idx="0">
                  <c:v>4307</c:v>
                </c:pt>
                <c:pt idx="1">
                  <c:v>2241</c:v>
                </c:pt>
                <c:pt idx="2">
                  <c:v>2219</c:v>
                </c:pt>
                <c:pt idx="3">
                  <c:v>167</c:v>
                </c:pt>
                <c:pt idx="4">
                  <c:v>3009</c:v>
                </c:pt>
                <c:pt idx="5">
                  <c:v>0</c:v>
                </c:pt>
              </c:numCache>
            </c:numRef>
          </c:val>
        </c:ser>
        <c:dLbls>
          <c:numFmt formatCode="#,##0" sourceLinked="0"/>
          <c:txPr>
            <a:bodyPr/>
            <a:lstStyle/>
            <a:p>
              <a:pPr>
                <a:defRPr b="0" i="0" strike="noStrike" sz="1100" u="none">
                  <a:solidFill>
                    <a:srgbClr val="16241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6241F"/>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E1D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F7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6241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41F"/>
                </a:solidFill>
                <a:latin typeface="+mn-lt"/>
              </a:defRPr>
            </a:pPr>
            <a:r>
              <a:rPr sz="1400" b="0" i="0" u="none" strike="noStrike">
                <a:solidFill>
                  <a:srgbClr val="16241F"/>
                </a:solidFill>
                <a:latin typeface="+mn-lt"/>
              </a:rPr>
              <a:t>Fixed fee by workstream (SZL)</a:t>
            </a:r>
          </a:p>
        </c:rich>
      </c:tx>
      <c:layout/>
      <c:overlay val="0"/>
    </c:title>
    <c:autoTitleDeleted val="0"/>
    <c:plotArea>
      <c:layout/>
      <c:barChart>
        <c:barDir val="bar"/>
        <c:grouping val="clustered"/>
        <c:varyColors val="0"/>
        <c:ser>
          <c:idx val="0"/>
          <c:order val="0"/>
          <c:tx>
            <c:strRef>
              <c:f>Sheet1!$B$1</c:f>
              <c:strCache>
                <c:ptCount val="1"/>
                <c:pt idx="0">
                  <c:v>Fee (SZL)</c:v>
                </c:pt>
              </c:strCache>
            </c:strRef>
          </c:tx>
          <c:spPr>
            <a:solidFill>
              <a:srgbClr val="1F8A5B"/>
            </a:solidFill>
            <a:effectLst/>
          </c:spPr>
          <c:invertIfNegative val="0"/>
          <c:dLbls>
            <c:numFmt formatCode="#,##0" sourceLinked="0"/>
            <c:txPr>
              <a:bodyPr/>
              <a:lstStyle/>
              <a:p>
                <a:pPr>
                  <a:defRPr b="0" i="0" strike="noStrike" sz="1200" u="none">
                    <a:solidFill>
                      <a:srgbClr val="16241F"/>
                    </a:solidFill>
                    <a:latin typeface="+mn-lt"/>
                  </a:defRPr>
                </a:pPr>
              </a:p>
            </c:txPr>
            <c:showLegendKey val="0"/>
            <c:showVal val="1"/>
            <c:showCatName val="0"/>
            <c:showSerName val="0"/>
            <c:showPercent val="0"/>
            <c:showBubbleSize val="0"/>
            <c:showLeaderLines val="0"/>
          </c:dLbls>
          <c:cat>
            <c:multiLvlStrRef>
              <c:f>Sheet1!$A$2:$A$9</c:f>
              <c:multiLvlStrCache>
                <c:ptCount val="8"/>
                <c:lvl>
                  <c:pt idx="0">
                    <c:v>API route rewrite</c:v>
                  </c:pt>
                  <c:pt idx="1">
                    <c:v>Testing and QA</c:v>
                  </c:pt>
                  <c:pt idx="2">
                    <c:v>Schema design</c:v>
                  </c:pt>
                  <c:pt idx="3">
                    <c:v>Data migration</c:v>
                  </c:pt>
                  <c:pt idx="4">
                    <c:v>Admin screen</c:v>
                  </c:pt>
                  <c:pt idx="5">
                    <c:v>File storage</c:v>
                  </c:pt>
                  <c:pt idx="6">
                    <c:v>Auth rewrite</c:v>
                  </c:pt>
                  <c:pt idx="7">
                    <c:v>Cutover</c:v>
                  </c:pt>
                </c:lvl>
              </c:multiLvlStrCache>
            </c:multiLvlStrRef>
          </c:cat>
          <c:val>
            <c:numRef>
              <c:f>Sheet1!$B$2:$B$9</c:f>
              <c:numCache>
                <c:formatCode>General</c:formatCode>
                <c:ptCount val="8"/>
                <c:pt idx="0">
                  <c:v>8000</c:v>
                </c:pt>
                <c:pt idx="1">
                  <c:v>2500</c:v>
                </c:pt>
                <c:pt idx="2">
                  <c:v>2000</c:v>
                </c:pt>
                <c:pt idx="3">
                  <c:v>2000</c:v>
                </c:pt>
                <c:pt idx="4">
                  <c:v>1900</c:v>
                </c:pt>
                <c:pt idx="5">
                  <c:v>1400</c:v>
                </c:pt>
                <c:pt idx="6">
                  <c:v>1200</c:v>
                </c:pt>
                <c:pt idx="7">
                  <c:v>1000</c:v>
                </c:pt>
              </c:numCache>
            </c:numRef>
          </c:val>
        </c:ser>
        <c:dLbls>
          <c:numFmt formatCode="#,##0" sourceLinked="0"/>
          <c:txPr>
            <a:bodyPr/>
            <a:lstStyle/>
            <a:p>
              <a:pPr>
                <a:defRPr b="0" i="0" strike="noStrike" sz="1200" u="none">
                  <a:solidFill>
                    <a:srgbClr val="16241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6241F"/>
                </a:solidFill>
                <a:latin typeface="+mn-lt"/>
              </a:defRPr>
            </a:pPr>
            <a:endParaRPr lang="en-US"/>
          </a:p>
        </c:txPr>
        <c:crossAx val="2094734552"/>
        <c:crosses val="autoZero"/>
        <c:auto val="1"/>
        <c:lblAlgn val="ctr"/>
        <c:noMultiLvlLbl val="1"/>
      </c:catAx>
      <c:valAx>
        <c:axId val="2094734552"/>
        <c:scaling>
          <c:orientation val="minMax"/>
          <c:max val="95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deck covers why CaterFlow should move its live data from Sanity to MongoDB, what the quoted SZL 20,000 buys, and the hosting choices, including a server in the office. Source documents: the migration plan and quote (15 September 2026), the retention report (22 September 2026) and the accuracy audit (4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in one page. Production was blocked by Sanity's document quota at about 31,059 live documents. The migration touches about 24,784 documents and is quoted as a fixed SZL 20,000 over 96 to 139 estimated hours. Hosting is not part of the quote. Timeline: the work is now full-time, so about 3 to 4 weeks of build at 40 hours a week (estimate; the quote assumed 4 to 6 months after hours), plus a rollback window. The quote's fixed fee is unchanged here; whether the discounted rate still applies to full-time work is a decision for G-Solutions².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retention findings report CATERFLOW-RETENTION-2026-09-22-R2. Before the fix only 586 documents passed the deletion gate; after it, 11,943. The fix is in code and tested but not deployed. The report itself says the fix is necessary but not sufficient.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structural argument. After a delete pass, the live count settles near the number of documents created in the last 60 days, plus whatever cannot be deleted yet. Several kinds of document are never deleted. We have not measured growth, so I am not putting a date on it; that is a recommended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accuracy audit traces the Reports errors and several stock errors to the two-store design. F-01, F-02 and F-04 are severity S1 or confirmed findings. Each new feature that needs history has to merge the stores again, and each place that forgets produces another wrong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Mongo is not chosen because it is automatically faster. The gains come from one store, no quota, server-side aggregation with indexes, transactions on a replica set, and the fact that the app already uses the native driver for archive history. Transactions need a replica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about the two jobs that move into the app: reference integrity, because Mongo does not enforce references the way Sanity does, and admin editing, because Studio goes away. Query speed also depends on indexes being designed with the 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come from the codebase as read in September 2026: 64 files import Sanity, 54 route files, about 194 GROQ blocks and 211 fetch calls, 24 schema types and about 24,784 documents in the latest production export. No evidence the client uses Studio directly, but that needs confirming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Phasing lets CaterFlow keep running on Sanity throughout most of the project and cut over only once each phase is verified. Payment milestones: SZL 10,000 deposit before work starts, SZL 5,000 on completion of Phase 2, SZL 5,000 on go-live after Phase 4 sign-off. The regression matrix is re-run at the end of each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Fees by workstream sum to SZL 20,000. Hours by workstream: API rewrite 40 to 55, QA 12 to 18, schema design 10 to 14, data migration 10 to 14, admin screen 8 to 14, file storage 6 to 10, auth 6 to 8, cutover 4 to 6, totalling 96 to 139. The standard rate is not stated in the quote, so I am not quoting a discount percentage.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Arithmetic: 96 x 170 = 16,320; 139 x 170 = 23,630; 20,000 / 170 = about 117.6 hours; 20,000 / 139 = about 144 per hour; 20,000 / 96 = about 208 per hour. API rewrite 40 to 55 hours over about 194 queries is 12 to 17 minutes each. One caution: the migration plan's phase estimates add up to 92 to 129 hours, while the quote's workstreams add up to 96 to 139. Reconcile them before the client compares the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starts only once the quote is signed and the SZL 10,000 deposit has been received. The quote assumes MongoDB Atlas for hosting, billed directly by MongoDB with no markup. If the client self-hosts, provisioning, hardening, tunnelling, backup automation and monitoring are extra scope. Payback against the Sanity subscription cannot be calculated until we know what the client pays Sanity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MongoDB Community Server is free to self-host. The real differences are who carries operations and availability risk. A single node is acceptable only for development. I have deliberately not quoted hosting prices because none are recorded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is described as a Next.js app on Vercel. How Vercel's functions connect through a tunnel needs testing before we commit. The port-forward option is listed only so we can explicitly rule it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backup point matters most. The repository already has scripts/export_mongo.js and BACKUP_SAFETY_GUIDE.md, which are a starting point, but neither covers an off-site copy. Two members in the office plus one off-site protects against losing the whole building. Nobody is named as owner of operations in the plan, quote or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conditions are the gate for office hosting. Because the app only needs a connection string, the system can move from Atlas to an office server later, once the conditions are met, without code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quota block is the urgent item: the migration takes weeks and Sanity is binding now, so the retention fix needs to be deployed in the meantime, after a backup. Also confirm ARCHIVE_DAYS_THRESHOLD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is urgent and independent of the migration decision. Step three keeps the build away from office infrastructure while the schema and routes are being proven. The quote itself already recommends reviewing real usage after Phase 1 before committing to a paid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open questions from the migration plan plus the hosting questions raised since. The answers on hosting, power and internet decide whether an office server is viable.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E3B3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86384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794760"/>
            <a:ext cx="7863840" cy="109728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
        <p:nvSpPr>
          <p:cNvPr id="4" name="Text 0"/>
          <p:cNvSpPr/>
          <p:nvPr/>
        </p:nvSpPr>
        <p:spPr>
          <a:xfrm>
            <a:off x="731520" y="6126480"/>
            <a:ext cx="7315200" cy="320040"/>
          </a:xfrm>
          <a:prstGeom prst="rect">
            <a:avLst/>
          </a:prstGeom>
          <a:noFill/>
          <a:ln/>
        </p:spPr>
        <p:txBody>
          <a:bodyPr wrap="square" lIns="0" tIns="0" rIns="0" bIns="0" rtlCol="0" anchor="ctr"/>
          <a:lstStyle/>
          <a:p>
            <a:pPr indent="0" marL="0">
              <a:buNone/>
            </a:pPr>
            <a:r>
              <a:rPr lang="en-US" sz="1200" dirty="0">
                <a:solidFill>
                  <a:schemeClr val="accent6"/>
                </a:solidFill>
              </a:rPr>
              <a:t>G-Solutions²  ·  Prepared for Eclipse Catering</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CaterFlow data layer  ·  Sanity to MongoDB</a:t>
            </a:r>
            <a:endParaRPr lang="en-US" sz="10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0E3B3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CaterFlow data layer  ·  Sanity to MongoDB</a:t>
            </a:r>
            <a:endParaRPr lang="en-US" sz="10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C5B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3.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863840" cy="1737360"/>
          </a:xfrm>
          <a:prstGeom prst="rect">
            <a:avLst/>
          </a:prstGeom>
          <a:noFill/>
          <a:ln/>
        </p:spPr>
        <p:txBody>
          <a:bodyPr wrap="square" lIns="0" tIns="0" rIns="0" bIns="0" rtlCol="0" anchor="b"/>
          <a:lstStyle/>
          <a:p>
            <a:pPr algn="l" indent="0" marL="0">
              <a:buNone/>
            </a:pPr>
            <a:r>
              <a:rPr lang="en-US" sz="4400" b="1" dirty="0">
                <a:solidFill>
                  <a:schemeClr val="bg1"/>
                </a:solidFill>
              </a:rPr>
              <a:t>Moving CaterFlow from Sanity to MongoDB</a:t>
            </a:r>
            <a:endParaRPr lang="en-US" sz="4400" dirty="0"/>
          </a:p>
        </p:txBody>
      </p:sp>
      <p:sp>
        <p:nvSpPr>
          <p:cNvPr id="3" name="Text 0"/>
          <p:cNvSpPr/>
          <p:nvPr>
            <p:ph idx="101" type="body" hasCustomPrompt="1"/>
          </p:nvPr>
        </p:nvSpPr>
        <p:spPr>
          <a:xfrm>
            <a:off x="731520" y="3794760"/>
            <a:ext cx="7863840" cy="1097280"/>
          </a:xfrm>
          <a:prstGeom prst="rect">
            <a:avLst/>
          </a:prstGeom>
          <a:noFill/>
          <a:ln/>
        </p:spPr>
        <p:txBody>
          <a:bodyPr wrap="square" lIns="0" tIns="0" rIns="0" bIns="0" rtlCol="0" anchor="t"/>
          <a:lstStyle/>
          <a:p>
            <a:pPr algn="l" indent="0" marL="0">
              <a:buNone/>
            </a:pPr>
            <a:r>
              <a:rPr lang="en-US" sz="2000" dirty="0">
                <a:solidFill>
                  <a:schemeClr val="accent6"/>
                </a:solidFill>
              </a:rPr>
              <a:t>Options, considerations and pricing</a:t>
            </a:r>
            <a:endParaRPr lang="en-US" sz="2000" dirty="0"/>
          </a:p>
        </p:txBody>
      </p:sp>
      <p:sp>
        <p:nvSpPr>
          <p:cNvPr id="4" name="Cover circle"/>
          <p:cNvSpPr/>
          <p:nvPr/>
        </p:nvSpPr>
        <p:spPr>
          <a:xfrm>
            <a:off x="9052560" y="1463040"/>
            <a:ext cx="2743200" cy="2743200"/>
          </a:xfrm>
          <a:prstGeom prst="ellipse">
            <a:avLst/>
          </a:prstGeom>
          <a:solidFill>
            <a:schemeClr val="accent1"/>
          </a:solidFill>
          <a:ln/>
        </p:spPr>
      </p:sp>
      <p:pic>
        <p:nvPicPr>
          <p:cNvPr id="5" name="Cover icon" descr="Database">    </p:cNvPr>
          <p:cNvPicPr>
            <a:picLocks noChangeAspect="1"/>
          </p:cNvPicPr>
          <p:nvPr/>
        </p:nvPicPr>
        <p:blipFill>
          <a:blip r:embed="rId1"/>
          <a:stretch>
            <a:fillRect/>
          </a:stretch>
        </p:blipFill>
        <p:spPr>
          <a:xfrm>
            <a:off x="9738360" y="2148840"/>
            <a:ext cx="1371600" cy="1371600"/>
          </a:xfrm>
          <a:prstGeom prst="rect">
            <a:avLst/>
          </a:prstGeom>
        </p:spPr>
      </p:pic>
      <p:sp>
        <p:nvSpPr>
          <p:cNvPr id="6" name="Cover date"/>
          <p:cNvSpPr txBox="1"/>
          <p:nvPr/>
        </p:nvSpPr>
        <p:spPr>
          <a:xfrm>
            <a:off x="9052560" y="4480560"/>
            <a:ext cx="2743200" cy="365760"/>
          </a:xfrm>
          <a:prstGeom prst="rect">
            <a:avLst/>
          </a:prstGeom>
          <a:noFill/>
          <a:ln/>
        </p:spPr>
        <p:txBody>
          <a:bodyPr wrap="square" lIns="0" tIns="0" rIns="0" bIns="0" rtlCol="0" anchor="t"/>
          <a:lstStyle/>
          <a:p>
            <a:pPr algn="ctr" indent="0" marL="0">
              <a:buNone/>
            </a:pPr>
            <a:r>
              <a:rPr lang="en-US" sz="1400" dirty="0">
                <a:solidFill>
                  <a:schemeClr val="accent6"/>
                </a:solidFill>
              </a:rPr>
              <a:t>4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rPr>
              <a:t>Executive summary</a:t>
            </a:r>
            <a:endParaRPr lang="en-US" sz="3600" dirty="0"/>
          </a:p>
        </p:txBody>
      </p:sp>
      <p:sp>
        <p:nvSpPr>
          <p:cNvPr id="3" name="Lede"/>
          <p:cNvSpPr txBox="1"/>
          <p:nvPr/>
        </p:nvSpPr>
        <p:spPr>
          <a:xfrm>
            <a:off x="548640" y="1188720"/>
            <a:ext cx="11091672" cy="594360"/>
          </a:xfrm>
          <a:prstGeom prst="rect">
            <a:avLst/>
          </a:prstGeom>
          <a:noFill/>
          <a:ln/>
        </p:spPr>
        <p:txBody>
          <a:bodyPr wrap="square" lIns="0" tIns="0" rIns="0" bIns="0" rtlCol="0" anchor="t"/>
          <a:lstStyle/>
          <a:p>
            <a:pPr indent="0" marL="0">
              <a:buNone/>
            </a:pPr>
            <a:r>
              <a:rPr lang="en-US" sz="1600" dirty="0">
                <a:solidFill>
                  <a:schemeClr val="tx1"/>
                </a:solidFill>
              </a:rPr>
              <a:t>Moving live data to MongoDB removes a ceiling that new features push toward, and ends the two-database split behind the stock and report errors.</a:t>
            </a:r>
            <a:endParaRPr lang="en-US" sz="1600" dirty="0"/>
          </a:p>
        </p:txBody>
      </p:sp>
      <p:sp>
        <p:nvSpPr>
          <p:cNvPr id="4" name="Stat blocked card"/>
          <p:cNvSpPr/>
          <p:nvPr/>
        </p:nvSpPr>
        <p:spPr>
          <a:xfrm>
            <a:off x="548640" y="1965960"/>
            <a:ext cx="2606040" cy="2103120"/>
          </a:xfrm>
          <a:prstGeom prst="roundRect">
            <a:avLst>
              <a:gd name="adj" fmla="val 4348"/>
            </a:avLst>
          </a:prstGeom>
          <a:solidFill>
            <a:schemeClr val="bg2"/>
          </a:solidFill>
          <a:ln/>
        </p:spPr>
      </p:sp>
      <p:sp>
        <p:nvSpPr>
          <p:cNvPr id="5" name="Stat blocked value"/>
          <p:cNvSpPr txBox="1"/>
          <p:nvPr/>
        </p:nvSpPr>
        <p:spPr>
          <a:xfrm>
            <a:off x="777240" y="2194560"/>
            <a:ext cx="2148840" cy="82296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31,059</a:t>
            </a:r>
            <a:endParaRPr lang="en-US" sz="4000" dirty="0"/>
          </a:p>
        </p:txBody>
      </p:sp>
      <p:sp>
        <p:nvSpPr>
          <p:cNvPr id="6" name="Stat blocked label"/>
          <p:cNvSpPr txBox="1"/>
          <p:nvPr/>
        </p:nvSpPr>
        <p:spPr>
          <a:xfrm>
            <a:off x="777240" y="3063240"/>
            <a:ext cx="2148840" cy="822960"/>
          </a:xfrm>
          <a:prstGeom prst="rect">
            <a:avLst/>
          </a:prstGeom>
          <a:noFill/>
          <a:ln/>
        </p:spPr>
        <p:txBody>
          <a:bodyPr wrap="square" lIns="0" tIns="0" rIns="0" bIns="0" rtlCol="0" anchor="t"/>
          <a:lstStyle/>
          <a:p>
            <a:pPr indent="0" marL="0">
              <a:buNone/>
            </a:pPr>
            <a:r>
              <a:rPr lang="en-US" sz="1400" dirty="0">
                <a:solidFill>
                  <a:schemeClr val="tx1"/>
                </a:solidFill>
              </a:rPr>
              <a:t>live Sanity documents when production was blocked</a:t>
            </a:r>
            <a:endParaRPr lang="en-US" sz="1400" dirty="0"/>
          </a:p>
        </p:txBody>
      </p:sp>
      <p:sp>
        <p:nvSpPr>
          <p:cNvPr id="7" name="Stat documents card"/>
          <p:cNvSpPr/>
          <p:nvPr/>
        </p:nvSpPr>
        <p:spPr>
          <a:xfrm>
            <a:off x="3376879" y="1965960"/>
            <a:ext cx="2606040" cy="2103120"/>
          </a:xfrm>
          <a:prstGeom prst="roundRect">
            <a:avLst>
              <a:gd name="adj" fmla="val 4348"/>
            </a:avLst>
          </a:prstGeom>
          <a:solidFill>
            <a:schemeClr val="bg2"/>
          </a:solidFill>
          <a:ln/>
        </p:spPr>
      </p:sp>
      <p:sp>
        <p:nvSpPr>
          <p:cNvPr id="8" name="Stat documents value"/>
          <p:cNvSpPr txBox="1"/>
          <p:nvPr/>
        </p:nvSpPr>
        <p:spPr>
          <a:xfrm>
            <a:off x="3605479" y="2194560"/>
            <a:ext cx="2148840" cy="82296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24,784</a:t>
            </a:r>
            <a:endParaRPr lang="en-US" sz="4000" dirty="0"/>
          </a:p>
        </p:txBody>
      </p:sp>
      <p:sp>
        <p:nvSpPr>
          <p:cNvPr id="9" name="Stat documents label"/>
          <p:cNvSpPr txBox="1"/>
          <p:nvPr/>
        </p:nvSpPr>
        <p:spPr>
          <a:xfrm>
            <a:off x="3605479" y="3063240"/>
            <a:ext cx="2148840" cy="822960"/>
          </a:xfrm>
          <a:prstGeom prst="rect">
            <a:avLst/>
          </a:prstGeom>
          <a:noFill/>
          <a:ln/>
        </p:spPr>
        <p:txBody>
          <a:bodyPr wrap="square" lIns="0" tIns="0" rIns="0" bIns="0" rtlCol="0" anchor="t"/>
          <a:lstStyle/>
          <a:p>
            <a:pPr indent="0" marL="0">
              <a:buNone/>
            </a:pPr>
            <a:r>
              <a:rPr lang="en-US" sz="1400" dirty="0">
                <a:solidFill>
                  <a:schemeClr val="tx1"/>
                </a:solidFill>
              </a:rPr>
              <a:t>documents to migrate and verify</a:t>
            </a:r>
            <a:endParaRPr lang="en-US" sz="1400" dirty="0"/>
          </a:p>
        </p:txBody>
      </p:sp>
      <p:sp>
        <p:nvSpPr>
          <p:cNvPr id="10" name="Stat fee card"/>
          <p:cNvSpPr/>
          <p:nvPr/>
        </p:nvSpPr>
        <p:spPr>
          <a:xfrm>
            <a:off x="6205118" y="1965960"/>
            <a:ext cx="2606040" cy="2103120"/>
          </a:xfrm>
          <a:prstGeom prst="roundRect">
            <a:avLst>
              <a:gd name="adj" fmla="val 4348"/>
            </a:avLst>
          </a:prstGeom>
          <a:solidFill>
            <a:schemeClr val="bg2"/>
          </a:solidFill>
          <a:ln/>
        </p:spPr>
      </p:sp>
      <p:sp>
        <p:nvSpPr>
          <p:cNvPr id="11" name="Stat fee value"/>
          <p:cNvSpPr txBox="1"/>
          <p:nvPr/>
        </p:nvSpPr>
        <p:spPr>
          <a:xfrm>
            <a:off x="6433718" y="2194560"/>
            <a:ext cx="2148840" cy="82296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20,000</a:t>
            </a:r>
            <a:endParaRPr lang="en-US" sz="4000" dirty="0"/>
          </a:p>
        </p:txBody>
      </p:sp>
      <p:sp>
        <p:nvSpPr>
          <p:cNvPr id="12" name="Stat fee label"/>
          <p:cNvSpPr txBox="1"/>
          <p:nvPr/>
        </p:nvSpPr>
        <p:spPr>
          <a:xfrm>
            <a:off x="6433718" y="3063240"/>
            <a:ext cx="2148840" cy="822960"/>
          </a:xfrm>
          <a:prstGeom prst="rect">
            <a:avLst/>
          </a:prstGeom>
          <a:noFill/>
          <a:ln/>
        </p:spPr>
        <p:txBody>
          <a:bodyPr wrap="square" lIns="0" tIns="0" rIns="0" bIns="0" rtlCol="0" anchor="t"/>
          <a:lstStyle/>
          <a:p>
            <a:pPr indent="0" marL="0">
              <a:buNone/>
            </a:pPr>
            <a:r>
              <a:rPr lang="en-US" sz="1400" dirty="0">
                <a:solidFill>
                  <a:schemeClr val="tx1"/>
                </a:solidFill>
              </a:rPr>
              <a:t>SZL fixed fee, 96–139 estimated hours</a:t>
            </a:r>
            <a:endParaRPr lang="en-US" sz="1400" dirty="0"/>
          </a:p>
        </p:txBody>
      </p:sp>
      <p:sp>
        <p:nvSpPr>
          <p:cNvPr id="13" name="Stat time card"/>
          <p:cNvSpPr/>
          <p:nvPr/>
        </p:nvSpPr>
        <p:spPr>
          <a:xfrm>
            <a:off x="9033358" y="1965960"/>
            <a:ext cx="2606040" cy="2103120"/>
          </a:xfrm>
          <a:prstGeom prst="roundRect">
            <a:avLst>
              <a:gd name="adj" fmla="val 4348"/>
            </a:avLst>
          </a:prstGeom>
          <a:solidFill>
            <a:schemeClr val="bg2"/>
          </a:solidFill>
          <a:ln/>
        </p:spPr>
      </p:sp>
      <p:sp>
        <p:nvSpPr>
          <p:cNvPr id="14" name="Stat time value"/>
          <p:cNvSpPr txBox="1"/>
          <p:nvPr/>
        </p:nvSpPr>
        <p:spPr>
          <a:xfrm>
            <a:off x="9261958" y="2194560"/>
            <a:ext cx="2148840" cy="82296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3–4</a:t>
            </a:r>
            <a:endParaRPr lang="en-US" sz="4000" dirty="0"/>
          </a:p>
        </p:txBody>
      </p:sp>
      <p:sp>
        <p:nvSpPr>
          <p:cNvPr id="15" name="Stat time label"/>
          <p:cNvSpPr txBox="1"/>
          <p:nvPr/>
        </p:nvSpPr>
        <p:spPr>
          <a:xfrm>
            <a:off x="9261958" y="3063240"/>
            <a:ext cx="2148840" cy="822960"/>
          </a:xfrm>
          <a:prstGeom prst="rect">
            <a:avLst/>
          </a:prstGeom>
          <a:noFill/>
          <a:ln/>
        </p:spPr>
        <p:txBody>
          <a:bodyPr wrap="square" lIns="0" tIns="0" rIns="0" bIns="0" rtlCol="0" anchor="t"/>
          <a:lstStyle/>
          <a:p>
            <a:pPr indent="0" marL="0">
              <a:buNone/>
            </a:pPr>
            <a:r>
              <a:rPr lang="en-US" sz="1400" dirty="0">
                <a:solidFill>
                  <a:schemeClr val="tx1"/>
                </a:solidFill>
              </a:rPr>
              <a:t>weeks of full-time build, plus a rollback window</a:t>
            </a:r>
            <a:endParaRPr lang="en-US" sz="1400" dirty="0"/>
          </a:p>
        </p:txBody>
      </p:sp>
      <p:sp>
        <p:nvSpPr>
          <p:cNvPr id="16" name="Point 1 circle"/>
          <p:cNvSpPr/>
          <p:nvPr/>
        </p:nvSpPr>
        <p:spPr>
          <a:xfrm>
            <a:off x="548640" y="4434840"/>
            <a:ext cx="548640" cy="548640"/>
          </a:xfrm>
          <a:prstGeom prst="ellipse">
            <a:avLst/>
          </a:prstGeom>
          <a:solidFill>
            <a:schemeClr val="accent1"/>
          </a:solidFill>
          <a:ln/>
        </p:spPr>
      </p:sp>
      <p:pic>
        <p:nvPicPr>
          <p:cNvPr id="17" name="Point 1 icon" descr="Point 1">    </p:cNvPr>
          <p:cNvPicPr>
            <a:picLocks noChangeAspect="1"/>
          </p:cNvPicPr>
          <p:nvPr/>
        </p:nvPicPr>
        <p:blipFill>
          <a:blip r:embed="rId1"/>
          <a:stretch>
            <a:fillRect/>
          </a:stretch>
        </p:blipFill>
        <p:spPr>
          <a:xfrm>
            <a:off x="685800" y="4572000"/>
            <a:ext cx="274320" cy="274320"/>
          </a:xfrm>
          <a:prstGeom prst="rect">
            <a:avLst/>
          </a:prstGeom>
        </p:spPr>
      </p:pic>
      <p:sp>
        <p:nvSpPr>
          <p:cNvPr id="18" name="Point 1 heading"/>
          <p:cNvSpPr txBox="1"/>
          <p:nvPr/>
        </p:nvSpPr>
        <p:spPr>
          <a:xfrm>
            <a:off x="1280160" y="4434840"/>
            <a:ext cx="2834640" cy="320040"/>
          </a:xfrm>
          <a:prstGeom prst="rect">
            <a:avLst/>
          </a:prstGeom>
          <a:noFill/>
          <a:ln/>
        </p:spPr>
        <p:txBody>
          <a:bodyPr wrap="square" lIns="0" tIns="0" rIns="0" bIns="0" rtlCol="0" anchor="t"/>
          <a:lstStyle/>
          <a:p>
            <a:pPr indent="0" marL="0">
              <a:buNone/>
            </a:pPr>
            <a:r>
              <a:rPr lang="en-US" sz="1600" b="1" dirty="0">
                <a:solidFill>
                  <a:schemeClr val="tx1"/>
                </a:solidFill>
              </a:rPr>
              <a:t>Hosting is separate</a:t>
            </a:r>
            <a:endParaRPr lang="en-US" sz="1600" dirty="0"/>
          </a:p>
        </p:txBody>
      </p:sp>
      <p:sp>
        <p:nvSpPr>
          <p:cNvPr id="19" name="Point 1 text"/>
          <p:cNvSpPr txBox="1"/>
          <p:nvPr/>
        </p:nvSpPr>
        <p:spPr>
          <a:xfrm>
            <a:off x="1280160" y="4800600"/>
            <a:ext cx="2834640" cy="1280160"/>
          </a:xfrm>
          <a:prstGeom prst="rect">
            <a:avLst/>
          </a:prstGeom>
          <a:noFill/>
          <a:ln/>
        </p:spPr>
        <p:txBody>
          <a:bodyPr wrap="square" lIns="0" tIns="0" rIns="0" bIns="0" rtlCol="0" anchor="t"/>
          <a:lstStyle/>
          <a:p>
            <a:pPr indent="0" marL="0">
              <a:buNone/>
            </a:pPr>
            <a:r>
              <a:rPr lang="en-US" sz="1400" dirty="0">
                <a:solidFill>
                  <a:schemeClr val="tx1"/>
                </a:solidFill>
              </a:rPr>
              <a:t>Atlas, a rented server or an office server all work, because the app needs only a connection string.</a:t>
            </a:r>
            <a:endParaRPr lang="en-US" sz="1400" dirty="0"/>
          </a:p>
        </p:txBody>
      </p:sp>
      <p:sp>
        <p:nvSpPr>
          <p:cNvPr id="20" name="Point 2 circle"/>
          <p:cNvSpPr/>
          <p:nvPr/>
        </p:nvSpPr>
        <p:spPr>
          <a:xfrm>
            <a:off x="4297680" y="4434840"/>
            <a:ext cx="548640" cy="548640"/>
          </a:xfrm>
          <a:prstGeom prst="ellipse">
            <a:avLst/>
          </a:prstGeom>
          <a:solidFill>
            <a:schemeClr val="accent1"/>
          </a:solidFill>
          <a:ln/>
        </p:spPr>
      </p:sp>
      <p:pic>
        <p:nvPicPr>
          <p:cNvPr id="21" name="Point 2 icon" descr="Point 2">    </p:cNvPr>
          <p:cNvPicPr>
            <a:picLocks noChangeAspect="1"/>
          </p:cNvPicPr>
          <p:nvPr/>
        </p:nvPicPr>
        <p:blipFill>
          <a:blip r:embed="rId2"/>
          <a:stretch>
            <a:fillRect/>
          </a:stretch>
        </p:blipFill>
        <p:spPr>
          <a:xfrm>
            <a:off x="4434840" y="4572000"/>
            <a:ext cx="274320" cy="274320"/>
          </a:xfrm>
          <a:prstGeom prst="rect">
            <a:avLst/>
          </a:prstGeom>
        </p:spPr>
      </p:pic>
      <p:sp>
        <p:nvSpPr>
          <p:cNvPr id="22" name="Point 2 heading"/>
          <p:cNvSpPr txBox="1"/>
          <p:nvPr/>
        </p:nvSpPr>
        <p:spPr>
          <a:xfrm>
            <a:off x="5029200" y="4434840"/>
            <a:ext cx="2834640" cy="320040"/>
          </a:xfrm>
          <a:prstGeom prst="rect">
            <a:avLst/>
          </a:prstGeom>
          <a:noFill/>
          <a:ln/>
        </p:spPr>
        <p:txBody>
          <a:bodyPr wrap="square" lIns="0" tIns="0" rIns="0" bIns="0" rtlCol="0" anchor="t"/>
          <a:lstStyle/>
          <a:p>
            <a:pPr indent="0" marL="0">
              <a:buNone/>
            </a:pPr>
            <a:r>
              <a:rPr lang="en-US" sz="1600" b="1" dirty="0">
                <a:solidFill>
                  <a:schemeClr val="tx1"/>
                </a:solidFill>
              </a:rPr>
              <a:t>Office has conditions</a:t>
            </a:r>
            <a:endParaRPr lang="en-US" sz="1600" dirty="0"/>
          </a:p>
        </p:txBody>
      </p:sp>
      <p:sp>
        <p:nvSpPr>
          <p:cNvPr id="23" name="Point 2 text"/>
          <p:cNvSpPr txBox="1"/>
          <p:nvPr/>
        </p:nvSpPr>
        <p:spPr>
          <a:xfrm>
            <a:off x="5029200" y="4800600"/>
            <a:ext cx="2834640" cy="1280160"/>
          </a:xfrm>
          <a:prstGeom prst="rect">
            <a:avLst/>
          </a:prstGeom>
          <a:noFill/>
          <a:ln/>
        </p:spPr>
        <p:txBody>
          <a:bodyPr wrap="square" lIns="0" tIns="0" rIns="0" bIns="0" rtlCol="0" anchor="t"/>
          <a:lstStyle/>
          <a:p>
            <a:pPr indent="0" marL="0">
              <a:buNone/>
            </a:pPr>
            <a:r>
              <a:rPr lang="en-US" sz="1400" dirty="0">
                <a:solidFill>
                  <a:schemeClr val="tx1"/>
                </a:solidFill>
              </a:rPr>
              <a:t>Off-site backup, a private link instead of an open port, and a UPS.</a:t>
            </a:r>
            <a:endParaRPr lang="en-US" sz="1400" dirty="0"/>
          </a:p>
        </p:txBody>
      </p:sp>
      <p:sp>
        <p:nvSpPr>
          <p:cNvPr id="24" name="Point 3 circle"/>
          <p:cNvSpPr/>
          <p:nvPr/>
        </p:nvSpPr>
        <p:spPr>
          <a:xfrm>
            <a:off x="8046720" y="4434840"/>
            <a:ext cx="548640" cy="548640"/>
          </a:xfrm>
          <a:prstGeom prst="ellipse">
            <a:avLst/>
          </a:prstGeom>
          <a:solidFill>
            <a:schemeClr val="accent1"/>
          </a:solidFill>
          <a:ln/>
        </p:spPr>
      </p:sp>
      <p:pic>
        <p:nvPicPr>
          <p:cNvPr id="25" name="Point 3 icon" descr="Point 3">    </p:cNvPr>
          <p:cNvPicPr>
            <a:picLocks noChangeAspect="1"/>
          </p:cNvPicPr>
          <p:nvPr/>
        </p:nvPicPr>
        <p:blipFill>
          <a:blip r:embed="rId3"/>
          <a:stretch>
            <a:fillRect/>
          </a:stretch>
        </p:blipFill>
        <p:spPr>
          <a:xfrm>
            <a:off x="8183880" y="4572000"/>
            <a:ext cx="274320" cy="274320"/>
          </a:xfrm>
          <a:prstGeom prst="rect">
            <a:avLst/>
          </a:prstGeom>
        </p:spPr>
      </p:pic>
      <p:sp>
        <p:nvSpPr>
          <p:cNvPr id="26" name="Point 3 heading"/>
          <p:cNvSpPr txBox="1"/>
          <p:nvPr/>
        </p:nvSpPr>
        <p:spPr>
          <a:xfrm>
            <a:off x="8778240" y="4434840"/>
            <a:ext cx="2834640" cy="320040"/>
          </a:xfrm>
          <a:prstGeom prst="rect">
            <a:avLst/>
          </a:prstGeom>
          <a:noFill/>
          <a:ln/>
        </p:spPr>
        <p:txBody>
          <a:bodyPr wrap="square" lIns="0" tIns="0" rIns="0" bIns="0" rtlCol="0" anchor="t"/>
          <a:lstStyle/>
          <a:p>
            <a:pPr indent="0" marL="0">
              <a:buNone/>
            </a:pPr>
            <a:r>
              <a:rPr lang="en-US" sz="1600" b="1" dirty="0">
                <a:solidFill>
                  <a:schemeClr val="tx1"/>
                </a:solidFill>
              </a:rPr>
              <a:t>The Sanity bill ends</a:t>
            </a:r>
            <a:endParaRPr lang="en-US" sz="1600" dirty="0"/>
          </a:p>
        </p:txBody>
      </p:sp>
      <p:sp>
        <p:nvSpPr>
          <p:cNvPr id="27" name="Point 3 text"/>
          <p:cNvSpPr txBox="1"/>
          <p:nvPr/>
        </p:nvSpPr>
        <p:spPr>
          <a:xfrm>
            <a:off x="8778240" y="4800600"/>
            <a:ext cx="2834640" cy="1280160"/>
          </a:xfrm>
          <a:prstGeom prst="rect">
            <a:avLst/>
          </a:prstGeom>
          <a:noFill/>
          <a:ln/>
        </p:spPr>
        <p:txBody>
          <a:bodyPr wrap="square" lIns="0" tIns="0" rIns="0" bIns="0" rtlCol="0" anchor="t"/>
          <a:lstStyle/>
          <a:p>
            <a:pPr indent="0" marL="0">
              <a:buNone/>
            </a:pPr>
            <a:r>
              <a:rPr lang="en-US" sz="1400" dirty="0">
                <a:solidFill>
                  <a:schemeClr val="tx1"/>
                </a:solidFill>
              </a:rPr>
              <a:t>The subscription is cancelled once the migration is verified.</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rPr>
              <a:t>The quota is already binding</a:t>
            </a:r>
            <a:endParaRPr lang="en-US" sz="3600" dirty="0"/>
          </a:p>
        </p:txBody>
      </p:sp>
      <p:sp>
        <p:nvSpPr>
          <p:cNvPr id="3" name="Lede"/>
          <p:cNvSpPr txBox="1"/>
          <p:nvPr/>
        </p:nvSpPr>
        <p:spPr>
          <a:xfrm>
            <a:off x="548640" y="1188720"/>
            <a:ext cx="11091672" cy="594360"/>
          </a:xfrm>
          <a:prstGeom prst="rect">
            <a:avLst/>
          </a:prstGeom>
          <a:noFill/>
          <a:ln/>
        </p:spPr>
        <p:txBody>
          <a:bodyPr wrap="square" lIns="0" tIns="0" rIns="0" bIns="0" rtlCol="0" anchor="t"/>
          <a:lstStyle/>
          <a:p>
            <a:pPr indent="0" marL="0">
              <a:buNone/>
            </a:pPr>
            <a:r>
              <a:rPr lang="en-US" sz="1600" dirty="0">
                <a:solidFill>
                  <a:schemeClr val="tx1"/>
                </a:solidFill>
              </a:rPr>
              <a:t>The deletion step checked the archive date instead of the business date, so the 60-day cleanup barely ran.</a:t>
            </a:r>
            <a:endParaRPr lang="en-US" sz="1600" dirty="0"/>
          </a:p>
        </p:txBody>
      </p:sp>
      <p:graphicFrame>
        <p:nvGraphicFramePr>
          <p:cNvPr id="4" name="Chart 0" descr=""/>
          <p:cNvGraphicFramePr/>
          <p:nvPr/>
        </p:nvGraphicFramePr>
        <p:xfrm>
          <a:off x="548640" y="1920240"/>
          <a:ext cx="7589520" cy="4343400"/>
        </p:xfrm>
        <a:graphic xmlns:a="http://schemas.openxmlformats.org/drawingml/2006/main">
          <a:graphicData uri="http://schemas.openxmlformats.org/drawingml/2006/chart">
            <c:chart xmlns:c="http://schemas.openxmlformats.org/drawingml/2006/chart" r:id="rId1"/>
          </a:graphicData>
        </a:graphic>
      </p:graphicFrame>
      <p:sp>
        <p:nvSpPr>
          <p:cNvPr id="5" name="Total card"/>
          <p:cNvSpPr/>
          <p:nvPr/>
        </p:nvSpPr>
        <p:spPr>
          <a:xfrm>
            <a:off x="8412480" y="1920240"/>
            <a:ext cx="3227832" cy="2103120"/>
          </a:xfrm>
          <a:prstGeom prst="roundRect">
            <a:avLst>
              <a:gd name="adj" fmla="val 4348"/>
            </a:avLst>
          </a:prstGeom>
          <a:solidFill>
            <a:schemeClr val="bg2"/>
          </a:solidFill>
          <a:ln/>
        </p:spPr>
      </p:sp>
      <p:sp>
        <p:nvSpPr>
          <p:cNvPr id="6" name="Total value"/>
          <p:cNvSpPr txBox="1"/>
          <p:nvPr/>
        </p:nvSpPr>
        <p:spPr>
          <a:xfrm>
            <a:off x="8641080" y="2103120"/>
            <a:ext cx="2834640" cy="731520"/>
          </a:xfrm>
          <a:prstGeom prst="rect">
            <a:avLst/>
          </a:prstGeom>
          <a:noFill/>
          <a:ln/>
        </p:spPr>
        <p:txBody>
          <a:bodyPr wrap="square" lIns="0" tIns="0" rIns="0" bIns="0" rtlCol="0" anchor="ctr"/>
          <a:lstStyle/>
          <a:p>
            <a:pPr indent="0" marL="0">
              <a:buNone/>
            </a:pPr>
            <a:r>
              <a:rPr lang="en-US" sz="2600" b="1" dirty="0">
                <a:solidFill>
                  <a:schemeClr val="accent1"/>
                </a:solidFill>
                <a:latin typeface="+mj-lt" pitchFamily="34" charset="0"/>
                <a:ea typeface="+mj-lt" pitchFamily="34" charset="-122"/>
                <a:cs typeface="+mj-lt" pitchFamily="34" charset="-120"/>
              </a:rPr>
              <a:t>586 → 11,943</a:t>
            </a:r>
            <a:endParaRPr lang="en-US" sz="2600" dirty="0"/>
          </a:p>
        </p:txBody>
      </p:sp>
      <p:sp>
        <p:nvSpPr>
          <p:cNvPr id="7" name="Total label"/>
          <p:cNvSpPr txBox="1"/>
          <p:nvPr/>
        </p:nvSpPr>
        <p:spPr>
          <a:xfrm>
            <a:off x="8641080" y="2926080"/>
            <a:ext cx="2834640" cy="914400"/>
          </a:xfrm>
          <a:prstGeom prst="rect">
            <a:avLst/>
          </a:prstGeom>
          <a:noFill/>
          <a:ln/>
        </p:spPr>
        <p:txBody>
          <a:bodyPr wrap="square" lIns="0" tIns="0" rIns="0" bIns="0" rtlCol="0" anchor="t"/>
          <a:lstStyle/>
          <a:p>
            <a:pPr indent="0" marL="0">
              <a:buNone/>
            </a:pPr>
            <a:r>
              <a:rPr lang="en-US" sz="1400" dirty="0">
                <a:solidFill>
                  <a:schemeClr val="tx1"/>
                </a:solidFill>
              </a:rPr>
              <a:t>documents deletable, before and after the fix</a:t>
            </a:r>
            <a:endParaRPr lang="en-US" sz="1400" dirty="0"/>
          </a:p>
        </p:txBody>
      </p:sp>
      <p:sp>
        <p:nvSpPr>
          <p:cNvPr id="8" name="Status card"/>
          <p:cNvSpPr/>
          <p:nvPr/>
        </p:nvSpPr>
        <p:spPr>
          <a:xfrm>
            <a:off x="8412480" y="4206240"/>
            <a:ext cx="3227832" cy="2057400"/>
          </a:xfrm>
          <a:prstGeom prst="roundRect">
            <a:avLst>
              <a:gd name="adj" fmla="val 4444"/>
            </a:avLst>
          </a:prstGeom>
          <a:solidFill>
            <a:schemeClr val="bg2"/>
          </a:solidFill>
          <a:ln/>
        </p:spPr>
      </p:sp>
      <p:sp>
        <p:nvSpPr>
          <p:cNvPr id="9" name="Status heading"/>
          <p:cNvSpPr txBox="1"/>
          <p:nvPr/>
        </p:nvSpPr>
        <p:spPr>
          <a:xfrm>
            <a:off x="8641080" y="4389120"/>
            <a:ext cx="2834640" cy="365760"/>
          </a:xfrm>
          <a:prstGeom prst="rect">
            <a:avLst/>
          </a:prstGeom>
          <a:noFill/>
          <a:ln/>
        </p:spPr>
        <p:txBody>
          <a:bodyPr wrap="square" lIns="0" tIns="0" rIns="0" bIns="0" rtlCol="0" anchor="t"/>
          <a:lstStyle/>
          <a:p>
            <a:pPr indent="0" marL="0">
              <a:buNone/>
            </a:pPr>
            <a:r>
              <a:rPr lang="en-US" sz="1800" b="1" dirty="0">
                <a:solidFill>
                  <a:schemeClr val="accent3"/>
                </a:solidFill>
              </a:rPr>
              <a:t>Not yet deployed</a:t>
            </a:r>
            <a:endParaRPr lang="en-US" sz="1800" dirty="0"/>
          </a:p>
        </p:txBody>
      </p:sp>
      <p:sp>
        <p:nvSpPr>
          <p:cNvPr id="10" name="Status text"/>
          <p:cNvSpPr txBox="1"/>
          <p:nvPr/>
        </p:nvSpPr>
        <p:spPr>
          <a:xfrm>
            <a:off x="8641080" y="4846320"/>
            <a:ext cx="2834640" cy="1280160"/>
          </a:xfrm>
          <a:prstGeom prst="rect">
            <a:avLst/>
          </a:prstGeom>
          <a:noFill/>
          <a:ln/>
        </p:spPr>
        <p:txBody>
          <a:bodyPr wrap="square" lIns="0" tIns="0" rIns="0" bIns="0" rtlCol="0" anchor="t"/>
          <a:lstStyle/>
          <a:p>
            <a:pPr indent="0" marL="0">
              <a:buNone/>
            </a:pPr>
            <a:r>
              <a:rPr lang="en-US" sz="1400" dirty="0">
                <a:solidFill>
                  <a:schemeClr val="tx1"/>
                </a:solidFill>
              </a:rPr>
              <a:t>Take a backup first: the next cleanup will try to delete about 11,900 documents in one pass.</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rPr>
              <a:t>New data outgrows the cleanup</a:t>
            </a:r>
            <a:endParaRPr lang="en-US" sz="3600" dirty="0"/>
          </a:p>
        </p:txBody>
      </p:sp>
      <p:sp>
        <p:nvSpPr>
          <p:cNvPr id="3" name="Lede"/>
          <p:cNvSpPr txBox="1"/>
          <p:nvPr/>
        </p:nvSpPr>
        <p:spPr>
          <a:xfrm>
            <a:off x="548640" y="1188720"/>
            <a:ext cx="11091672" cy="594360"/>
          </a:xfrm>
          <a:prstGeom prst="rect">
            <a:avLst/>
          </a:prstGeom>
          <a:noFill/>
          <a:ln/>
        </p:spPr>
        <p:txBody>
          <a:bodyPr wrap="square" lIns="0" tIns="0" rIns="0" bIns="0" rtlCol="0" anchor="t"/>
          <a:lstStyle/>
          <a:p>
            <a:pPr indent="0" marL="0">
              <a:buNone/>
            </a:pPr>
            <a:r>
              <a:rPr lang="en-US" sz="1600" dirty="0">
                <a:solidFill>
                  <a:schemeClr val="tx1"/>
                </a:solidFill>
              </a:rPr>
              <a:t>Archive-and-delete can only shrink the live count to one 60-day window of new documents. It can never go below that.</a:t>
            </a:r>
            <a:endParaRPr lang="en-US" sz="1600" dirty="0"/>
          </a:p>
        </p:txBody>
      </p:sp>
      <p:sp>
        <p:nvSpPr>
          <p:cNvPr id="4" name="Card A floor, not a cure"/>
          <p:cNvSpPr/>
          <p:nvPr/>
        </p:nvSpPr>
        <p:spPr>
          <a:xfrm>
            <a:off x="548640" y="1965960"/>
            <a:ext cx="3566160" cy="3657600"/>
          </a:xfrm>
          <a:prstGeom prst="roundRect">
            <a:avLst>
              <a:gd name="adj" fmla="val 2564"/>
            </a:avLst>
          </a:prstGeom>
          <a:solidFill>
            <a:schemeClr val="bg2"/>
          </a:solidFill>
          <a:ln/>
        </p:spPr>
      </p:sp>
      <p:sp>
        <p:nvSpPr>
          <p:cNvPr id="5" name="Card 1 circle"/>
          <p:cNvSpPr/>
          <p:nvPr/>
        </p:nvSpPr>
        <p:spPr>
          <a:xfrm>
            <a:off x="822960" y="2240280"/>
            <a:ext cx="640080" cy="640080"/>
          </a:xfrm>
          <a:prstGeom prst="ellipse">
            <a:avLst/>
          </a:prstGeom>
          <a:solidFill>
            <a:schemeClr val="accent1"/>
          </a:solidFill>
          <a:ln/>
        </p:spPr>
      </p:sp>
      <p:pic>
        <p:nvPicPr>
          <p:cNvPr id="6" name="Card 1 icon" descr="Card 1">    </p:cNvPr>
          <p:cNvPicPr>
            <a:picLocks noChangeAspect="1"/>
          </p:cNvPicPr>
          <p:nvPr/>
        </p:nvPicPr>
        <p:blipFill>
          <a:blip r:embed="rId1"/>
          <a:stretch>
            <a:fillRect/>
          </a:stretch>
        </p:blipFill>
        <p:spPr>
          <a:xfrm>
            <a:off x="982980" y="2400300"/>
            <a:ext cx="320040" cy="320040"/>
          </a:xfrm>
          <a:prstGeom prst="rect">
            <a:avLst/>
          </a:prstGeom>
        </p:spPr>
      </p:pic>
      <p:sp>
        <p:nvSpPr>
          <p:cNvPr id="7" name="Card 1 heading"/>
          <p:cNvSpPr txBox="1"/>
          <p:nvPr/>
        </p:nvSpPr>
        <p:spPr>
          <a:xfrm>
            <a:off x="822960" y="3063240"/>
            <a:ext cx="3017520" cy="365760"/>
          </a:xfrm>
          <a:prstGeom prst="rect">
            <a:avLst/>
          </a:prstGeom>
          <a:noFill/>
          <a:ln/>
        </p:spPr>
        <p:txBody>
          <a:bodyPr wrap="square" lIns="0" tIns="0" rIns="0" bIns="0" rtlCol="0" anchor="t"/>
          <a:lstStyle/>
          <a:p>
            <a:pPr indent="0" marL="0">
              <a:buNone/>
            </a:pPr>
            <a:r>
              <a:rPr lang="en-US" sz="2000" b="1" dirty="0">
                <a:solidFill>
                  <a:schemeClr val="tx1"/>
                </a:solidFill>
              </a:rPr>
              <a:t>A floor, not a cure</a:t>
            </a:r>
            <a:endParaRPr lang="en-US" sz="2000" dirty="0"/>
          </a:p>
        </p:txBody>
      </p:sp>
      <p:sp>
        <p:nvSpPr>
          <p:cNvPr id="8" name="Card 1 text"/>
          <p:cNvSpPr txBox="1"/>
          <p:nvPr/>
        </p:nvSpPr>
        <p:spPr>
          <a:xfrm>
            <a:off x="822960" y="3566160"/>
            <a:ext cx="301752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Only documents older than 60 days are removed.</a:t>
            </a:r>
            <a:endParaRPr lang="en-US" sz="1400" dirty="0"/>
          </a:p>
          <a:p>
            <a:pPr marL="342900" indent="-342900">
              <a:spcAft>
                <a:spcPts val="600"/>
              </a:spcAft>
              <a:buSzPct val="100000"/>
              <a:buChar char="•"/>
            </a:pPr>
            <a:r>
              <a:rPr lang="en-US" sz="1400" dirty="0">
                <a:solidFill>
                  <a:schemeClr val="tx1"/>
                </a:solidFill>
              </a:rPr>
              <a:t>Everything newer stays live, so the live count tracks the rate of new records.</a:t>
            </a:r>
            <a:endParaRPr lang="en-US" sz="1400" dirty="0"/>
          </a:p>
        </p:txBody>
      </p:sp>
      <p:sp>
        <p:nvSpPr>
          <p:cNvPr id="9" name="Card Never deleted"/>
          <p:cNvSpPr/>
          <p:nvPr/>
        </p:nvSpPr>
        <p:spPr>
          <a:xfrm>
            <a:off x="4311396" y="1965960"/>
            <a:ext cx="3566160" cy="3657600"/>
          </a:xfrm>
          <a:prstGeom prst="roundRect">
            <a:avLst>
              <a:gd name="adj" fmla="val 2564"/>
            </a:avLst>
          </a:prstGeom>
          <a:solidFill>
            <a:schemeClr val="bg2"/>
          </a:solidFill>
          <a:ln/>
        </p:spPr>
      </p:sp>
      <p:sp>
        <p:nvSpPr>
          <p:cNvPr id="10" name="Card 2 circle"/>
          <p:cNvSpPr/>
          <p:nvPr/>
        </p:nvSpPr>
        <p:spPr>
          <a:xfrm>
            <a:off x="4585716" y="2240280"/>
            <a:ext cx="640080" cy="640080"/>
          </a:xfrm>
          <a:prstGeom prst="ellipse">
            <a:avLst/>
          </a:prstGeom>
          <a:solidFill>
            <a:schemeClr val="accent1"/>
          </a:solidFill>
          <a:ln/>
        </p:spPr>
      </p:sp>
      <p:pic>
        <p:nvPicPr>
          <p:cNvPr id="11" name="Card 2 icon" descr="Card 2">    </p:cNvPr>
          <p:cNvPicPr>
            <a:picLocks noChangeAspect="1"/>
          </p:cNvPicPr>
          <p:nvPr/>
        </p:nvPicPr>
        <p:blipFill>
          <a:blip r:embed="rId2"/>
          <a:stretch>
            <a:fillRect/>
          </a:stretch>
        </p:blipFill>
        <p:spPr>
          <a:xfrm>
            <a:off x="4745736" y="2400300"/>
            <a:ext cx="320040" cy="320040"/>
          </a:xfrm>
          <a:prstGeom prst="rect">
            <a:avLst/>
          </a:prstGeom>
        </p:spPr>
      </p:pic>
      <p:sp>
        <p:nvSpPr>
          <p:cNvPr id="12" name="Card 2 heading"/>
          <p:cNvSpPr txBox="1"/>
          <p:nvPr/>
        </p:nvSpPr>
        <p:spPr>
          <a:xfrm>
            <a:off x="4585716" y="3063240"/>
            <a:ext cx="3017520" cy="365760"/>
          </a:xfrm>
          <a:prstGeom prst="rect">
            <a:avLst/>
          </a:prstGeom>
          <a:noFill/>
          <a:ln/>
        </p:spPr>
        <p:txBody>
          <a:bodyPr wrap="square" lIns="0" tIns="0" rIns="0" bIns="0" rtlCol="0" anchor="t"/>
          <a:lstStyle/>
          <a:p>
            <a:pPr indent="0" marL="0">
              <a:buNone/>
            </a:pPr>
            <a:r>
              <a:rPr lang="en-US" sz="2000" b="1" dirty="0">
                <a:solidFill>
                  <a:schemeClr val="tx1"/>
                </a:solidFill>
              </a:rPr>
              <a:t>Never deleted</a:t>
            </a:r>
            <a:endParaRPr lang="en-US" sz="2000" dirty="0"/>
          </a:p>
        </p:txBody>
      </p:sp>
      <p:sp>
        <p:nvSpPr>
          <p:cNvPr id="13" name="Card 2 text"/>
          <p:cNvSpPr txBox="1"/>
          <p:nvPr/>
        </p:nvSpPr>
        <p:spPr>
          <a:xfrm>
            <a:off x="4585716" y="3566160"/>
            <a:ext cx="301752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694 master records: 601 stock items, 34 users, 18 bins, 17 suppliers, 16 categories, 8 sites.</a:t>
            </a:r>
            <a:endParaRPr lang="en-US" sz="1400" dirty="0"/>
          </a:p>
          <a:p>
            <a:pPr marL="342900" indent="-342900">
              <a:spcAft>
                <a:spcPts val="600"/>
              </a:spcAft>
              <a:buSzPct val="100000"/>
              <a:buChar char="•"/>
            </a:pPr>
            <a:r>
              <a:rPr lang="en-US" sz="1400" dirty="0">
                <a:solidFill>
                  <a:schemeClr val="tx1"/>
                </a:solidFill>
              </a:rPr>
              <a:t>Drafts, in-progress records and purchase orders awaiting receipts.</a:t>
            </a:r>
            <a:endParaRPr lang="en-US" sz="1400" dirty="0"/>
          </a:p>
        </p:txBody>
      </p:sp>
      <p:sp>
        <p:nvSpPr>
          <p:cNvPr id="14" name="Card New features add"/>
          <p:cNvSpPr/>
          <p:nvPr/>
        </p:nvSpPr>
        <p:spPr>
          <a:xfrm>
            <a:off x="8074152" y="1965960"/>
            <a:ext cx="3566160" cy="3657600"/>
          </a:xfrm>
          <a:prstGeom prst="roundRect">
            <a:avLst>
              <a:gd name="adj" fmla="val 2564"/>
            </a:avLst>
          </a:prstGeom>
          <a:solidFill>
            <a:schemeClr val="bg2"/>
          </a:solidFill>
          <a:ln/>
        </p:spPr>
      </p:sp>
      <p:sp>
        <p:nvSpPr>
          <p:cNvPr id="15" name="Card 3 circle"/>
          <p:cNvSpPr/>
          <p:nvPr/>
        </p:nvSpPr>
        <p:spPr>
          <a:xfrm>
            <a:off x="8348472" y="2240280"/>
            <a:ext cx="640080" cy="640080"/>
          </a:xfrm>
          <a:prstGeom prst="ellipse">
            <a:avLst/>
          </a:prstGeom>
          <a:solidFill>
            <a:schemeClr val="accent1"/>
          </a:solidFill>
          <a:ln/>
        </p:spPr>
      </p:sp>
      <p:pic>
        <p:nvPicPr>
          <p:cNvPr id="16" name="Card 3 icon" descr="Card 3">    </p:cNvPr>
          <p:cNvPicPr>
            <a:picLocks noChangeAspect="1"/>
          </p:cNvPicPr>
          <p:nvPr/>
        </p:nvPicPr>
        <p:blipFill>
          <a:blip r:embed="rId3"/>
          <a:stretch>
            <a:fillRect/>
          </a:stretch>
        </p:blipFill>
        <p:spPr>
          <a:xfrm>
            <a:off x="8508492" y="2400300"/>
            <a:ext cx="320040" cy="320040"/>
          </a:xfrm>
          <a:prstGeom prst="rect">
            <a:avLst/>
          </a:prstGeom>
        </p:spPr>
      </p:pic>
      <p:sp>
        <p:nvSpPr>
          <p:cNvPr id="17" name="Card 3 heading"/>
          <p:cNvSpPr txBox="1"/>
          <p:nvPr/>
        </p:nvSpPr>
        <p:spPr>
          <a:xfrm>
            <a:off x="8348472" y="3063240"/>
            <a:ext cx="3017520" cy="365760"/>
          </a:xfrm>
          <a:prstGeom prst="rect">
            <a:avLst/>
          </a:prstGeom>
          <a:noFill/>
          <a:ln/>
        </p:spPr>
        <p:txBody>
          <a:bodyPr wrap="square" lIns="0" tIns="0" rIns="0" bIns="0" rtlCol="0" anchor="t"/>
          <a:lstStyle/>
          <a:p>
            <a:pPr indent="0" marL="0">
              <a:buNone/>
            </a:pPr>
            <a:r>
              <a:rPr lang="en-US" sz="2000" b="1" dirty="0">
                <a:solidFill>
                  <a:schemeClr val="tx1"/>
                </a:solidFill>
              </a:rPr>
              <a:t>New features add</a:t>
            </a:r>
            <a:endParaRPr lang="en-US" sz="2000" dirty="0"/>
          </a:p>
        </p:txBody>
      </p:sp>
      <p:sp>
        <p:nvSpPr>
          <p:cNvPr id="18" name="Card 3 text"/>
          <p:cNvSpPr txBox="1"/>
          <p:nvPr/>
        </p:nvSpPr>
        <p:spPr>
          <a:xfrm>
            <a:off x="8348472" y="3566160"/>
            <a:ext cx="301752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Any feature that stores new records in Sanity adds to it.</a:t>
            </a:r>
            <a:endParaRPr lang="en-US" sz="1400" dirty="0"/>
          </a:p>
          <a:p>
            <a:pPr marL="342900" indent="-342900">
              <a:spcAft>
                <a:spcPts val="600"/>
              </a:spcAft>
              <a:buSzPct val="100000"/>
              <a:buChar char="•"/>
            </a:pPr>
            <a:r>
              <a:rPr lang="en-US" sz="1400" dirty="0">
                <a:solidFill>
                  <a:schemeClr val="tx1"/>
                </a:solidFill>
              </a:rPr>
              <a:t>The reports plan proposes period-close and opening-balance records.</a:t>
            </a:r>
            <a:endParaRPr lang="en-US" sz="1400" dirty="0"/>
          </a:p>
        </p:txBody>
      </p:sp>
      <p:sp>
        <p:nvSpPr>
          <p:cNvPr id="19" name="Caveat"/>
          <p:cNvSpPr txBox="1"/>
          <p:nvPr/>
        </p:nvSpPr>
        <p:spPr>
          <a:xfrm>
            <a:off x="548640" y="5806440"/>
            <a:ext cx="11091672" cy="457200"/>
          </a:xfrm>
          <a:prstGeom prst="rect">
            <a:avLst/>
          </a:prstGeom>
          <a:noFill/>
          <a:ln/>
        </p:spPr>
        <p:txBody>
          <a:bodyPr wrap="square" lIns="0" tIns="0" rIns="0" bIns="0" rtlCol="0" anchor="t"/>
          <a:lstStyle/>
          <a:p>
            <a:pPr indent="0" marL="0">
              <a:buNone/>
            </a:pPr>
            <a:r>
              <a:rPr lang="en-US" sz="1200" dirty="0">
                <a:solidFill>
                  <a:schemeClr val="accent5"/>
                </a:solidFill>
              </a:rPr>
              <a:t>No document growth rate is recorded in the repository, so this is argued from structure. Measuring weekly growth by type would put a date on it.</a:t>
            </a:r>
            <a:endParaRPr lang="en-US" sz="12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rPr>
              <a:t>Two stores cause wrong numbers</a:t>
            </a:r>
            <a:endParaRPr lang="en-US" sz="3600" dirty="0"/>
          </a:p>
        </p:txBody>
      </p:sp>
      <p:sp>
        <p:nvSpPr>
          <p:cNvPr id="3" name="Lede"/>
          <p:cNvSpPr txBox="1"/>
          <p:nvPr/>
        </p:nvSpPr>
        <p:spPr>
          <a:xfrm>
            <a:off x="548640" y="1188720"/>
            <a:ext cx="11091672" cy="594360"/>
          </a:xfrm>
          <a:prstGeom prst="rect">
            <a:avLst/>
          </a:prstGeom>
          <a:noFill/>
          <a:ln/>
        </p:spPr>
        <p:txBody>
          <a:bodyPr wrap="square" lIns="0" tIns="0" rIns="0" bIns="0" rtlCol="0" anchor="t"/>
          <a:lstStyle/>
          <a:p>
            <a:pPr indent="0" marL="0">
              <a:buNone/>
            </a:pPr>
            <a:r>
              <a:rPr lang="en-US" sz="1600" dirty="0">
                <a:solidFill>
                  <a:schemeClr val="tx1"/>
                </a:solidFill>
              </a:rPr>
              <a:t>Documents older than 60 days live only in MongoDB, while most code reads Sanity alone.</a:t>
            </a:r>
            <a:endParaRPr lang="en-US" sz="1600" dirty="0"/>
          </a:p>
        </p:txBody>
      </p:sp>
      <p:sp>
        <p:nvSpPr>
          <p:cNvPr id="4" name="Sanity box"/>
          <p:cNvSpPr/>
          <p:nvPr/>
        </p:nvSpPr>
        <p:spPr>
          <a:xfrm>
            <a:off x="548640" y="1965960"/>
            <a:ext cx="2743200" cy="1234440"/>
          </a:xfrm>
          <a:prstGeom prst="roundRect">
            <a:avLst>
              <a:gd name="adj" fmla="val 7407"/>
            </a:avLst>
          </a:prstGeom>
          <a:solidFill>
            <a:schemeClr val="bg2"/>
          </a:solidFill>
          <a:ln/>
        </p:spPr>
      </p:sp>
      <p:sp>
        <p:nvSpPr>
          <p:cNvPr id="5" name="Sanity heading"/>
          <p:cNvSpPr txBox="1"/>
          <p:nvPr/>
        </p:nvSpPr>
        <p:spPr>
          <a:xfrm>
            <a:off x="731520" y="2103120"/>
            <a:ext cx="2377440" cy="365760"/>
          </a:xfrm>
          <a:prstGeom prst="rect">
            <a:avLst/>
          </a:prstGeom>
          <a:noFill/>
          <a:ln/>
        </p:spPr>
        <p:txBody>
          <a:bodyPr wrap="square" lIns="0" tIns="0" rIns="0" bIns="0" rtlCol="0" anchor="t"/>
          <a:lstStyle/>
          <a:p>
            <a:pPr indent="0" marL="0">
              <a:buNone/>
            </a:pPr>
            <a:r>
              <a:rPr lang="en-US" sz="1800" b="1" dirty="0">
                <a:solidFill>
                  <a:schemeClr val="tx1"/>
                </a:solidFill>
              </a:rPr>
              <a:t>Sanity</a:t>
            </a:r>
            <a:endParaRPr lang="en-US" sz="1800" dirty="0"/>
          </a:p>
        </p:txBody>
      </p:sp>
      <p:sp>
        <p:nvSpPr>
          <p:cNvPr id="6" name="Sanity text"/>
          <p:cNvSpPr txBox="1"/>
          <p:nvPr/>
        </p:nvSpPr>
        <p:spPr>
          <a:xfrm>
            <a:off x="731520" y="2560320"/>
            <a:ext cx="2377440" cy="548640"/>
          </a:xfrm>
          <a:prstGeom prst="rect">
            <a:avLst/>
          </a:prstGeom>
          <a:noFill/>
          <a:ln/>
        </p:spPr>
        <p:txBody>
          <a:bodyPr wrap="square" lIns="0" tIns="0" rIns="0" bIns="0" rtlCol="0" anchor="t"/>
          <a:lstStyle/>
          <a:p>
            <a:pPr indent="0" marL="0">
              <a:buNone/>
            </a:pPr>
            <a:r>
              <a:rPr lang="en-US" sz="1400" dirty="0">
                <a:solidFill>
                  <a:schemeClr val="tx1"/>
                </a:solidFill>
              </a:rPr>
              <a:t>Last 60 days of documents</a:t>
            </a:r>
            <a:endParaRPr lang="en-US" sz="1400" dirty="0"/>
          </a:p>
        </p:txBody>
      </p:sp>
      <p:sp>
        <p:nvSpPr>
          <p:cNvPr id="7" name="Mongo box"/>
          <p:cNvSpPr/>
          <p:nvPr/>
        </p:nvSpPr>
        <p:spPr>
          <a:xfrm>
            <a:off x="548640" y="3977640"/>
            <a:ext cx="2743200" cy="1234440"/>
          </a:xfrm>
          <a:prstGeom prst="roundRect">
            <a:avLst>
              <a:gd name="adj" fmla="val 7407"/>
            </a:avLst>
          </a:prstGeom>
          <a:solidFill>
            <a:schemeClr val="bg2"/>
          </a:solidFill>
          <a:ln/>
        </p:spPr>
      </p:sp>
      <p:sp>
        <p:nvSpPr>
          <p:cNvPr id="8" name="Mongo heading"/>
          <p:cNvSpPr txBox="1"/>
          <p:nvPr/>
        </p:nvSpPr>
        <p:spPr>
          <a:xfrm>
            <a:off x="731520" y="4114800"/>
            <a:ext cx="2377440" cy="365760"/>
          </a:xfrm>
          <a:prstGeom prst="rect">
            <a:avLst/>
          </a:prstGeom>
          <a:noFill/>
          <a:ln/>
        </p:spPr>
        <p:txBody>
          <a:bodyPr wrap="square" lIns="0" tIns="0" rIns="0" bIns="0" rtlCol="0" anchor="t"/>
          <a:lstStyle/>
          <a:p>
            <a:pPr indent="0" marL="0">
              <a:buNone/>
            </a:pPr>
            <a:r>
              <a:rPr lang="en-US" sz="1800" b="1" dirty="0">
                <a:solidFill>
                  <a:schemeClr val="tx1"/>
                </a:solidFill>
              </a:rPr>
              <a:t>MongoDB archive</a:t>
            </a:r>
            <a:endParaRPr lang="en-US" sz="1800" dirty="0"/>
          </a:p>
        </p:txBody>
      </p:sp>
      <p:sp>
        <p:nvSpPr>
          <p:cNvPr id="9" name="Mongo text"/>
          <p:cNvSpPr txBox="1"/>
          <p:nvPr/>
        </p:nvSpPr>
        <p:spPr>
          <a:xfrm>
            <a:off x="731520" y="4572000"/>
            <a:ext cx="2377440" cy="548640"/>
          </a:xfrm>
          <a:prstGeom prst="rect">
            <a:avLst/>
          </a:prstGeom>
          <a:noFill/>
          <a:ln/>
        </p:spPr>
        <p:txBody>
          <a:bodyPr wrap="square" lIns="0" tIns="0" rIns="0" bIns="0" rtlCol="0" anchor="t"/>
          <a:lstStyle/>
          <a:p>
            <a:pPr indent="0" marL="0">
              <a:buNone/>
            </a:pPr>
            <a:r>
              <a:rPr lang="en-US" sz="1400" dirty="0">
                <a:solidFill>
                  <a:schemeClr val="tx1"/>
                </a:solidFill>
              </a:rPr>
              <a:t>Everything older than 60 days</a:t>
            </a:r>
            <a:endParaRPr lang="en-US" sz="1400" dirty="0"/>
          </a:p>
        </p:txBody>
      </p:sp>
      <p:sp>
        <p:nvSpPr>
          <p:cNvPr id="10" name="Merge box"/>
          <p:cNvSpPr/>
          <p:nvPr/>
        </p:nvSpPr>
        <p:spPr>
          <a:xfrm>
            <a:off x="4069080" y="2971800"/>
            <a:ext cx="2286000" cy="1051560"/>
          </a:xfrm>
          <a:prstGeom prst="roundRect">
            <a:avLst>
              <a:gd name="adj" fmla="val 8696"/>
            </a:avLst>
          </a:prstGeom>
          <a:solidFill>
            <a:schemeClr val="accent2"/>
          </a:solidFill>
          <a:ln/>
        </p:spPr>
      </p:sp>
      <p:sp>
        <p:nvSpPr>
          <p:cNvPr id="11" name="Merge text"/>
          <p:cNvSpPr txBox="1"/>
          <p:nvPr/>
        </p:nvSpPr>
        <p:spPr>
          <a:xfrm>
            <a:off x="4206240" y="3017520"/>
            <a:ext cx="2011680" cy="960120"/>
          </a:xfrm>
          <a:prstGeom prst="rect">
            <a:avLst/>
          </a:prstGeom>
          <a:noFill/>
          <a:ln/>
        </p:spPr>
        <p:txBody>
          <a:bodyPr wrap="square" lIns="0" tIns="0" rIns="0" bIns="0" rtlCol="0" anchor="ctr"/>
          <a:lstStyle/>
          <a:p>
            <a:pPr algn="ctr" indent="0" marL="0">
              <a:buNone/>
            </a:pPr>
            <a:r>
              <a:rPr lang="en-US" sz="1400" b="1" dirty="0">
                <a:solidFill>
                  <a:schemeClr val="tx1"/>
                </a:solidFill>
              </a:rPr>
              <a:t>Merge, cap and de-duplicate in every query</a:t>
            </a:r>
            <a:endParaRPr lang="en-US" sz="1400" dirty="0"/>
          </a:p>
        </p:txBody>
      </p:sp>
      <p:sp>
        <p:nvSpPr>
          <p:cNvPr id="12" name="Arrow Sanity"/>
          <p:cNvSpPr/>
          <p:nvPr/>
        </p:nvSpPr>
        <p:spPr>
          <a:xfrm>
            <a:off x="3291840" y="2606040"/>
            <a:ext cx="777240" cy="868680"/>
          </a:xfrm>
          <a:prstGeom prst="line">
            <a:avLst/>
          </a:prstGeom>
          <a:noFill/>
          <a:ln w="19050">
            <a:solidFill>
              <a:srgbClr val="6B7F78"/>
            </a:solidFill>
            <a:prstDash val="solid"/>
            <a:tailEnd type="triangle"/>
          </a:ln>
        </p:spPr>
      </p:sp>
      <p:sp>
        <p:nvSpPr>
          <p:cNvPr id="13" name="Arrow Mongo"/>
          <p:cNvSpPr/>
          <p:nvPr/>
        </p:nvSpPr>
        <p:spPr>
          <a:xfrm flipV="1">
            <a:off x="3291840" y="3657600"/>
            <a:ext cx="777240" cy="914400"/>
          </a:xfrm>
          <a:prstGeom prst="line">
            <a:avLst/>
          </a:prstGeom>
          <a:noFill/>
          <a:ln w="19050">
            <a:solidFill>
              <a:srgbClr val="6B7F78"/>
            </a:solidFill>
            <a:prstDash val="solid"/>
            <a:tailEnd type="triangle"/>
          </a:ln>
        </p:spPr>
      </p:sp>
      <p:sp>
        <p:nvSpPr>
          <p:cNvPr id="14" name="Arrow out"/>
          <p:cNvSpPr/>
          <p:nvPr/>
        </p:nvSpPr>
        <p:spPr>
          <a:xfrm>
            <a:off x="6355080" y="3493008"/>
            <a:ext cx="502920" cy="0"/>
          </a:xfrm>
          <a:prstGeom prst="line">
            <a:avLst/>
          </a:prstGeom>
          <a:noFill/>
          <a:ln w="19050">
            <a:solidFill>
              <a:srgbClr val="6B7F78"/>
            </a:solidFill>
            <a:prstDash val="solid"/>
            <a:tailEnd type="triangle"/>
          </a:ln>
        </p:spPr>
      </p:sp>
      <p:sp>
        <p:nvSpPr>
          <p:cNvPr id="15" name="Finding F-01"/>
          <p:cNvSpPr/>
          <p:nvPr/>
        </p:nvSpPr>
        <p:spPr>
          <a:xfrm>
            <a:off x="7040880" y="1965960"/>
            <a:ext cx="4599432" cy="1234440"/>
          </a:xfrm>
          <a:prstGeom prst="roundRect">
            <a:avLst>
              <a:gd name="adj" fmla="val 7407"/>
            </a:avLst>
          </a:prstGeom>
          <a:solidFill>
            <a:schemeClr val="bg2"/>
          </a:solidFill>
          <a:ln/>
        </p:spPr>
      </p:sp>
      <p:sp>
        <p:nvSpPr>
          <p:cNvPr id="16" name="F-01 id"/>
          <p:cNvSpPr txBox="1"/>
          <p:nvPr/>
        </p:nvSpPr>
        <p:spPr>
          <a:xfrm>
            <a:off x="7223760" y="2130552"/>
            <a:ext cx="731520" cy="365760"/>
          </a:xfrm>
          <a:prstGeom prst="rect">
            <a:avLst/>
          </a:prstGeom>
          <a:noFill/>
          <a:ln/>
        </p:spPr>
        <p:txBody>
          <a:bodyPr wrap="square" lIns="0" tIns="0" rIns="0" bIns="0" rtlCol="0" anchor="t"/>
          <a:lstStyle/>
          <a:p>
            <a:pPr indent="0" marL="0">
              <a:buNone/>
            </a:pPr>
            <a:r>
              <a:rPr lang="en-US" sz="1800" b="1" dirty="0">
                <a:solidFill>
                  <a:schemeClr val="accent3"/>
                </a:solidFill>
              </a:rPr>
              <a:t>F-01</a:t>
            </a:r>
            <a:endParaRPr lang="en-US" sz="1800" dirty="0"/>
          </a:p>
        </p:txBody>
      </p:sp>
      <p:sp>
        <p:nvSpPr>
          <p:cNvPr id="17" name="F-01 text"/>
          <p:cNvSpPr txBox="1"/>
          <p:nvPr/>
        </p:nvSpPr>
        <p:spPr>
          <a:xfrm>
            <a:off x="7955280" y="2130552"/>
            <a:ext cx="3520440" cy="960120"/>
          </a:xfrm>
          <a:prstGeom prst="rect">
            <a:avLst/>
          </a:prstGeom>
          <a:noFill/>
          <a:ln/>
        </p:spPr>
        <p:txBody>
          <a:bodyPr wrap="square" lIns="0" tIns="0" rIns="0" bIns="0" rtlCol="0" anchor="t"/>
          <a:lstStyle/>
          <a:p>
            <a:pPr indent="0" marL="0">
              <a:buNone/>
            </a:pPr>
            <a:r>
              <a:rPr lang="en-US" sz="1400" dirty="0">
                <a:solidFill>
                  <a:schemeClr val="tx1"/>
                </a:solidFill>
              </a:rPr>
              <a:t>A recalculation rebuilds stock from only the last 60 days, understating everything received earlier.</a:t>
            </a:r>
            <a:endParaRPr lang="en-US" sz="1400" dirty="0"/>
          </a:p>
        </p:txBody>
      </p:sp>
      <p:sp>
        <p:nvSpPr>
          <p:cNvPr id="18" name="Finding F-02"/>
          <p:cNvSpPr/>
          <p:nvPr/>
        </p:nvSpPr>
        <p:spPr>
          <a:xfrm>
            <a:off x="7040880" y="3337560"/>
            <a:ext cx="4599432" cy="1234440"/>
          </a:xfrm>
          <a:prstGeom prst="roundRect">
            <a:avLst>
              <a:gd name="adj" fmla="val 7407"/>
            </a:avLst>
          </a:prstGeom>
          <a:solidFill>
            <a:schemeClr val="bg2"/>
          </a:solidFill>
          <a:ln/>
        </p:spPr>
      </p:sp>
      <p:sp>
        <p:nvSpPr>
          <p:cNvPr id="19" name="F-02 id"/>
          <p:cNvSpPr txBox="1"/>
          <p:nvPr/>
        </p:nvSpPr>
        <p:spPr>
          <a:xfrm>
            <a:off x="7223760" y="3502152"/>
            <a:ext cx="731520" cy="365760"/>
          </a:xfrm>
          <a:prstGeom prst="rect">
            <a:avLst/>
          </a:prstGeom>
          <a:noFill/>
          <a:ln/>
        </p:spPr>
        <p:txBody>
          <a:bodyPr wrap="square" lIns="0" tIns="0" rIns="0" bIns="0" rtlCol="0" anchor="t"/>
          <a:lstStyle/>
          <a:p>
            <a:pPr indent="0" marL="0">
              <a:buNone/>
            </a:pPr>
            <a:r>
              <a:rPr lang="en-US" sz="1800" b="1" dirty="0">
                <a:solidFill>
                  <a:schemeClr val="accent3"/>
                </a:solidFill>
              </a:rPr>
              <a:t>F-02</a:t>
            </a:r>
            <a:endParaRPr lang="en-US" sz="1800" dirty="0"/>
          </a:p>
        </p:txBody>
      </p:sp>
      <p:sp>
        <p:nvSpPr>
          <p:cNvPr id="20" name="F-02 text"/>
          <p:cNvSpPr txBox="1"/>
          <p:nvPr/>
        </p:nvSpPr>
        <p:spPr>
          <a:xfrm>
            <a:off x="7955280" y="3502152"/>
            <a:ext cx="3520440" cy="960120"/>
          </a:xfrm>
          <a:prstGeom prst="rect">
            <a:avLst/>
          </a:prstGeom>
          <a:noFill/>
          <a:ln/>
        </p:spPr>
        <p:txBody>
          <a:bodyPr wrap="square" lIns="0" tIns="0" rIns="0" bIns="0" rtlCol="0" anchor="t"/>
          <a:lstStyle/>
          <a:p>
            <a:pPr indent="0" marL="0">
              <a:buNone/>
            </a:pPr>
            <a:r>
              <a:rPr lang="en-US" sz="1400" dirty="0">
                <a:solidFill>
                  <a:schemeClr val="tx1"/>
                </a:solidFill>
              </a:rPr>
              <a:t>Archived events are not de-duplicated, so a document in both stores is counted twice.</a:t>
            </a:r>
            <a:endParaRPr lang="en-US" sz="1400" dirty="0"/>
          </a:p>
        </p:txBody>
      </p:sp>
      <p:sp>
        <p:nvSpPr>
          <p:cNvPr id="21" name="Finding F-04"/>
          <p:cNvSpPr/>
          <p:nvPr/>
        </p:nvSpPr>
        <p:spPr>
          <a:xfrm>
            <a:off x="7040880" y="4709160"/>
            <a:ext cx="4599432" cy="1234440"/>
          </a:xfrm>
          <a:prstGeom prst="roundRect">
            <a:avLst>
              <a:gd name="adj" fmla="val 7407"/>
            </a:avLst>
          </a:prstGeom>
          <a:solidFill>
            <a:schemeClr val="bg2"/>
          </a:solidFill>
          <a:ln/>
        </p:spPr>
      </p:sp>
      <p:sp>
        <p:nvSpPr>
          <p:cNvPr id="22" name="F-04 id"/>
          <p:cNvSpPr txBox="1"/>
          <p:nvPr/>
        </p:nvSpPr>
        <p:spPr>
          <a:xfrm>
            <a:off x="7223760" y="4873752"/>
            <a:ext cx="731520" cy="365760"/>
          </a:xfrm>
          <a:prstGeom prst="rect">
            <a:avLst/>
          </a:prstGeom>
          <a:noFill/>
          <a:ln/>
        </p:spPr>
        <p:txBody>
          <a:bodyPr wrap="square" lIns="0" tIns="0" rIns="0" bIns="0" rtlCol="0" anchor="t"/>
          <a:lstStyle/>
          <a:p>
            <a:pPr indent="0" marL="0">
              <a:buNone/>
            </a:pPr>
            <a:r>
              <a:rPr lang="en-US" sz="1800" b="1" dirty="0">
                <a:solidFill>
                  <a:schemeClr val="accent3"/>
                </a:solidFill>
              </a:rPr>
              <a:t>F-04</a:t>
            </a:r>
            <a:endParaRPr lang="en-US" sz="1800" dirty="0"/>
          </a:p>
        </p:txBody>
      </p:sp>
      <p:sp>
        <p:nvSpPr>
          <p:cNvPr id="23" name="F-04 text"/>
          <p:cNvSpPr txBox="1"/>
          <p:nvPr/>
        </p:nvSpPr>
        <p:spPr>
          <a:xfrm>
            <a:off x="7955280" y="4873752"/>
            <a:ext cx="3520440" cy="960120"/>
          </a:xfrm>
          <a:prstGeom prst="rect">
            <a:avLst/>
          </a:prstGeom>
          <a:noFill/>
          <a:ln/>
        </p:spPr>
        <p:txBody>
          <a:bodyPr wrap="square" lIns="0" tIns="0" rIns="0" bIns="0" rtlCol="0" anchor="t"/>
          <a:lstStyle/>
          <a:p>
            <a:pPr indent="0" marL="0">
              <a:buNone/>
            </a:pPr>
            <a:r>
              <a:rPr lang="en-US" sz="1400" dirty="0">
                <a:solidFill>
                  <a:schemeClr val="tx1"/>
                </a:solidFill>
              </a:rPr>
              <a:t>Stock as of a date, and history older than 60 days, read Sanity only and come back wrong or empty.</a:t>
            </a:r>
            <a:endParaRPr lang="en-US" sz="1400" dirty="0"/>
          </a:p>
        </p:txBody>
      </p:sp>
      <p:sp>
        <p:nvSpPr>
          <p:cNvPr id="24" name="Source"/>
          <p:cNvSpPr txBox="1"/>
          <p:nvPr/>
        </p:nvSpPr>
        <p:spPr>
          <a:xfrm>
            <a:off x="548640" y="5852160"/>
            <a:ext cx="11091672" cy="320040"/>
          </a:xfrm>
          <a:prstGeom prst="rect">
            <a:avLst/>
          </a:prstGeom>
          <a:noFill/>
          <a:ln/>
        </p:spPr>
        <p:txBody>
          <a:bodyPr wrap="square" lIns="0" tIns="0" rIns="0" bIns="0" rtlCol="0" anchor="t"/>
          <a:lstStyle/>
          <a:p>
            <a:pPr indent="0" marL="0">
              <a:buNone/>
            </a:pPr>
            <a:r>
              <a:rPr lang="en-US" sz="1200" dirty="0">
                <a:solidFill>
                  <a:schemeClr val="accent5"/>
                </a:solidFill>
              </a:rPr>
              <a:t>Source: accuracy audit, 4 October 2026. The faulty code was confirmed by reading; F-02's live impact is still to be verified.</a:t>
            </a:r>
            <a:endParaRPr lang="en-US" sz="12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rPr>
              <a:t>Why MongoDB</a:t>
            </a:r>
            <a:endParaRPr lang="en-US" sz="3600" dirty="0"/>
          </a:p>
        </p:txBody>
      </p:sp>
      <p:sp>
        <p:nvSpPr>
          <p:cNvPr id="3" name="Lede"/>
          <p:cNvSpPr txBox="1"/>
          <p:nvPr/>
        </p:nvSpPr>
        <p:spPr>
          <a:xfrm>
            <a:off x="548640" y="1188720"/>
            <a:ext cx="11091672" cy="594360"/>
          </a:xfrm>
          <a:prstGeom prst="rect">
            <a:avLst/>
          </a:prstGeom>
          <a:noFill/>
          <a:ln/>
        </p:spPr>
        <p:txBody>
          <a:bodyPr wrap="square" lIns="0" tIns="0" rIns="0" bIns="0" rtlCol="0" anchor="t"/>
          <a:lstStyle/>
          <a:p>
            <a:pPr indent="0" marL="0">
              <a:buNone/>
            </a:pPr>
            <a:r>
              <a:rPr lang="en-US" sz="1600" dirty="0">
                <a:solidFill>
                  <a:schemeClr val="tx1"/>
                </a:solidFill>
              </a:rPr>
              <a:t>It removes the document ceiling and the second store, and the app already speaks to it.</a:t>
            </a:r>
            <a:endParaRPr lang="en-US" sz="1600" dirty="0"/>
          </a:p>
        </p:txBody>
      </p:sp>
      <p:sp>
        <p:nvSpPr>
          <p:cNvPr id="4" name="Card One store, no merge"/>
          <p:cNvSpPr/>
          <p:nvPr/>
        </p:nvSpPr>
        <p:spPr>
          <a:xfrm>
            <a:off x="548640" y="1965960"/>
            <a:ext cx="3566160" cy="2057400"/>
          </a:xfrm>
          <a:prstGeom prst="roundRect">
            <a:avLst>
              <a:gd name="adj" fmla="val 4444"/>
            </a:avLst>
          </a:prstGeom>
          <a:solidFill>
            <a:schemeClr val="bg2"/>
          </a:solidFill>
          <a:ln/>
        </p:spPr>
      </p:sp>
      <p:sp>
        <p:nvSpPr>
          <p:cNvPr id="5" name="Card 1 circle"/>
          <p:cNvSpPr/>
          <p:nvPr/>
        </p:nvSpPr>
        <p:spPr>
          <a:xfrm>
            <a:off x="822960" y="2194560"/>
            <a:ext cx="548640" cy="548640"/>
          </a:xfrm>
          <a:prstGeom prst="ellipse">
            <a:avLst/>
          </a:prstGeom>
          <a:solidFill>
            <a:schemeClr val="accent1"/>
          </a:solidFill>
          <a:ln/>
        </p:spPr>
      </p:sp>
      <p:pic>
        <p:nvPicPr>
          <p:cNvPr id="6" name="Card 1 icon" descr="Card 1">    </p:cNvPr>
          <p:cNvPicPr>
            <a:picLocks noChangeAspect="1"/>
          </p:cNvPicPr>
          <p:nvPr/>
        </p:nvPicPr>
        <p:blipFill>
          <a:blip r:embed="rId1"/>
          <a:stretch>
            <a:fillRect/>
          </a:stretch>
        </p:blipFill>
        <p:spPr>
          <a:xfrm>
            <a:off x="960120" y="2331720"/>
            <a:ext cx="274320" cy="274320"/>
          </a:xfrm>
          <a:prstGeom prst="rect">
            <a:avLst/>
          </a:prstGeom>
        </p:spPr>
      </p:pic>
      <p:sp>
        <p:nvSpPr>
          <p:cNvPr id="7" name="Card 1 heading"/>
          <p:cNvSpPr txBox="1"/>
          <p:nvPr/>
        </p:nvSpPr>
        <p:spPr>
          <a:xfrm>
            <a:off x="822960" y="2880360"/>
            <a:ext cx="3017520" cy="365760"/>
          </a:xfrm>
          <a:prstGeom prst="rect">
            <a:avLst/>
          </a:prstGeom>
          <a:noFill/>
          <a:ln/>
        </p:spPr>
        <p:txBody>
          <a:bodyPr wrap="square" lIns="0" tIns="0" rIns="0" bIns="0" rtlCol="0" anchor="t"/>
          <a:lstStyle/>
          <a:p>
            <a:pPr indent="0" marL="0">
              <a:buNone/>
            </a:pPr>
            <a:r>
              <a:rPr lang="en-US" sz="1800" b="1" dirty="0">
                <a:solidFill>
                  <a:schemeClr val="tx1"/>
                </a:solidFill>
              </a:rPr>
              <a:t>One store, no merge</a:t>
            </a:r>
            <a:endParaRPr lang="en-US" sz="1800" dirty="0"/>
          </a:p>
        </p:txBody>
      </p:sp>
      <p:sp>
        <p:nvSpPr>
          <p:cNvPr id="8" name="Card 1 text"/>
          <p:cNvSpPr txBox="1"/>
          <p:nvPr/>
        </p:nvSpPr>
        <p:spPr>
          <a:xfrm>
            <a:off x="822960" y="3291840"/>
            <a:ext cx="3017520" cy="685800"/>
          </a:xfrm>
          <a:prstGeom prst="rect">
            <a:avLst/>
          </a:prstGeom>
          <a:noFill/>
          <a:ln/>
        </p:spPr>
        <p:txBody>
          <a:bodyPr wrap="square" lIns="0" tIns="0" rIns="0" bIns="0" rtlCol="0" anchor="t"/>
          <a:lstStyle/>
          <a:p>
            <a:pPr indent="0" marL="0">
              <a:buNone/>
            </a:pPr>
            <a:r>
              <a:rPr lang="en-US" sz="1400" dirty="0">
                <a:solidFill>
                  <a:schemeClr val="tx1"/>
                </a:solidFill>
              </a:rPr>
              <a:t>Live and old documents share collections; history is one query.</a:t>
            </a:r>
            <a:endParaRPr lang="en-US" sz="1400" dirty="0"/>
          </a:p>
        </p:txBody>
      </p:sp>
      <p:sp>
        <p:nvSpPr>
          <p:cNvPr id="9" name="Card No document quota"/>
          <p:cNvSpPr/>
          <p:nvPr/>
        </p:nvSpPr>
        <p:spPr>
          <a:xfrm>
            <a:off x="4311396" y="1965960"/>
            <a:ext cx="3566160" cy="2057400"/>
          </a:xfrm>
          <a:prstGeom prst="roundRect">
            <a:avLst>
              <a:gd name="adj" fmla="val 4444"/>
            </a:avLst>
          </a:prstGeom>
          <a:solidFill>
            <a:schemeClr val="bg2"/>
          </a:solidFill>
          <a:ln/>
        </p:spPr>
      </p:sp>
      <p:sp>
        <p:nvSpPr>
          <p:cNvPr id="10" name="Card 2 circle"/>
          <p:cNvSpPr/>
          <p:nvPr/>
        </p:nvSpPr>
        <p:spPr>
          <a:xfrm>
            <a:off x="4585716" y="2194560"/>
            <a:ext cx="548640" cy="548640"/>
          </a:xfrm>
          <a:prstGeom prst="ellipse">
            <a:avLst/>
          </a:prstGeom>
          <a:solidFill>
            <a:schemeClr val="accent1"/>
          </a:solidFill>
          <a:ln/>
        </p:spPr>
      </p:sp>
      <p:pic>
        <p:nvPicPr>
          <p:cNvPr id="11" name="Card 2 icon" descr="Card 2">    </p:cNvPr>
          <p:cNvPicPr>
            <a:picLocks noChangeAspect="1"/>
          </p:cNvPicPr>
          <p:nvPr/>
        </p:nvPicPr>
        <p:blipFill>
          <a:blip r:embed="rId2"/>
          <a:stretch>
            <a:fillRect/>
          </a:stretch>
        </p:blipFill>
        <p:spPr>
          <a:xfrm>
            <a:off x="4722876" y="2331720"/>
            <a:ext cx="274320" cy="274320"/>
          </a:xfrm>
          <a:prstGeom prst="rect">
            <a:avLst/>
          </a:prstGeom>
        </p:spPr>
      </p:pic>
      <p:sp>
        <p:nvSpPr>
          <p:cNvPr id="12" name="Card 2 heading"/>
          <p:cNvSpPr txBox="1"/>
          <p:nvPr/>
        </p:nvSpPr>
        <p:spPr>
          <a:xfrm>
            <a:off x="4585716" y="2880360"/>
            <a:ext cx="3017520" cy="365760"/>
          </a:xfrm>
          <a:prstGeom prst="rect">
            <a:avLst/>
          </a:prstGeom>
          <a:noFill/>
          <a:ln/>
        </p:spPr>
        <p:txBody>
          <a:bodyPr wrap="square" lIns="0" tIns="0" rIns="0" bIns="0" rtlCol="0" anchor="t"/>
          <a:lstStyle/>
          <a:p>
            <a:pPr indent="0" marL="0">
              <a:buNone/>
            </a:pPr>
            <a:r>
              <a:rPr lang="en-US" sz="1800" b="1" dirty="0">
                <a:solidFill>
                  <a:schemeClr val="tx1"/>
                </a:solidFill>
              </a:rPr>
              <a:t>No document quota</a:t>
            </a:r>
            <a:endParaRPr lang="en-US" sz="1800" dirty="0"/>
          </a:p>
        </p:txBody>
      </p:sp>
      <p:sp>
        <p:nvSpPr>
          <p:cNvPr id="13" name="Card 2 text"/>
          <p:cNvSpPr txBox="1"/>
          <p:nvPr/>
        </p:nvSpPr>
        <p:spPr>
          <a:xfrm>
            <a:off x="4585716" y="3291840"/>
            <a:ext cx="3017520" cy="685800"/>
          </a:xfrm>
          <a:prstGeom prst="rect">
            <a:avLst/>
          </a:prstGeom>
          <a:noFill/>
          <a:ln/>
        </p:spPr>
        <p:txBody>
          <a:bodyPr wrap="square" lIns="0" tIns="0" rIns="0" bIns="0" rtlCol="0" anchor="t"/>
          <a:lstStyle/>
          <a:p>
            <a:pPr indent="0" marL="0">
              <a:buNone/>
            </a:pPr>
            <a:r>
              <a:rPr lang="en-US" sz="1400" dirty="0">
                <a:solidFill>
                  <a:schemeClr val="tx1"/>
                </a:solidFill>
              </a:rPr>
              <a:t>Limits are disk, memory and throughput, not document count.</a:t>
            </a:r>
            <a:endParaRPr lang="en-US" sz="1400" dirty="0"/>
          </a:p>
        </p:txBody>
      </p:sp>
      <p:sp>
        <p:nvSpPr>
          <p:cNvPr id="14" name="Card Server-side summaries"/>
          <p:cNvSpPr/>
          <p:nvPr/>
        </p:nvSpPr>
        <p:spPr>
          <a:xfrm>
            <a:off x="8074152" y="1965960"/>
            <a:ext cx="3566160" cy="2057400"/>
          </a:xfrm>
          <a:prstGeom prst="roundRect">
            <a:avLst>
              <a:gd name="adj" fmla="val 4444"/>
            </a:avLst>
          </a:prstGeom>
          <a:solidFill>
            <a:schemeClr val="bg2"/>
          </a:solidFill>
          <a:ln/>
        </p:spPr>
      </p:sp>
      <p:sp>
        <p:nvSpPr>
          <p:cNvPr id="15" name="Card 3 circle"/>
          <p:cNvSpPr/>
          <p:nvPr/>
        </p:nvSpPr>
        <p:spPr>
          <a:xfrm>
            <a:off x="8348472" y="2194560"/>
            <a:ext cx="548640" cy="548640"/>
          </a:xfrm>
          <a:prstGeom prst="ellipse">
            <a:avLst/>
          </a:prstGeom>
          <a:solidFill>
            <a:schemeClr val="accent1"/>
          </a:solidFill>
          <a:ln/>
        </p:spPr>
      </p:sp>
      <p:pic>
        <p:nvPicPr>
          <p:cNvPr id="16" name="Card 3 icon" descr="Card 3">    </p:cNvPr>
          <p:cNvPicPr>
            <a:picLocks noChangeAspect="1"/>
          </p:cNvPicPr>
          <p:nvPr/>
        </p:nvPicPr>
        <p:blipFill>
          <a:blip r:embed="rId3"/>
          <a:stretch>
            <a:fillRect/>
          </a:stretch>
        </p:blipFill>
        <p:spPr>
          <a:xfrm>
            <a:off x="8485632" y="2331720"/>
            <a:ext cx="274320" cy="274320"/>
          </a:xfrm>
          <a:prstGeom prst="rect">
            <a:avLst/>
          </a:prstGeom>
        </p:spPr>
      </p:pic>
      <p:sp>
        <p:nvSpPr>
          <p:cNvPr id="17" name="Card 3 heading"/>
          <p:cNvSpPr txBox="1"/>
          <p:nvPr/>
        </p:nvSpPr>
        <p:spPr>
          <a:xfrm>
            <a:off x="8348472" y="2880360"/>
            <a:ext cx="3017520" cy="365760"/>
          </a:xfrm>
          <a:prstGeom prst="rect">
            <a:avLst/>
          </a:prstGeom>
          <a:noFill/>
          <a:ln/>
        </p:spPr>
        <p:txBody>
          <a:bodyPr wrap="square" lIns="0" tIns="0" rIns="0" bIns="0" rtlCol="0" anchor="t"/>
          <a:lstStyle/>
          <a:p>
            <a:pPr indent="0" marL="0">
              <a:buNone/>
            </a:pPr>
            <a:r>
              <a:rPr lang="en-US" sz="1800" b="1" dirty="0">
                <a:solidFill>
                  <a:schemeClr val="tx1"/>
                </a:solidFill>
              </a:rPr>
              <a:t>Server-side summaries</a:t>
            </a:r>
            <a:endParaRPr lang="en-US" sz="1800" dirty="0"/>
          </a:p>
        </p:txBody>
      </p:sp>
      <p:sp>
        <p:nvSpPr>
          <p:cNvPr id="18" name="Card 3 text"/>
          <p:cNvSpPr txBox="1"/>
          <p:nvPr/>
        </p:nvSpPr>
        <p:spPr>
          <a:xfrm>
            <a:off x="8348472" y="3291840"/>
            <a:ext cx="3017520" cy="685800"/>
          </a:xfrm>
          <a:prstGeom prst="rect">
            <a:avLst/>
          </a:prstGeom>
          <a:noFill/>
          <a:ln/>
        </p:spPr>
        <p:txBody>
          <a:bodyPr wrap="square" lIns="0" tIns="0" rIns="0" bIns="0" rtlCol="0" anchor="t"/>
          <a:lstStyle/>
          <a:p>
            <a:pPr indent="0" marL="0">
              <a:buNone/>
            </a:pPr>
            <a:r>
              <a:rPr lang="en-US" sz="1400" dirty="0">
                <a:solidFill>
                  <a:schemeClr val="tx1"/>
                </a:solidFill>
              </a:rPr>
              <a:t>Aggregation returns a 1 KB summary, not the full history.</a:t>
            </a:r>
            <a:endParaRPr lang="en-US" sz="1400" dirty="0"/>
          </a:p>
        </p:txBody>
      </p:sp>
      <p:sp>
        <p:nvSpPr>
          <p:cNvPr id="19" name="Card Indexed queries"/>
          <p:cNvSpPr/>
          <p:nvPr/>
        </p:nvSpPr>
        <p:spPr>
          <a:xfrm>
            <a:off x="548640" y="4160520"/>
            <a:ext cx="3566160" cy="2057400"/>
          </a:xfrm>
          <a:prstGeom prst="roundRect">
            <a:avLst>
              <a:gd name="adj" fmla="val 4444"/>
            </a:avLst>
          </a:prstGeom>
          <a:solidFill>
            <a:schemeClr val="bg2"/>
          </a:solidFill>
          <a:ln/>
        </p:spPr>
      </p:sp>
      <p:sp>
        <p:nvSpPr>
          <p:cNvPr id="20" name="Card 4 circle"/>
          <p:cNvSpPr/>
          <p:nvPr/>
        </p:nvSpPr>
        <p:spPr>
          <a:xfrm>
            <a:off x="822960" y="4389120"/>
            <a:ext cx="548640" cy="548640"/>
          </a:xfrm>
          <a:prstGeom prst="ellipse">
            <a:avLst/>
          </a:prstGeom>
          <a:solidFill>
            <a:schemeClr val="accent1"/>
          </a:solidFill>
          <a:ln/>
        </p:spPr>
      </p:sp>
      <p:pic>
        <p:nvPicPr>
          <p:cNvPr id="21" name="Card 4 icon" descr="Card 4">    </p:cNvPr>
          <p:cNvPicPr>
            <a:picLocks noChangeAspect="1"/>
          </p:cNvPicPr>
          <p:nvPr/>
        </p:nvPicPr>
        <p:blipFill>
          <a:blip r:embed="rId4"/>
          <a:stretch>
            <a:fillRect/>
          </a:stretch>
        </p:blipFill>
        <p:spPr>
          <a:xfrm>
            <a:off x="960120" y="4526280"/>
            <a:ext cx="274320" cy="274320"/>
          </a:xfrm>
          <a:prstGeom prst="rect">
            <a:avLst/>
          </a:prstGeom>
        </p:spPr>
      </p:pic>
      <p:sp>
        <p:nvSpPr>
          <p:cNvPr id="22" name="Card 4 heading"/>
          <p:cNvSpPr txBox="1"/>
          <p:nvPr/>
        </p:nvSpPr>
        <p:spPr>
          <a:xfrm>
            <a:off x="822960" y="5074920"/>
            <a:ext cx="3017520" cy="365760"/>
          </a:xfrm>
          <a:prstGeom prst="rect">
            <a:avLst/>
          </a:prstGeom>
          <a:noFill/>
          <a:ln/>
        </p:spPr>
        <p:txBody>
          <a:bodyPr wrap="square" lIns="0" tIns="0" rIns="0" bIns="0" rtlCol="0" anchor="t"/>
          <a:lstStyle/>
          <a:p>
            <a:pPr indent="0" marL="0">
              <a:buNone/>
            </a:pPr>
            <a:r>
              <a:rPr lang="en-US" sz="1800" b="1" dirty="0">
                <a:solidFill>
                  <a:schemeClr val="tx1"/>
                </a:solidFill>
              </a:rPr>
              <a:t>Indexed queries</a:t>
            </a:r>
            <a:endParaRPr lang="en-US" sz="1800" dirty="0"/>
          </a:p>
        </p:txBody>
      </p:sp>
      <p:sp>
        <p:nvSpPr>
          <p:cNvPr id="23" name="Card 4 text"/>
          <p:cNvSpPr txBox="1"/>
          <p:nvPr/>
        </p:nvSpPr>
        <p:spPr>
          <a:xfrm>
            <a:off x="822960" y="5486400"/>
            <a:ext cx="3017520" cy="685800"/>
          </a:xfrm>
          <a:prstGeom prst="rect">
            <a:avLst/>
          </a:prstGeom>
          <a:noFill/>
          <a:ln/>
        </p:spPr>
        <p:txBody>
          <a:bodyPr wrap="square" lIns="0" tIns="0" rIns="0" bIns="0" rtlCol="0" anchor="t"/>
          <a:lstStyle/>
          <a:p>
            <a:pPr indent="0" marL="0">
              <a:buNone/>
            </a:pPr>
            <a:r>
              <a:rPr lang="en-US" sz="1400" dirty="0">
                <a:solidFill>
                  <a:schemeClr val="tx1"/>
                </a:solidFill>
              </a:rPr>
              <a:t>Date, site and bin indexes keep range queries cheap.</a:t>
            </a:r>
            <a:endParaRPr lang="en-US" sz="1400" dirty="0"/>
          </a:p>
        </p:txBody>
      </p:sp>
      <p:sp>
        <p:nvSpPr>
          <p:cNvPr id="24" name="Card Transactions"/>
          <p:cNvSpPr/>
          <p:nvPr/>
        </p:nvSpPr>
        <p:spPr>
          <a:xfrm>
            <a:off x="4311396" y="4160520"/>
            <a:ext cx="3566160" cy="2057400"/>
          </a:xfrm>
          <a:prstGeom prst="roundRect">
            <a:avLst>
              <a:gd name="adj" fmla="val 4444"/>
            </a:avLst>
          </a:prstGeom>
          <a:solidFill>
            <a:schemeClr val="bg2"/>
          </a:solidFill>
          <a:ln/>
        </p:spPr>
      </p:sp>
      <p:sp>
        <p:nvSpPr>
          <p:cNvPr id="25" name="Card 5 circle"/>
          <p:cNvSpPr/>
          <p:nvPr/>
        </p:nvSpPr>
        <p:spPr>
          <a:xfrm>
            <a:off x="4585716" y="4389120"/>
            <a:ext cx="548640" cy="548640"/>
          </a:xfrm>
          <a:prstGeom prst="ellipse">
            <a:avLst/>
          </a:prstGeom>
          <a:solidFill>
            <a:schemeClr val="accent1"/>
          </a:solidFill>
          <a:ln/>
        </p:spPr>
      </p:sp>
      <p:pic>
        <p:nvPicPr>
          <p:cNvPr id="26" name="Card 5 icon" descr="Card 5">    </p:cNvPr>
          <p:cNvPicPr>
            <a:picLocks noChangeAspect="1"/>
          </p:cNvPicPr>
          <p:nvPr/>
        </p:nvPicPr>
        <p:blipFill>
          <a:blip r:embed="rId5"/>
          <a:stretch>
            <a:fillRect/>
          </a:stretch>
        </p:blipFill>
        <p:spPr>
          <a:xfrm>
            <a:off x="4722876" y="4526280"/>
            <a:ext cx="274320" cy="274320"/>
          </a:xfrm>
          <a:prstGeom prst="rect">
            <a:avLst/>
          </a:prstGeom>
        </p:spPr>
      </p:pic>
      <p:sp>
        <p:nvSpPr>
          <p:cNvPr id="27" name="Card 5 heading"/>
          <p:cNvSpPr txBox="1"/>
          <p:nvPr/>
        </p:nvSpPr>
        <p:spPr>
          <a:xfrm>
            <a:off x="4585716" y="5074920"/>
            <a:ext cx="3017520" cy="365760"/>
          </a:xfrm>
          <a:prstGeom prst="rect">
            <a:avLst/>
          </a:prstGeom>
          <a:noFill/>
          <a:ln/>
        </p:spPr>
        <p:txBody>
          <a:bodyPr wrap="square" lIns="0" tIns="0" rIns="0" bIns="0" rtlCol="0" anchor="t"/>
          <a:lstStyle/>
          <a:p>
            <a:pPr indent="0" marL="0">
              <a:buNone/>
            </a:pPr>
            <a:r>
              <a:rPr lang="en-US" sz="1800" b="1" dirty="0">
                <a:solidFill>
                  <a:schemeClr val="tx1"/>
                </a:solidFill>
              </a:rPr>
              <a:t>Transactions</a:t>
            </a:r>
            <a:endParaRPr lang="en-US" sz="1800" dirty="0"/>
          </a:p>
        </p:txBody>
      </p:sp>
      <p:sp>
        <p:nvSpPr>
          <p:cNvPr id="28" name="Card 5 text"/>
          <p:cNvSpPr txBox="1"/>
          <p:nvPr/>
        </p:nvSpPr>
        <p:spPr>
          <a:xfrm>
            <a:off x="4585716" y="5486400"/>
            <a:ext cx="3017520" cy="685800"/>
          </a:xfrm>
          <a:prstGeom prst="rect">
            <a:avLst/>
          </a:prstGeom>
          <a:noFill/>
          <a:ln/>
        </p:spPr>
        <p:txBody>
          <a:bodyPr wrap="square" lIns="0" tIns="0" rIns="0" bIns="0" rtlCol="0" anchor="t"/>
          <a:lstStyle/>
          <a:p>
            <a:pPr indent="0" marL="0">
              <a:buNone/>
            </a:pPr>
            <a:r>
              <a:rPr lang="en-US" sz="1400" dirty="0">
                <a:solidFill>
                  <a:schemeClr val="tx1"/>
                </a:solidFill>
              </a:rPr>
              <a:t>A receipt and its stock update succeed or fail together.</a:t>
            </a:r>
            <a:endParaRPr lang="en-US" sz="1400" dirty="0"/>
          </a:p>
        </p:txBody>
      </p:sp>
      <p:sp>
        <p:nvSpPr>
          <p:cNvPr id="29" name="Card Already in the app"/>
          <p:cNvSpPr/>
          <p:nvPr/>
        </p:nvSpPr>
        <p:spPr>
          <a:xfrm>
            <a:off x="8074152" y="4160520"/>
            <a:ext cx="3566160" cy="2057400"/>
          </a:xfrm>
          <a:prstGeom prst="roundRect">
            <a:avLst>
              <a:gd name="adj" fmla="val 4444"/>
            </a:avLst>
          </a:prstGeom>
          <a:solidFill>
            <a:schemeClr val="bg2"/>
          </a:solidFill>
          <a:ln/>
        </p:spPr>
      </p:sp>
      <p:sp>
        <p:nvSpPr>
          <p:cNvPr id="30" name="Card 6 circle"/>
          <p:cNvSpPr/>
          <p:nvPr/>
        </p:nvSpPr>
        <p:spPr>
          <a:xfrm>
            <a:off x="8348472" y="4389120"/>
            <a:ext cx="548640" cy="548640"/>
          </a:xfrm>
          <a:prstGeom prst="ellipse">
            <a:avLst/>
          </a:prstGeom>
          <a:solidFill>
            <a:schemeClr val="accent1"/>
          </a:solidFill>
          <a:ln/>
        </p:spPr>
      </p:sp>
      <p:pic>
        <p:nvPicPr>
          <p:cNvPr id="31" name="Card 6 icon" descr="Card 6">    </p:cNvPr>
          <p:cNvPicPr>
            <a:picLocks noChangeAspect="1"/>
          </p:cNvPicPr>
          <p:nvPr/>
        </p:nvPicPr>
        <p:blipFill>
          <a:blip r:embed="rId6"/>
          <a:stretch>
            <a:fillRect/>
          </a:stretch>
        </p:blipFill>
        <p:spPr>
          <a:xfrm>
            <a:off x="8485632" y="4526280"/>
            <a:ext cx="274320" cy="274320"/>
          </a:xfrm>
          <a:prstGeom prst="rect">
            <a:avLst/>
          </a:prstGeom>
        </p:spPr>
      </p:pic>
      <p:sp>
        <p:nvSpPr>
          <p:cNvPr id="32" name="Card 6 heading"/>
          <p:cNvSpPr txBox="1"/>
          <p:nvPr/>
        </p:nvSpPr>
        <p:spPr>
          <a:xfrm>
            <a:off x="8348472" y="5074920"/>
            <a:ext cx="3017520" cy="365760"/>
          </a:xfrm>
          <a:prstGeom prst="rect">
            <a:avLst/>
          </a:prstGeom>
          <a:noFill/>
          <a:ln/>
        </p:spPr>
        <p:txBody>
          <a:bodyPr wrap="square" lIns="0" tIns="0" rIns="0" bIns="0" rtlCol="0" anchor="t"/>
          <a:lstStyle/>
          <a:p>
            <a:pPr indent="0" marL="0">
              <a:buNone/>
            </a:pPr>
            <a:r>
              <a:rPr lang="en-US" sz="1800" b="1" dirty="0">
                <a:solidFill>
                  <a:schemeClr val="tx1"/>
                </a:solidFill>
              </a:rPr>
              <a:t>Already in the app</a:t>
            </a:r>
            <a:endParaRPr lang="en-US" sz="1800" dirty="0"/>
          </a:p>
        </p:txBody>
      </p:sp>
      <p:sp>
        <p:nvSpPr>
          <p:cNvPr id="33" name="Card 6 text"/>
          <p:cNvSpPr txBox="1"/>
          <p:nvPr/>
        </p:nvSpPr>
        <p:spPr>
          <a:xfrm>
            <a:off x="8348472" y="5486400"/>
            <a:ext cx="3017520" cy="685800"/>
          </a:xfrm>
          <a:prstGeom prst="rect">
            <a:avLst/>
          </a:prstGeom>
          <a:noFill/>
          <a:ln/>
        </p:spPr>
        <p:txBody>
          <a:bodyPr wrap="square" lIns="0" tIns="0" rIns="0" bIns="0" rtlCol="0" anchor="t"/>
          <a:lstStyle/>
          <a:p>
            <a:pPr indent="0" marL="0">
              <a:buNone/>
            </a:pPr>
            <a:r>
              <a:rPr lang="en-US" sz="1400" dirty="0">
                <a:solidFill>
                  <a:schemeClr val="tx1"/>
                </a:solidFill>
              </a:rPr>
              <a:t>The native mongodb driver and ETL scripts already exist.</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rPr>
              <a:t>What changes after the move</a:t>
            </a:r>
            <a:endParaRPr lang="en-US" sz="3600" dirty="0"/>
          </a:p>
        </p:txBody>
      </p:sp>
      <p:sp>
        <p:nvSpPr>
          <p:cNvPr id="3" name="Lede"/>
          <p:cNvSpPr txBox="1"/>
          <p:nvPr/>
        </p:nvSpPr>
        <p:spPr>
          <a:xfrm>
            <a:off x="548640" y="1188720"/>
            <a:ext cx="11091672" cy="594360"/>
          </a:xfrm>
          <a:prstGeom prst="rect">
            <a:avLst/>
          </a:prstGeom>
          <a:noFill/>
          <a:ln/>
        </p:spPr>
        <p:txBody>
          <a:bodyPr wrap="square" lIns="0" tIns="0" rIns="0" bIns="0" rtlCol="0" anchor="t"/>
          <a:lstStyle/>
          <a:p>
            <a:pPr indent="0" marL="0">
              <a:buNone/>
            </a:pPr>
            <a:r>
              <a:rPr lang="en-US" sz="1600" dirty="0">
                <a:solidFill>
                  <a:schemeClr val="tx1"/>
                </a:solidFill>
              </a:rPr>
              <a:t>Most differences are gains, but two jobs move into the application.</a:t>
            </a:r>
            <a:endParaRPr lang="en-US" sz="1600" dirty="0"/>
          </a:p>
        </p:txBody>
      </p:sp>
      <p:graphicFrame>
        <p:nvGraphicFramePr>
          <p:cNvPr id="8" name="Comparison table"/>
          <p:cNvGraphicFramePr>
            <a:graphicFrameLocks noGrp="1"/>
          </p:cNvGraphicFramePr>
          <p:nvPr>
            <p:extLst>
              <p:ext uri="{D42A27DB-BD31-4B8C-83A1-F6EECF244321}">
                <p14:modId xmlns:p14="http://schemas.microsoft.com/office/powerpoint/2010/main" val="1579011935"/>
              </p:ext>
            </p:extLst>
          </p:nvPr>
        </p:nvGraphicFramePr>
        <p:xfrm>
          <a:off x="548640" y="1920240"/>
          <a:ext cx="11091672" cy="914400"/>
        </p:xfrm>
        <a:graphic>
          <a:graphicData uri="http://schemas.openxmlformats.org/drawingml/2006/table">
            <a:tbl>
              <a:tblPr/>
              <a:tblGrid>
                <a:gridCol w="2651760"/>
                <a:gridCol w="4389120"/>
                <a:gridCol w="4050792"/>
              </a:tblGrid>
              <a:tr h="0">
                <a:tc>
                  <a:txBody>
                    <a:bodyPr/>
                    <a:lstStyle/>
                    <a:p>
                      <a:pPr indent="0" marL="0">
                        <a:buNone/>
                      </a:pPr>
                      <a:r>
                        <a:rPr lang="en-US" sz="1500" b="1" dirty="0">
                          <a:solidFill>
                            <a:schemeClr val="bg1"/>
                          </a:solidFill>
                        </a:rPr>
                        <a:t>Area</a:t>
                      </a:r>
                      <a:endParaRPr lang="en-US" sz="15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Today (Sanity plus archive)</a:t>
                      </a:r>
                      <a:endParaRPr lang="en-US" sz="15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After (MongoDB)</a:t>
                      </a:r>
                      <a:endParaRPr lang="en-US" sz="15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tx2"/>
                    </a:solidFill>
                  </a:tcPr>
                </a:tc>
              </a:tr>
              <a:tr h="0">
                <a:tc>
                  <a:txBody>
                    <a:bodyPr/>
                    <a:lstStyle/>
                    <a:p>
                      <a:pPr indent="0" marL="0">
                        <a:buNone/>
                      </a:pPr>
                      <a:r>
                        <a:rPr lang="en-US" sz="1500" b="1" dirty="0">
                          <a:solidFill>
                            <a:schemeClr val="tx1"/>
                          </a:solidFill>
                        </a:rPr>
                        <a:t>Data stores</a:t>
                      </a:r>
                      <a:endParaRPr lang="en-US" sz="15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Two: Sanity and the MongoDB archive</a:t>
                      </a:r>
                      <a:endParaRPr lang="en-US" sz="15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One</a:t>
                      </a:r>
                      <a:endParaRPr lang="en-US" sz="15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2"/>
                    </a:solidFill>
                  </a:tcPr>
                </a:tc>
              </a:tr>
              <a:tr h="0">
                <a:tc>
                  <a:txBody>
                    <a:bodyPr/>
                    <a:lstStyle/>
                    <a:p>
                      <a:pPr indent="0" marL="0">
                        <a:buNone/>
                      </a:pPr>
                      <a:r>
                        <a:rPr lang="en-US" sz="1500" b="1" dirty="0">
                          <a:solidFill>
                            <a:schemeClr val="tx1"/>
                          </a:solidFill>
                        </a:rPr>
                        <a:t>Document limit</a:t>
                      </a:r>
                      <a:endParaRPr lang="en-US" sz="15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Sanity quota, blocked at about 31,059</a:t>
                      </a:r>
                      <a:endParaRPr lang="en-US" sz="15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Bound by disk and throughput</a:t>
                      </a:r>
                      <a:endParaRPr lang="en-US" sz="15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1"/>
                    </a:solidFill>
                  </a:tcPr>
                </a:tc>
              </a:tr>
              <a:tr h="0">
                <a:tc>
                  <a:txBody>
                    <a:bodyPr/>
                    <a:lstStyle/>
                    <a:p>
                      <a:pPr indent="0" marL="0">
                        <a:buNone/>
                      </a:pPr>
                      <a:r>
                        <a:rPr lang="en-US" sz="1500" b="1" dirty="0">
                          <a:solidFill>
                            <a:schemeClr val="tx1"/>
                          </a:solidFill>
                        </a:rPr>
                        <a:t>History queries</a:t>
                      </a:r>
                      <a:endParaRPr lang="en-US" sz="15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Merge, cap and de-duplicate</a:t>
                      </a:r>
                      <a:endParaRPr lang="en-US" sz="15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One query</a:t>
                      </a:r>
                      <a:endParaRPr lang="en-US" sz="15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2"/>
                    </a:solidFill>
                  </a:tcPr>
                </a:tc>
              </a:tr>
              <a:tr h="0">
                <a:tc>
                  <a:txBody>
                    <a:bodyPr/>
                    <a:lstStyle/>
                    <a:p>
                      <a:pPr indent="0" marL="0">
                        <a:buNone/>
                      </a:pPr>
                      <a:r>
                        <a:rPr lang="en-US" sz="1500" b="1" dirty="0">
                          <a:solidFill>
                            <a:schemeClr val="tx1"/>
                          </a:solidFill>
                        </a:rPr>
                        <a:t>Report summaries</a:t>
                      </a:r>
                      <a:endParaRPr lang="en-US" sz="15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Full history downloaded</a:t>
                      </a:r>
                      <a:endParaRPr lang="en-US" sz="15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1 KB server-side aggregate</a:t>
                      </a:r>
                      <a:endParaRPr lang="en-US" sz="15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1"/>
                    </a:solidFill>
                  </a:tcPr>
                </a:tc>
              </a:tr>
              <a:tr h="0">
                <a:tc>
                  <a:txBody>
                    <a:bodyPr/>
                    <a:lstStyle/>
                    <a:p>
                      <a:pPr indent="0" marL="0">
                        <a:buNone/>
                      </a:pPr>
                      <a:r>
                        <a:rPr lang="en-US" sz="1500" b="1" dirty="0">
                          <a:solidFill>
                            <a:schemeClr val="tx1"/>
                          </a:solidFill>
                        </a:rPr>
                        <a:t>Retention machinery</a:t>
                      </a:r>
                      <a:endParaRPr lang="en-US" sz="15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Required to stay under quota</a:t>
                      </a:r>
                      <a:endParaRPr lang="en-US" sz="15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Mostly removable</a:t>
                      </a:r>
                      <a:endParaRPr lang="en-US" sz="15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2"/>
                    </a:solidFill>
                  </a:tcPr>
                </a:tc>
              </a:tr>
              <a:tr h="0">
                <a:tc>
                  <a:txBody>
                    <a:bodyPr/>
                    <a:lstStyle/>
                    <a:p>
                      <a:pPr indent="0" marL="0">
                        <a:buNone/>
                      </a:pPr>
                      <a:r>
                        <a:rPr lang="en-US" sz="1500" b="1" dirty="0">
                          <a:solidFill>
                            <a:schemeClr val="tx1"/>
                          </a:solidFill>
                        </a:rPr>
                        <a:t>Reference integrity</a:t>
                      </a:r>
                      <a:endParaRPr lang="en-US" sz="15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Enforced by Sanity schemas</a:t>
                      </a:r>
                      <a:endParaRPr lang="en-US" sz="15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Moves into the app (Mongoose recommended)</a:t>
                      </a:r>
                      <a:endParaRPr lang="en-US" sz="15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1"/>
                    </a:solidFill>
                  </a:tcPr>
                </a:tc>
              </a:tr>
              <a:tr h="0">
                <a:tc>
                  <a:txBody>
                    <a:bodyPr/>
                    <a:lstStyle/>
                    <a:p>
                      <a:pPr indent="0" marL="0">
                        <a:buNone/>
                      </a:pPr>
                      <a:r>
                        <a:rPr lang="en-US" sz="1500" b="1" dirty="0">
                          <a:solidFill>
                            <a:schemeClr val="tx1"/>
                          </a:solidFill>
                        </a:rPr>
                        <a:t>Admin editing</a:t>
                      </a:r>
                      <a:endParaRPr lang="en-US" sz="15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Sanity Studio</a:t>
                      </a:r>
                      <a:endParaRPr lang="en-US" sz="15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A minimal internal admin screen</a:t>
                      </a:r>
                      <a:endParaRPr lang="en-US" sz="15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2"/>
                    </a:solidFill>
                  </a:tcPr>
                </a:tc>
              </a:tr>
            </a:tbl>
          </a:graphicData>
        </a:graphic>
      </p:graphicFrame>
      <p:sp>
        <p:nvSpPr>
          <p:cNvPr id="5" name="Caveat"/>
          <p:cNvSpPr txBox="1"/>
          <p:nvPr/>
        </p:nvSpPr>
        <p:spPr>
          <a:xfrm>
            <a:off x="548640" y="5897880"/>
            <a:ext cx="11091672" cy="365760"/>
          </a:xfrm>
          <a:prstGeom prst="rect">
            <a:avLst/>
          </a:prstGeom>
          <a:noFill/>
          <a:ln/>
        </p:spPr>
        <p:txBody>
          <a:bodyPr wrap="square" lIns="0" tIns="0" rIns="0" bIns="0" rtlCol="0" anchor="t"/>
          <a:lstStyle/>
          <a:p>
            <a:pPr indent="0" marL="0">
              <a:buNone/>
            </a:pPr>
            <a:r>
              <a:rPr lang="en-US" sz="1200" dirty="0">
                <a:solidFill>
                  <a:schemeClr val="accent5"/>
                </a:solidFill>
              </a:rPr>
              <a:t>Not automatic: the 194 GROQ queries must be rewritten with sensible indexes, or some will be slower.</a:t>
            </a:r>
            <a:endParaRPr lang="en-US" sz="12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rPr>
              <a:t>What has to move</a:t>
            </a:r>
            <a:endParaRPr lang="en-US" sz="3600" dirty="0"/>
          </a:p>
        </p:txBody>
      </p:sp>
      <p:sp>
        <p:nvSpPr>
          <p:cNvPr id="3" name="Lede"/>
          <p:cNvSpPr txBox="1"/>
          <p:nvPr/>
        </p:nvSpPr>
        <p:spPr>
          <a:xfrm>
            <a:off x="548640" y="1188720"/>
            <a:ext cx="11091672" cy="594360"/>
          </a:xfrm>
          <a:prstGeom prst="rect">
            <a:avLst/>
          </a:prstGeom>
          <a:noFill/>
          <a:ln/>
        </p:spPr>
        <p:txBody>
          <a:bodyPr wrap="square" lIns="0" tIns="0" rIns="0" bIns="0" rtlCol="0" anchor="t"/>
          <a:lstStyle/>
          <a:p>
            <a:pPr indent="0" marL="0">
              <a:buNone/>
            </a:pPr>
            <a:r>
              <a:rPr lang="en-US" sz="1600" dirty="0">
                <a:solidFill>
                  <a:schemeClr val="tx1"/>
                </a:solidFill>
              </a:rPr>
              <a:t>Sanity is used for login, every operational record and file storage, so the migration touches almost the whole app.</a:t>
            </a:r>
            <a:endParaRPr lang="en-US" sz="1600" dirty="0"/>
          </a:p>
        </p:txBody>
      </p:sp>
      <p:sp>
        <p:nvSpPr>
          <p:cNvPr id="4" name="Stat files import Sanity"/>
          <p:cNvSpPr/>
          <p:nvPr/>
        </p:nvSpPr>
        <p:spPr>
          <a:xfrm>
            <a:off x="548640" y="1965960"/>
            <a:ext cx="2103120" cy="1554480"/>
          </a:xfrm>
          <a:prstGeom prst="roundRect">
            <a:avLst>
              <a:gd name="adj" fmla="val 5882"/>
            </a:avLst>
          </a:prstGeom>
          <a:solidFill>
            <a:schemeClr val="bg2"/>
          </a:solidFill>
          <a:ln/>
        </p:spPr>
      </p:sp>
      <p:sp>
        <p:nvSpPr>
          <p:cNvPr id="5" name="Stat files import Sanity value"/>
          <p:cNvSpPr txBox="1"/>
          <p:nvPr/>
        </p:nvSpPr>
        <p:spPr>
          <a:xfrm>
            <a:off x="731520" y="2103120"/>
            <a:ext cx="1737360" cy="731520"/>
          </a:xfrm>
          <a:prstGeom prst="rect">
            <a:avLst/>
          </a:prstGeom>
          <a:noFill/>
          <a:ln/>
        </p:spPr>
        <p:txBody>
          <a:bodyPr wrap="square" lIns="0" tIns="0" rIns="0" bIns="0" rtlCol="0" anchor="ctr"/>
          <a:lstStyle/>
          <a:p>
            <a:pPr indent="0" marL="0">
              <a:buNone/>
            </a:pPr>
            <a:r>
              <a:rPr lang="en-US" sz="3000" b="1" dirty="0">
                <a:solidFill>
                  <a:schemeClr val="accent1"/>
                </a:solidFill>
                <a:latin typeface="+mj-lt" pitchFamily="34" charset="0"/>
                <a:ea typeface="+mj-lt" pitchFamily="34" charset="-122"/>
                <a:cs typeface="+mj-lt" pitchFamily="34" charset="-120"/>
              </a:rPr>
              <a:t>64</a:t>
            </a:r>
            <a:endParaRPr lang="en-US" sz="3000" dirty="0"/>
          </a:p>
        </p:txBody>
      </p:sp>
      <p:sp>
        <p:nvSpPr>
          <p:cNvPr id="6" name="Stat files import Sanity label"/>
          <p:cNvSpPr txBox="1"/>
          <p:nvPr/>
        </p:nvSpPr>
        <p:spPr>
          <a:xfrm>
            <a:off x="731520" y="2880360"/>
            <a:ext cx="1737360" cy="548640"/>
          </a:xfrm>
          <a:prstGeom prst="rect">
            <a:avLst/>
          </a:prstGeom>
          <a:noFill/>
          <a:ln/>
        </p:spPr>
        <p:txBody>
          <a:bodyPr wrap="square" lIns="0" tIns="0" rIns="0" bIns="0" rtlCol="0" anchor="t"/>
          <a:lstStyle/>
          <a:p>
            <a:pPr indent="0" marL="0">
              <a:buNone/>
            </a:pPr>
            <a:r>
              <a:rPr lang="en-US" sz="1400" dirty="0">
                <a:solidFill>
                  <a:schemeClr val="tx1"/>
                </a:solidFill>
              </a:rPr>
              <a:t>files import Sanity</a:t>
            </a:r>
            <a:endParaRPr lang="en-US" sz="1400" dirty="0"/>
          </a:p>
        </p:txBody>
      </p:sp>
      <p:sp>
        <p:nvSpPr>
          <p:cNvPr id="7" name="Stat API routes"/>
          <p:cNvSpPr/>
          <p:nvPr/>
        </p:nvSpPr>
        <p:spPr>
          <a:xfrm>
            <a:off x="2795778" y="1965960"/>
            <a:ext cx="2103120" cy="1554480"/>
          </a:xfrm>
          <a:prstGeom prst="roundRect">
            <a:avLst>
              <a:gd name="adj" fmla="val 5882"/>
            </a:avLst>
          </a:prstGeom>
          <a:solidFill>
            <a:schemeClr val="bg2"/>
          </a:solidFill>
          <a:ln/>
        </p:spPr>
      </p:sp>
      <p:sp>
        <p:nvSpPr>
          <p:cNvPr id="8" name="Stat API routes value"/>
          <p:cNvSpPr txBox="1"/>
          <p:nvPr/>
        </p:nvSpPr>
        <p:spPr>
          <a:xfrm>
            <a:off x="2978658" y="2103120"/>
            <a:ext cx="1737360" cy="731520"/>
          </a:xfrm>
          <a:prstGeom prst="rect">
            <a:avLst/>
          </a:prstGeom>
          <a:noFill/>
          <a:ln/>
        </p:spPr>
        <p:txBody>
          <a:bodyPr wrap="square" lIns="0" tIns="0" rIns="0" bIns="0" rtlCol="0" anchor="ctr"/>
          <a:lstStyle/>
          <a:p>
            <a:pPr indent="0" marL="0">
              <a:buNone/>
            </a:pPr>
            <a:r>
              <a:rPr lang="en-US" sz="3000" b="1" dirty="0">
                <a:solidFill>
                  <a:schemeClr val="accent1"/>
                </a:solidFill>
                <a:latin typeface="+mj-lt" pitchFamily="34" charset="0"/>
                <a:ea typeface="+mj-lt" pitchFamily="34" charset="-122"/>
                <a:cs typeface="+mj-lt" pitchFamily="34" charset="-120"/>
              </a:rPr>
              <a:t>54</a:t>
            </a:r>
            <a:endParaRPr lang="en-US" sz="3000" dirty="0"/>
          </a:p>
        </p:txBody>
      </p:sp>
      <p:sp>
        <p:nvSpPr>
          <p:cNvPr id="9" name="Stat API routes label"/>
          <p:cNvSpPr txBox="1"/>
          <p:nvPr/>
        </p:nvSpPr>
        <p:spPr>
          <a:xfrm>
            <a:off x="2978658" y="2880360"/>
            <a:ext cx="1737360" cy="548640"/>
          </a:xfrm>
          <a:prstGeom prst="rect">
            <a:avLst/>
          </a:prstGeom>
          <a:noFill/>
          <a:ln/>
        </p:spPr>
        <p:txBody>
          <a:bodyPr wrap="square" lIns="0" tIns="0" rIns="0" bIns="0" rtlCol="0" anchor="t"/>
          <a:lstStyle/>
          <a:p>
            <a:pPr indent="0" marL="0">
              <a:buNone/>
            </a:pPr>
            <a:r>
              <a:rPr lang="en-US" sz="1400" dirty="0">
                <a:solidFill>
                  <a:schemeClr val="tx1"/>
                </a:solidFill>
              </a:rPr>
              <a:t>API routes</a:t>
            </a:r>
            <a:endParaRPr lang="en-US" sz="1400" dirty="0"/>
          </a:p>
        </p:txBody>
      </p:sp>
      <p:sp>
        <p:nvSpPr>
          <p:cNvPr id="10" name="Stat GROQ queries to rewrite"/>
          <p:cNvSpPr/>
          <p:nvPr/>
        </p:nvSpPr>
        <p:spPr>
          <a:xfrm>
            <a:off x="5042916" y="1965960"/>
            <a:ext cx="2103120" cy="1554480"/>
          </a:xfrm>
          <a:prstGeom prst="roundRect">
            <a:avLst>
              <a:gd name="adj" fmla="val 5882"/>
            </a:avLst>
          </a:prstGeom>
          <a:solidFill>
            <a:schemeClr val="bg2"/>
          </a:solidFill>
          <a:ln/>
        </p:spPr>
      </p:sp>
      <p:sp>
        <p:nvSpPr>
          <p:cNvPr id="11" name="Stat GROQ queries to rewrite value"/>
          <p:cNvSpPr txBox="1"/>
          <p:nvPr/>
        </p:nvSpPr>
        <p:spPr>
          <a:xfrm>
            <a:off x="5225796" y="2103120"/>
            <a:ext cx="1737360" cy="731520"/>
          </a:xfrm>
          <a:prstGeom prst="rect">
            <a:avLst/>
          </a:prstGeom>
          <a:noFill/>
          <a:ln/>
        </p:spPr>
        <p:txBody>
          <a:bodyPr wrap="square" lIns="0" tIns="0" rIns="0" bIns="0" rtlCol="0" anchor="ctr"/>
          <a:lstStyle/>
          <a:p>
            <a:pPr indent="0" marL="0">
              <a:buNone/>
            </a:pPr>
            <a:r>
              <a:rPr lang="en-US" sz="3000" b="1" dirty="0">
                <a:solidFill>
                  <a:schemeClr val="accent1"/>
                </a:solidFill>
                <a:latin typeface="+mj-lt" pitchFamily="34" charset="0"/>
                <a:ea typeface="+mj-lt" pitchFamily="34" charset="-122"/>
                <a:cs typeface="+mj-lt" pitchFamily="34" charset="-120"/>
              </a:rPr>
              <a:t>~194</a:t>
            </a:r>
            <a:endParaRPr lang="en-US" sz="3000" dirty="0"/>
          </a:p>
        </p:txBody>
      </p:sp>
      <p:sp>
        <p:nvSpPr>
          <p:cNvPr id="12" name="Stat GROQ queries to rewrite label"/>
          <p:cNvSpPr txBox="1"/>
          <p:nvPr/>
        </p:nvSpPr>
        <p:spPr>
          <a:xfrm>
            <a:off x="5225796" y="2880360"/>
            <a:ext cx="1737360" cy="548640"/>
          </a:xfrm>
          <a:prstGeom prst="rect">
            <a:avLst/>
          </a:prstGeom>
          <a:noFill/>
          <a:ln/>
        </p:spPr>
        <p:txBody>
          <a:bodyPr wrap="square" lIns="0" tIns="0" rIns="0" bIns="0" rtlCol="0" anchor="t"/>
          <a:lstStyle/>
          <a:p>
            <a:pPr indent="0" marL="0">
              <a:buNone/>
            </a:pPr>
            <a:r>
              <a:rPr lang="en-US" sz="1400" dirty="0">
                <a:solidFill>
                  <a:schemeClr val="tx1"/>
                </a:solidFill>
              </a:rPr>
              <a:t>GROQ queries to rewrite</a:t>
            </a:r>
            <a:endParaRPr lang="en-US" sz="1400" dirty="0"/>
          </a:p>
        </p:txBody>
      </p:sp>
      <p:sp>
        <p:nvSpPr>
          <p:cNvPr id="13" name="Stat document types"/>
          <p:cNvSpPr/>
          <p:nvPr/>
        </p:nvSpPr>
        <p:spPr>
          <a:xfrm>
            <a:off x="7290054" y="1965960"/>
            <a:ext cx="2103120" cy="1554480"/>
          </a:xfrm>
          <a:prstGeom prst="roundRect">
            <a:avLst>
              <a:gd name="adj" fmla="val 5882"/>
            </a:avLst>
          </a:prstGeom>
          <a:solidFill>
            <a:schemeClr val="bg2"/>
          </a:solidFill>
          <a:ln/>
        </p:spPr>
      </p:sp>
      <p:sp>
        <p:nvSpPr>
          <p:cNvPr id="14" name="Stat document types value"/>
          <p:cNvSpPr txBox="1"/>
          <p:nvPr/>
        </p:nvSpPr>
        <p:spPr>
          <a:xfrm>
            <a:off x="7472934" y="2103120"/>
            <a:ext cx="1737360" cy="731520"/>
          </a:xfrm>
          <a:prstGeom prst="rect">
            <a:avLst/>
          </a:prstGeom>
          <a:noFill/>
          <a:ln/>
        </p:spPr>
        <p:txBody>
          <a:bodyPr wrap="square" lIns="0" tIns="0" rIns="0" bIns="0" rtlCol="0" anchor="ctr"/>
          <a:lstStyle/>
          <a:p>
            <a:pPr indent="0" marL="0">
              <a:buNone/>
            </a:pPr>
            <a:r>
              <a:rPr lang="en-US" sz="3000" b="1" dirty="0">
                <a:solidFill>
                  <a:schemeClr val="accent1"/>
                </a:solidFill>
                <a:latin typeface="+mj-lt" pitchFamily="34" charset="0"/>
                <a:ea typeface="+mj-lt" pitchFamily="34" charset="-122"/>
                <a:cs typeface="+mj-lt" pitchFamily="34" charset="-120"/>
              </a:rPr>
              <a:t>24</a:t>
            </a:r>
            <a:endParaRPr lang="en-US" sz="3000" dirty="0"/>
          </a:p>
        </p:txBody>
      </p:sp>
      <p:sp>
        <p:nvSpPr>
          <p:cNvPr id="15" name="Stat document types label"/>
          <p:cNvSpPr txBox="1"/>
          <p:nvPr/>
        </p:nvSpPr>
        <p:spPr>
          <a:xfrm>
            <a:off x="7472934" y="2880360"/>
            <a:ext cx="1737360" cy="548640"/>
          </a:xfrm>
          <a:prstGeom prst="rect">
            <a:avLst/>
          </a:prstGeom>
          <a:noFill/>
          <a:ln/>
        </p:spPr>
        <p:txBody>
          <a:bodyPr wrap="square" lIns="0" tIns="0" rIns="0" bIns="0" rtlCol="0" anchor="t"/>
          <a:lstStyle/>
          <a:p>
            <a:pPr indent="0" marL="0">
              <a:buNone/>
            </a:pPr>
            <a:r>
              <a:rPr lang="en-US" sz="1400" dirty="0">
                <a:solidFill>
                  <a:schemeClr val="tx1"/>
                </a:solidFill>
              </a:rPr>
              <a:t>document types</a:t>
            </a:r>
            <a:endParaRPr lang="en-US" sz="1400" dirty="0"/>
          </a:p>
        </p:txBody>
      </p:sp>
      <p:sp>
        <p:nvSpPr>
          <p:cNvPr id="16" name="Stat documents to migrate"/>
          <p:cNvSpPr/>
          <p:nvPr/>
        </p:nvSpPr>
        <p:spPr>
          <a:xfrm>
            <a:off x="9537192" y="1965960"/>
            <a:ext cx="2103120" cy="1554480"/>
          </a:xfrm>
          <a:prstGeom prst="roundRect">
            <a:avLst>
              <a:gd name="adj" fmla="val 5882"/>
            </a:avLst>
          </a:prstGeom>
          <a:solidFill>
            <a:schemeClr val="bg2"/>
          </a:solidFill>
          <a:ln/>
        </p:spPr>
      </p:sp>
      <p:sp>
        <p:nvSpPr>
          <p:cNvPr id="17" name="Stat documents to migrate value"/>
          <p:cNvSpPr txBox="1"/>
          <p:nvPr/>
        </p:nvSpPr>
        <p:spPr>
          <a:xfrm>
            <a:off x="9720072" y="2103120"/>
            <a:ext cx="1737360" cy="731520"/>
          </a:xfrm>
          <a:prstGeom prst="rect">
            <a:avLst/>
          </a:prstGeom>
          <a:noFill/>
          <a:ln/>
        </p:spPr>
        <p:txBody>
          <a:bodyPr wrap="square" lIns="0" tIns="0" rIns="0" bIns="0" rtlCol="0" anchor="ctr"/>
          <a:lstStyle/>
          <a:p>
            <a:pPr indent="0" marL="0">
              <a:buNone/>
            </a:pPr>
            <a:r>
              <a:rPr lang="en-US" sz="3000" b="1" dirty="0">
                <a:solidFill>
                  <a:schemeClr val="accent1"/>
                </a:solidFill>
                <a:latin typeface="+mj-lt" pitchFamily="34" charset="0"/>
                <a:ea typeface="+mj-lt" pitchFamily="34" charset="-122"/>
                <a:cs typeface="+mj-lt" pitchFamily="34" charset="-120"/>
              </a:rPr>
              <a:t>24,784</a:t>
            </a:r>
            <a:endParaRPr lang="en-US" sz="3000" dirty="0"/>
          </a:p>
        </p:txBody>
      </p:sp>
      <p:sp>
        <p:nvSpPr>
          <p:cNvPr id="18" name="Stat documents to migrate label"/>
          <p:cNvSpPr txBox="1"/>
          <p:nvPr/>
        </p:nvSpPr>
        <p:spPr>
          <a:xfrm>
            <a:off x="9720072" y="2880360"/>
            <a:ext cx="1737360" cy="548640"/>
          </a:xfrm>
          <a:prstGeom prst="rect">
            <a:avLst/>
          </a:prstGeom>
          <a:noFill/>
          <a:ln/>
        </p:spPr>
        <p:txBody>
          <a:bodyPr wrap="square" lIns="0" tIns="0" rIns="0" bIns="0" rtlCol="0" anchor="t"/>
          <a:lstStyle/>
          <a:p>
            <a:pPr indent="0" marL="0">
              <a:buNone/>
            </a:pPr>
            <a:r>
              <a:rPr lang="en-US" sz="1400" dirty="0">
                <a:solidFill>
                  <a:schemeClr val="tx1"/>
                </a:solidFill>
              </a:rPr>
              <a:t>documents to migrate</a:t>
            </a:r>
            <a:endParaRPr lang="en-US" sz="1400" dirty="0"/>
          </a:p>
        </p:txBody>
      </p:sp>
      <p:sp>
        <p:nvSpPr>
          <p:cNvPr id="19" name="Item 1 circle"/>
          <p:cNvSpPr/>
          <p:nvPr/>
        </p:nvSpPr>
        <p:spPr>
          <a:xfrm>
            <a:off x="548640" y="3840480"/>
            <a:ext cx="594360" cy="594360"/>
          </a:xfrm>
          <a:prstGeom prst="ellipse">
            <a:avLst/>
          </a:prstGeom>
          <a:solidFill>
            <a:schemeClr val="accent1"/>
          </a:solidFill>
          <a:ln/>
        </p:spPr>
      </p:sp>
      <p:pic>
        <p:nvPicPr>
          <p:cNvPr id="20" name="Item 1 icon" descr="Item 1">    </p:cNvPr>
          <p:cNvPicPr>
            <a:picLocks noChangeAspect="1"/>
          </p:cNvPicPr>
          <p:nvPr/>
        </p:nvPicPr>
        <p:blipFill>
          <a:blip r:embed="rId1"/>
          <a:stretch>
            <a:fillRect/>
          </a:stretch>
        </p:blipFill>
        <p:spPr>
          <a:xfrm>
            <a:off x="697230" y="3989070"/>
            <a:ext cx="297180" cy="297180"/>
          </a:xfrm>
          <a:prstGeom prst="rect">
            <a:avLst/>
          </a:prstGeom>
        </p:spPr>
      </p:pic>
      <p:sp>
        <p:nvSpPr>
          <p:cNvPr id="21" name="Item 1 heading"/>
          <p:cNvSpPr txBox="1"/>
          <p:nvPr/>
        </p:nvSpPr>
        <p:spPr>
          <a:xfrm>
            <a:off x="1325880" y="3840480"/>
            <a:ext cx="4572000" cy="320040"/>
          </a:xfrm>
          <a:prstGeom prst="rect">
            <a:avLst/>
          </a:prstGeom>
          <a:noFill/>
          <a:ln/>
        </p:spPr>
        <p:txBody>
          <a:bodyPr wrap="square" lIns="0" tIns="0" rIns="0" bIns="0" rtlCol="0" anchor="t"/>
          <a:lstStyle/>
          <a:p>
            <a:pPr indent="0" marL="0">
              <a:buNone/>
            </a:pPr>
            <a:r>
              <a:rPr lang="en-US" sz="1800" b="1" dirty="0">
                <a:solidFill>
                  <a:schemeClr val="tx1"/>
                </a:solidFill>
              </a:rPr>
              <a:t>Authentication</a:t>
            </a:r>
            <a:endParaRPr lang="en-US" sz="1800" dirty="0"/>
          </a:p>
        </p:txBody>
      </p:sp>
      <p:sp>
        <p:nvSpPr>
          <p:cNvPr id="22" name="Item 1 text"/>
          <p:cNvSpPr txBox="1"/>
          <p:nvPr/>
        </p:nvSpPr>
        <p:spPr>
          <a:xfrm>
            <a:off x="1325880" y="4206240"/>
            <a:ext cx="4572000" cy="731520"/>
          </a:xfrm>
          <a:prstGeom prst="rect">
            <a:avLst/>
          </a:prstGeom>
          <a:noFill/>
          <a:ln/>
        </p:spPr>
        <p:txBody>
          <a:bodyPr wrap="square" lIns="0" tIns="0" rIns="0" bIns="0" rtlCol="0" anchor="t"/>
          <a:lstStyle/>
          <a:p>
            <a:pPr indent="0" marL="0">
              <a:buNone/>
            </a:pPr>
            <a:r>
              <a:rPr lang="en-US" sz="1400" dirty="0">
                <a:solidFill>
                  <a:schemeClr val="tx1"/>
                </a:solidFill>
              </a:rPr>
              <a:t>Login, password reset and verification codes move to a MongoDB users collection.</a:t>
            </a:r>
            <a:endParaRPr lang="en-US" sz="1400" dirty="0"/>
          </a:p>
        </p:txBody>
      </p:sp>
      <p:sp>
        <p:nvSpPr>
          <p:cNvPr id="23" name="Item 2 circle"/>
          <p:cNvSpPr/>
          <p:nvPr/>
        </p:nvSpPr>
        <p:spPr>
          <a:xfrm>
            <a:off x="6217920" y="3840480"/>
            <a:ext cx="594360" cy="594360"/>
          </a:xfrm>
          <a:prstGeom prst="ellipse">
            <a:avLst/>
          </a:prstGeom>
          <a:solidFill>
            <a:schemeClr val="accent1"/>
          </a:solidFill>
          <a:ln/>
        </p:spPr>
      </p:sp>
      <p:pic>
        <p:nvPicPr>
          <p:cNvPr id="24" name="Item 2 icon" descr="Item 2">    </p:cNvPr>
          <p:cNvPicPr>
            <a:picLocks noChangeAspect="1"/>
          </p:cNvPicPr>
          <p:nvPr/>
        </p:nvPicPr>
        <p:blipFill>
          <a:blip r:embed="rId2"/>
          <a:stretch>
            <a:fillRect/>
          </a:stretch>
        </p:blipFill>
        <p:spPr>
          <a:xfrm>
            <a:off x="6366510" y="3989070"/>
            <a:ext cx="297180" cy="297180"/>
          </a:xfrm>
          <a:prstGeom prst="rect">
            <a:avLst/>
          </a:prstGeom>
        </p:spPr>
      </p:pic>
      <p:sp>
        <p:nvSpPr>
          <p:cNvPr id="25" name="Item 2 heading"/>
          <p:cNvSpPr txBox="1"/>
          <p:nvPr/>
        </p:nvSpPr>
        <p:spPr>
          <a:xfrm>
            <a:off x="6995160" y="3840480"/>
            <a:ext cx="4572000" cy="320040"/>
          </a:xfrm>
          <a:prstGeom prst="rect">
            <a:avLst/>
          </a:prstGeom>
          <a:noFill/>
          <a:ln/>
        </p:spPr>
        <p:txBody>
          <a:bodyPr wrap="square" lIns="0" tIns="0" rIns="0" bIns="0" rtlCol="0" anchor="t"/>
          <a:lstStyle/>
          <a:p>
            <a:pPr indent="0" marL="0">
              <a:buNone/>
            </a:pPr>
            <a:r>
              <a:rPr lang="en-US" sz="1800" b="1" dirty="0">
                <a:solidFill>
                  <a:schemeClr val="tx1"/>
                </a:solidFill>
              </a:rPr>
              <a:t>References</a:t>
            </a:r>
            <a:endParaRPr lang="en-US" sz="1800" dirty="0"/>
          </a:p>
        </p:txBody>
      </p:sp>
      <p:sp>
        <p:nvSpPr>
          <p:cNvPr id="26" name="Item 2 text"/>
          <p:cNvSpPr txBox="1"/>
          <p:nvPr/>
        </p:nvSpPr>
        <p:spPr>
          <a:xfrm>
            <a:off x="6995160" y="4206240"/>
            <a:ext cx="4572000" cy="731520"/>
          </a:xfrm>
          <a:prstGeom prst="rect">
            <a:avLst/>
          </a:prstGeom>
          <a:noFill/>
          <a:ln/>
        </p:spPr>
        <p:txBody>
          <a:bodyPr wrap="square" lIns="0" tIns="0" rIns="0" bIns="0" rtlCol="0" anchor="t"/>
          <a:lstStyle/>
          <a:p>
            <a:pPr indent="0" marL="0">
              <a:buNone/>
            </a:pPr>
            <a:r>
              <a:rPr lang="en-US" sz="1400" dirty="0">
                <a:solidFill>
                  <a:schemeClr val="tx1"/>
                </a:solidFill>
              </a:rPr>
              <a:t>Each Sanity reference becomes an ObjectId link or an embedded subdocument.</a:t>
            </a:r>
            <a:endParaRPr lang="en-US" sz="1400" dirty="0"/>
          </a:p>
        </p:txBody>
      </p:sp>
      <p:sp>
        <p:nvSpPr>
          <p:cNvPr id="27" name="Item 3 circle"/>
          <p:cNvSpPr/>
          <p:nvPr/>
        </p:nvSpPr>
        <p:spPr>
          <a:xfrm>
            <a:off x="548640" y="5074920"/>
            <a:ext cx="594360" cy="594360"/>
          </a:xfrm>
          <a:prstGeom prst="ellipse">
            <a:avLst/>
          </a:prstGeom>
          <a:solidFill>
            <a:schemeClr val="accent1"/>
          </a:solidFill>
          <a:ln/>
        </p:spPr>
      </p:sp>
      <p:pic>
        <p:nvPicPr>
          <p:cNvPr id="28" name="Item 3 icon" descr="Item 3">    </p:cNvPr>
          <p:cNvPicPr>
            <a:picLocks noChangeAspect="1"/>
          </p:cNvPicPr>
          <p:nvPr/>
        </p:nvPicPr>
        <p:blipFill>
          <a:blip r:embed="rId3"/>
          <a:stretch>
            <a:fillRect/>
          </a:stretch>
        </p:blipFill>
        <p:spPr>
          <a:xfrm>
            <a:off x="697230" y="5223510"/>
            <a:ext cx="297180" cy="297180"/>
          </a:xfrm>
          <a:prstGeom prst="rect">
            <a:avLst/>
          </a:prstGeom>
        </p:spPr>
      </p:pic>
      <p:sp>
        <p:nvSpPr>
          <p:cNvPr id="29" name="Item 3 heading"/>
          <p:cNvSpPr txBox="1"/>
          <p:nvPr/>
        </p:nvSpPr>
        <p:spPr>
          <a:xfrm>
            <a:off x="1325880" y="5074920"/>
            <a:ext cx="4572000" cy="320040"/>
          </a:xfrm>
          <a:prstGeom prst="rect">
            <a:avLst/>
          </a:prstGeom>
          <a:noFill/>
          <a:ln/>
        </p:spPr>
        <p:txBody>
          <a:bodyPr wrap="square" lIns="0" tIns="0" rIns="0" bIns="0" rtlCol="0" anchor="t"/>
          <a:lstStyle/>
          <a:p>
            <a:pPr indent="0" marL="0">
              <a:buNone/>
            </a:pPr>
            <a:r>
              <a:rPr lang="en-US" sz="1800" b="1" dirty="0">
                <a:solidFill>
                  <a:schemeClr val="tx1"/>
                </a:solidFill>
              </a:rPr>
              <a:t>File storage</a:t>
            </a:r>
            <a:endParaRPr lang="en-US" sz="1800" dirty="0"/>
          </a:p>
        </p:txBody>
      </p:sp>
      <p:sp>
        <p:nvSpPr>
          <p:cNvPr id="30" name="Item 3 text"/>
          <p:cNvSpPr txBox="1"/>
          <p:nvPr/>
        </p:nvSpPr>
        <p:spPr>
          <a:xfrm>
            <a:off x="1325880" y="5440680"/>
            <a:ext cx="4572000" cy="731520"/>
          </a:xfrm>
          <a:prstGeom prst="rect">
            <a:avLst/>
          </a:prstGeom>
          <a:noFill/>
          <a:ln/>
        </p:spPr>
        <p:txBody>
          <a:bodyPr wrap="square" lIns="0" tIns="0" rIns="0" bIns="0" rtlCol="0" anchor="t"/>
          <a:lstStyle/>
          <a:p>
            <a:pPr indent="0" marL="0">
              <a:buNone/>
            </a:pPr>
            <a:r>
              <a:rPr lang="en-US" sz="1400" dirty="0">
                <a:solidFill>
                  <a:schemeClr val="tx1"/>
                </a:solidFill>
              </a:rPr>
              <a:t>A replacement provider (S3, Cloudinary or UploadThing) takes over from Sanity's CDN.</a:t>
            </a:r>
            <a:endParaRPr lang="en-US" sz="1400" dirty="0"/>
          </a:p>
        </p:txBody>
      </p:sp>
      <p:sp>
        <p:nvSpPr>
          <p:cNvPr id="31" name="Item 4 circle"/>
          <p:cNvSpPr/>
          <p:nvPr/>
        </p:nvSpPr>
        <p:spPr>
          <a:xfrm>
            <a:off x="6217920" y="5074920"/>
            <a:ext cx="594360" cy="594360"/>
          </a:xfrm>
          <a:prstGeom prst="ellipse">
            <a:avLst/>
          </a:prstGeom>
          <a:solidFill>
            <a:schemeClr val="accent1"/>
          </a:solidFill>
          <a:ln/>
        </p:spPr>
      </p:sp>
      <p:pic>
        <p:nvPicPr>
          <p:cNvPr id="32" name="Item 4 icon" descr="Item 4">    </p:cNvPr>
          <p:cNvPicPr>
            <a:picLocks noChangeAspect="1"/>
          </p:cNvPicPr>
          <p:nvPr/>
        </p:nvPicPr>
        <p:blipFill>
          <a:blip r:embed="rId4"/>
          <a:stretch>
            <a:fillRect/>
          </a:stretch>
        </p:blipFill>
        <p:spPr>
          <a:xfrm>
            <a:off x="6366510" y="5223510"/>
            <a:ext cx="297180" cy="297180"/>
          </a:xfrm>
          <a:prstGeom prst="rect">
            <a:avLst/>
          </a:prstGeom>
        </p:spPr>
      </p:pic>
      <p:sp>
        <p:nvSpPr>
          <p:cNvPr id="33" name="Item 4 heading"/>
          <p:cNvSpPr txBox="1"/>
          <p:nvPr/>
        </p:nvSpPr>
        <p:spPr>
          <a:xfrm>
            <a:off x="6995160" y="5074920"/>
            <a:ext cx="4572000" cy="320040"/>
          </a:xfrm>
          <a:prstGeom prst="rect">
            <a:avLst/>
          </a:prstGeom>
          <a:noFill/>
          <a:ln/>
        </p:spPr>
        <p:txBody>
          <a:bodyPr wrap="square" lIns="0" tIns="0" rIns="0" bIns="0" rtlCol="0" anchor="t"/>
          <a:lstStyle/>
          <a:p>
            <a:pPr indent="0" marL="0">
              <a:buNone/>
            </a:pPr>
            <a:r>
              <a:rPr lang="en-US" sz="1800" b="1" dirty="0">
                <a:solidFill>
                  <a:schemeClr val="tx1"/>
                </a:solidFill>
              </a:rPr>
              <a:t>Admin screen</a:t>
            </a:r>
            <a:endParaRPr lang="en-US" sz="1800" dirty="0"/>
          </a:p>
        </p:txBody>
      </p:sp>
      <p:sp>
        <p:nvSpPr>
          <p:cNvPr id="34" name="Item 4 text"/>
          <p:cNvSpPr txBox="1"/>
          <p:nvPr/>
        </p:nvSpPr>
        <p:spPr>
          <a:xfrm>
            <a:off x="6995160" y="5440680"/>
            <a:ext cx="4572000" cy="731520"/>
          </a:xfrm>
          <a:prstGeom prst="rect">
            <a:avLst/>
          </a:prstGeom>
          <a:noFill/>
          <a:ln/>
        </p:spPr>
        <p:txBody>
          <a:bodyPr wrap="square" lIns="0" tIns="0" rIns="0" bIns="0" rtlCol="0" anchor="t"/>
          <a:lstStyle/>
          <a:p>
            <a:pPr indent="0" marL="0">
              <a:buNone/>
            </a:pPr>
            <a:r>
              <a:rPr lang="en-US" sz="1400" dirty="0">
                <a:solidFill>
                  <a:schemeClr val="tx1"/>
                </a:solidFill>
              </a:rPr>
              <a:t>A minimal internal screen replaces Studio for one-off data corrections.</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rPr>
              <a:t>Four phases, one switch at the end</a:t>
            </a:r>
            <a:endParaRPr lang="en-US" sz="3600" dirty="0"/>
          </a:p>
        </p:txBody>
      </p:sp>
      <p:sp>
        <p:nvSpPr>
          <p:cNvPr id="3" name="Lede"/>
          <p:cNvSpPr txBox="1"/>
          <p:nvPr/>
        </p:nvSpPr>
        <p:spPr>
          <a:xfrm>
            <a:off x="548640" y="1188720"/>
            <a:ext cx="11091672" cy="594360"/>
          </a:xfrm>
          <a:prstGeom prst="rect">
            <a:avLst/>
          </a:prstGeom>
          <a:noFill/>
          <a:ln/>
        </p:spPr>
        <p:txBody>
          <a:bodyPr wrap="square" lIns="0" tIns="0" rIns="0" bIns="0" rtlCol="0" anchor="t"/>
          <a:lstStyle/>
          <a:p>
            <a:pPr indent="0" marL="0">
              <a:buNone/>
            </a:pPr>
            <a:r>
              <a:rPr lang="en-US" sz="1600" dirty="0">
                <a:solidFill>
                  <a:schemeClr val="tx1"/>
                </a:solidFill>
              </a:rPr>
              <a:t>CaterFlow keeps running on Sanity until each phase is verified, which avoids one high-risk cutover.</a:t>
            </a:r>
            <a:endParaRPr lang="en-US" sz="1600" dirty="0"/>
          </a:p>
        </p:txBody>
      </p:sp>
      <p:sp>
        <p:nvSpPr>
          <p:cNvPr id="4" name="Phase 1"/>
          <p:cNvSpPr/>
          <p:nvPr/>
        </p:nvSpPr>
        <p:spPr>
          <a:xfrm>
            <a:off x="548640" y="1965960"/>
            <a:ext cx="2606040" cy="3246120"/>
          </a:xfrm>
          <a:prstGeom prst="roundRect">
            <a:avLst>
              <a:gd name="adj" fmla="val 3509"/>
            </a:avLst>
          </a:prstGeom>
          <a:solidFill>
            <a:schemeClr val="bg2"/>
          </a:solidFill>
          <a:ln/>
        </p:spPr>
      </p:sp>
      <p:sp>
        <p:nvSpPr>
          <p:cNvPr id="5" name="Phase 1 number circle"/>
          <p:cNvSpPr/>
          <p:nvPr/>
        </p:nvSpPr>
        <p:spPr>
          <a:xfrm>
            <a:off x="777240" y="2194560"/>
            <a:ext cx="457200" cy="457200"/>
          </a:xfrm>
          <a:prstGeom prst="ellipse">
            <a:avLst/>
          </a:prstGeom>
          <a:solidFill>
            <a:srgbClr val="6B7F78"/>
          </a:solidFill>
          <a:ln/>
        </p:spPr>
      </p:sp>
      <p:pic>
        <p:nvPicPr>
          <p:cNvPr id="6" name="Phase 1 number icon" descr="Phase 1 number">    </p:cNvPr>
          <p:cNvPicPr>
            <a:picLocks noChangeAspect="1"/>
          </p:cNvPicPr>
          <p:nvPr/>
        </p:nvPicPr>
        <p:blipFill>
          <a:blip r:embed="rId1"/>
          <a:stretch>
            <a:fillRect/>
          </a:stretch>
        </p:blipFill>
        <p:spPr>
          <a:xfrm>
            <a:off x="891540" y="2308860"/>
            <a:ext cx="228600" cy="228600"/>
          </a:xfrm>
          <a:prstGeom prst="rect">
            <a:avLst/>
          </a:prstGeom>
        </p:spPr>
      </p:pic>
      <p:sp>
        <p:nvSpPr>
          <p:cNvPr id="7" name="Phase 1 tag"/>
          <p:cNvSpPr txBox="1"/>
          <p:nvPr/>
        </p:nvSpPr>
        <p:spPr>
          <a:xfrm>
            <a:off x="1371600" y="2194560"/>
            <a:ext cx="1600200" cy="228600"/>
          </a:xfrm>
          <a:prstGeom prst="rect">
            <a:avLst/>
          </a:prstGeom>
          <a:noFill/>
          <a:ln/>
        </p:spPr>
        <p:txBody>
          <a:bodyPr wrap="square" lIns="0" tIns="0" rIns="0" bIns="0" rtlCol="0" anchor="t"/>
          <a:lstStyle/>
          <a:p>
            <a:pPr indent="0" marL="0">
              <a:buNone/>
            </a:pPr>
            <a:r>
              <a:rPr lang="en-US" sz="1200" dirty="0">
                <a:solidFill>
                  <a:schemeClr val="accent5"/>
                </a:solidFill>
              </a:rPr>
              <a:t>Phase 1</a:t>
            </a:r>
            <a:endParaRPr lang="en-US" sz="1200" dirty="0"/>
          </a:p>
        </p:txBody>
      </p:sp>
      <p:sp>
        <p:nvSpPr>
          <p:cNvPr id="8" name="Phase 1 name"/>
          <p:cNvSpPr txBox="1"/>
          <p:nvPr/>
        </p:nvSpPr>
        <p:spPr>
          <a:xfrm>
            <a:off x="1371600" y="2423160"/>
            <a:ext cx="1600200" cy="320040"/>
          </a:xfrm>
          <a:prstGeom prst="rect">
            <a:avLst/>
          </a:prstGeom>
          <a:noFill/>
          <a:ln/>
        </p:spPr>
        <p:txBody>
          <a:bodyPr wrap="square" lIns="0" tIns="0" rIns="0" bIns="0" rtlCol="0" anchor="t"/>
          <a:lstStyle/>
          <a:p>
            <a:pPr indent="0" marL="0">
              <a:buNone/>
            </a:pPr>
            <a:r>
              <a:rPr lang="en-US" sz="1600" b="1" dirty="0">
                <a:solidFill>
                  <a:schemeClr val="tx1"/>
                </a:solidFill>
              </a:rPr>
              <a:t>Foundation</a:t>
            </a:r>
            <a:endParaRPr lang="en-US" sz="1600" dirty="0"/>
          </a:p>
        </p:txBody>
      </p:sp>
      <p:sp>
        <p:nvSpPr>
          <p:cNvPr id="9" name="Phase 1 work"/>
          <p:cNvSpPr txBox="1"/>
          <p:nvPr/>
        </p:nvSpPr>
        <p:spPr>
          <a:xfrm>
            <a:off x="777240" y="2971800"/>
            <a:ext cx="2148840" cy="11887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Collection design</a:t>
            </a:r>
            <a:endParaRPr lang="en-US" sz="1400" dirty="0"/>
          </a:p>
          <a:p>
            <a:pPr marL="342900" indent="-342900">
              <a:spcAft>
                <a:spcPts val="400"/>
              </a:spcAft>
              <a:buSzPct val="100000"/>
              <a:buChar char="•"/>
            </a:pPr>
            <a:r>
              <a:rPr lang="en-US" sz="1400" dirty="0">
                <a:solidFill>
                  <a:schemeClr val="tx1"/>
                </a:solidFill>
              </a:rPr>
              <a:t>Auth rewrite</a:t>
            </a:r>
            <a:endParaRPr lang="en-US" sz="1400" dirty="0"/>
          </a:p>
          <a:p>
            <a:pPr marL="342900" indent="-342900">
              <a:spcAft>
                <a:spcPts val="400"/>
              </a:spcAft>
              <a:buSzPct val="100000"/>
              <a:buChar char="•"/>
            </a:pPr>
            <a:r>
              <a:rPr lang="en-US" sz="1400" dirty="0">
                <a:solidFill>
                  <a:schemeClr val="tx1"/>
                </a:solidFill>
              </a:rPr>
              <a:t>Migration scripts on staging</a:t>
            </a:r>
            <a:endParaRPr lang="en-US" sz="1400" dirty="0"/>
          </a:p>
        </p:txBody>
      </p:sp>
      <p:sp>
        <p:nvSpPr>
          <p:cNvPr id="10" name="Phase 1 gate"/>
          <p:cNvSpPr txBox="1"/>
          <p:nvPr/>
        </p:nvSpPr>
        <p:spPr>
          <a:xfrm>
            <a:off x="777240" y="4343400"/>
            <a:ext cx="2148840" cy="822960"/>
          </a:xfrm>
          <a:prstGeom prst="rect">
            <a:avLst/>
          </a:prstGeom>
          <a:noFill/>
          <a:ln/>
        </p:spPr>
        <p:txBody>
          <a:bodyPr wrap="square" lIns="0" tIns="0" rIns="0" bIns="0" rtlCol="0" anchor="t"/>
          <a:lstStyle/>
          <a:p>
            <a:pPr indent="0" marL="0">
              <a:buNone/>
            </a:pPr>
            <a:r>
              <a:rPr lang="en-US" sz="1300" b="1" dirty="0">
                <a:solidFill>
                  <a:schemeClr val="tx1"/>
                </a:solidFill>
              </a:rPr>
              <a:t>Done when: </a:t>
            </a:r>
            <a:pPr indent="0" marL="0">
              <a:buNone/>
            </a:pPr>
            <a:r>
              <a:rPr lang="en-US" sz="1300" dirty="0">
                <a:solidFill>
                  <a:schemeClr val="tx1"/>
                </a:solidFill>
              </a:rPr>
              <a:t>Counts and references match the export</a:t>
            </a:r>
            <a:endParaRPr lang="en-US" sz="1300" dirty="0"/>
          </a:p>
        </p:txBody>
      </p:sp>
      <p:sp>
        <p:nvSpPr>
          <p:cNvPr id="11" name="Phase 1 payment pill"/>
          <p:cNvSpPr/>
          <p:nvPr/>
        </p:nvSpPr>
        <p:spPr>
          <a:xfrm>
            <a:off x="548640" y="5394960"/>
            <a:ext cx="2606040" cy="502920"/>
          </a:xfrm>
          <a:prstGeom prst="roundRect">
            <a:avLst>
              <a:gd name="adj" fmla="val 18182"/>
            </a:avLst>
          </a:prstGeom>
          <a:solidFill>
            <a:schemeClr val="accent1"/>
          </a:solidFill>
          <a:ln/>
        </p:spPr>
      </p:sp>
      <p:sp>
        <p:nvSpPr>
          <p:cNvPr id="12" name="Phase 1 payment"/>
          <p:cNvSpPr txBox="1"/>
          <p:nvPr/>
        </p:nvSpPr>
        <p:spPr>
          <a:xfrm>
            <a:off x="640080" y="5394960"/>
            <a:ext cx="2423160" cy="502920"/>
          </a:xfrm>
          <a:prstGeom prst="rect">
            <a:avLst/>
          </a:prstGeom>
          <a:noFill/>
          <a:ln/>
        </p:spPr>
        <p:txBody>
          <a:bodyPr wrap="square" lIns="0" tIns="0" rIns="0" bIns="0" rtlCol="0" anchor="ctr"/>
          <a:lstStyle/>
          <a:p>
            <a:pPr algn="ctr" indent="0" marL="0">
              <a:buNone/>
            </a:pPr>
            <a:r>
              <a:rPr lang="en-US" sz="1300" b="1" dirty="0">
                <a:solidFill>
                  <a:schemeClr val="bg1"/>
                </a:solidFill>
              </a:rPr>
              <a:t>Deposit SZL 10,000 before start</a:t>
            </a:r>
            <a:endParaRPr lang="en-US" sz="1300" dirty="0"/>
          </a:p>
        </p:txBody>
      </p:sp>
      <p:sp>
        <p:nvSpPr>
          <p:cNvPr id="13" name="Phase 2"/>
          <p:cNvSpPr/>
          <p:nvPr/>
        </p:nvSpPr>
        <p:spPr>
          <a:xfrm>
            <a:off x="3376879" y="1965960"/>
            <a:ext cx="2606040" cy="3246120"/>
          </a:xfrm>
          <a:prstGeom prst="roundRect">
            <a:avLst>
              <a:gd name="adj" fmla="val 3509"/>
            </a:avLst>
          </a:prstGeom>
          <a:solidFill>
            <a:schemeClr val="bg2"/>
          </a:solidFill>
          <a:ln/>
        </p:spPr>
      </p:sp>
      <p:sp>
        <p:nvSpPr>
          <p:cNvPr id="14" name="Phase 2 number circle"/>
          <p:cNvSpPr/>
          <p:nvPr/>
        </p:nvSpPr>
        <p:spPr>
          <a:xfrm>
            <a:off x="3605479" y="2194560"/>
            <a:ext cx="457200" cy="457200"/>
          </a:xfrm>
          <a:prstGeom prst="ellipse">
            <a:avLst/>
          </a:prstGeom>
          <a:solidFill>
            <a:srgbClr val="6B7F78"/>
          </a:solidFill>
          <a:ln/>
        </p:spPr>
      </p:sp>
      <p:pic>
        <p:nvPicPr>
          <p:cNvPr id="15" name="Phase 2 number icon" descr="Phase 2 number">    </p:cNvPr>
          <p:cNvPicPr>
            <a:picLocks noChangeAspect="1"/>
          </p:cNvPicPr>
          <p:nvPr/>
        </p:nvPicPr>
        <p:blipFill>
          <a:blip r:embed="rId2"/>
          <a:stretch>
            <a:fillRect/>
          </a:stretch>
        </p:blipFill>
        <p:spPr>
          <a:xfrm>
            <a:off x="3719779" y="2308860"/>
            <a:ext cx="228600" cy="228600"/>
          </a:xfrm>
          <a:prstGeom prst="rect">
            <a:avLst/>
          </a:prstGeom>
        </p:spPr>
      </p:pic>
      <p:sp>
        <p:nvSpPr>
          <p:cNvPr id="16" name="Phase 2 tag"/>
          <p:cNvSpPr txBox="1"/>
          <p:nvPr/>
        </p:nvSpPr>
        <p:spPr>
          <a:xfrm>
            <a:off x="4199839" y="2194560"/>
            <a:ext cx="1600200" cy="228600"/>
          </a:xfrm>
          <a:prstGeom prst="rect">
            <a:avLst/>
          </a:prstGeom>
          <a:noFill/>
          <a:ln/>
        </p:spPr>
        <p:txBody>
          <a:bodyPr wrap="square" lIns="0" tIns="0" rIns="0" bIns="0" rtlCol="0" anchor="t"/>
          <a:lstStyle/>
          <a:p>
            <a:pPr indent="0" marL="0">
              <a:buNone/>
            </a:pPr>
            <a:r>
              <a:rPr lang="en-US" sz="1200" dirty="0">
                <a:solidFill>
                  <a:schemeClr val="accent5"/>
                </a:solidFill>
              </a:rPr>
              <a:t>Phase 2</a:t>
            </a:r>
            <a:endParaRPr lang="en-US" sz="1200" dirty="0"/>
          </a:p>
        </p:txBody>
      </p:sp>
      <p:sp>
        <p:nvSpPr>
          <p:cNvPr id="17" name="Phase 2 name"/>
          <p:cNvSpPr txBox="1"/>
          <p:nvPr/>
        </p:nvSpPr>
        <p:spPr>
          <a:xfrm>
            <a:off x="4199839" y="2423160"/>
            <a:ext cx="1600200" cy="320040"/>
          </a:xfrm>
          <a:prstGeom prst="rect">
            <a:avLst/>
          </a:prstGeom>
          <a:noFill/>
          <a:ln/>
        </p:spPr>
        <p:txBody>
          <a:bodyPr wrap="square" lIns="0" tIns="0" rIns="0" bIns="0" rtlCol="0" anchor="t"/>
          <a:lstStyle/>
          <a:p>
            <a:pPr indent="0" marL="0">
              <a:buNone/>
            </a:pPr>
            <a:r>
              <a:rPr lang="en-US" sz="1600" b="1" dirty="0">
                <a:solidFill>
                  <a:schemeClr val="tx1"/>
                </a:solidFill>
              </a:rPr>
              <a:t>Core operations</a:t>
            </a:r>
            <a:endParaRPr lang="en-US" sz="1600" dirty="0"/>
          </a:p>
        </p:txBody>
      </p:sp>
      <p:sp>
        <p:nvSpPr>
          <p:cNvPr id="18" name="Phase 2 work"/>
          <p:cNvSpPr txBox="1"/>
          <p:nvPr/>
        </p:nvSpPr>
        <p:spPr>
          <a:xfrm>
            <a:off x="3605479" y="2971800"/>
            <a:ext cx="2148840" cy="11887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Stock, procurement</a:t>
            </a:r>
            <a:endParaRPr lang="en-US" sz="1400" dirty="0"/>
          </a:p>
          <a:p>
            <a:pPr marL="342900" indent="-342900">
              <a:spcAft>
                <a:spcPts val="400"/>
              </a:spcAft>
              <a:buSzPct val="100000"/>
              <a:buChar char="•"/>
            </a:pPr>
            <a:r>
              <a:rPr lang="en-US" sz="1400" dirty="0">
                <a:solidFill>
                  <a:schemeClr val="tx1"/>
                </a:solidFill>
              </a:rPr>
              <a:t>Purchase orders</a:t>
            </a:r>
            <a:endParaRPr lang="en-US" sz="1400" dirty="0"/>
          </a:p>
          <a:p>
            <a:pPr marL="342900" indent="-342900">
              <a:spcAft>
                <a:spcPts val="400"/>
              </a:spcAft>
              <a:buSzPct val="100000"/>
              <a:buChar char="•"/>
            </a:pPr>
            <a:r>
              <a:rPr lang="en-US" sz="1400" dirty="0">
                <a:solidFill>
                  <a:schemeClr val="tx1"/>
                </a:solidFill>
              </a:rPr>
              <a:t>Goods receipt</a:t>
            </a:r>
            <a:endParaRPr lang="en-US" sz="1400" dirty="0"/>
          </a:p>
        </p:txBody>
      </p:sp>
      <p:sp>
        <p:nvSpPr>
          <p:cNvPr id="19" name="Phase 2 gate"/>
          <p:cNvSpPr txBox="1"/>
          <p:nvPr/>
        </p:nvSpPr>
        <p:spPr>
          <a:xfrm>
            <a:off x="3605479" y="4343400"/>
            <a:ext cx="2148840" cy="822960"/>
          </a:xfrm>
          <a:prstGeom prst="rect">
            <a:avLst/>
          </a:prstGeom>
          <a:noFill/>
          <a:ln/>
        </p:spPr>
        <p:txBody>
          <a:bodyPr wrap="square" lIns="0" tIns="0" rIns="0" bIns="0" rtlCol="0" anchor="t"/>
          <a:lstStyle/>
          <a:p>
            <a:pPr indent="0" marL="0">
              <a:buNone/>
            </a:pPr>
            <a:r>
              <a:rPr lang="en-US" sz="1300" b="1" dirty="0">
                <a:solidFill>
                  <a:schemeClr val="tx1"/>
                </a:solidFill>
              </a:rPr>
              <a:t>Done when: </a:t>
            </a:r>
            <a:pPr indent="0" marL="0">
              <a:buNone/>
            </a:pPr>
            <a:r>
              <a:rPr lang="en-US" sz="1300" dirty="0">
                <a:solidFill>
                  <a:schemeClr val="tx1"/>
                </a:solidFill>
              </a:rPr>
              <a:t>Each route passes a UI smoke test</a:t>
            </a:r>
            <a:endParaRPr lang="en-US" sz="1300" dirty="0"/>
          </a:p>
        </p:txBody>
      </p:sp>
      <p:sp>
        <p:nvSpPr>
          <p:cNvPr id="20" name="Phase 2 payment pill"/>
          <p:cNvSpPr/>
          <p:nvPr/>
        </p:nvSpPr>
        <p:spPr>
          <a:xfrm>
            <a:off x="3376879" y="5394960"/>
            <a:ext cx="2606040" cy="502920"/>
          </a:xfrm>
          <a:prstGeom prst="roundRect">
            <a:avLst>
              <a:gd name="adj" fmla="val 18182"/>
            </a:avLst>
          </a:prstGeom>
          <a:solidFill>
            <a:schemeClr val="accent1"/>
          </a:solidFill>
          <a:ln/>
        </p:spPr>
      </p:sp>
      <p:sp>
        <p:nvSpPr>
          <p:cNvPr id="21" name="Phase 2 payment"/>
          <p:cNvSpPr txBox="1"/>
          <p:nvPr/>
        </p:nvSpPr>
        <p:spPr>
          <a:xfrm>
            <a:off x="3468319" y="5394960"/>
            <a:ext cx="2423160" cy="502920"/>
          </a:xfrm>
          <a:prstGeom prst="rect">
            <a:avLst/>
          </a:prstGeom>
          <a:noFill/>
          <a:ln/>
        </p:spPr>
        <p:txBody>
          <a:bodyPr wrap="square" lIns="0" tIns="0" rIns="0" bIns="0" rtlCol="0" anchor="ctr"/>
          <a:lstStyle/>
          <a:p>
            <a:pPr algn="ctr" indent="0" marL="0">
              <a:buNone/>
            </a:pPr>
            <a:r>
              <a:rPr lang="en-US" sz="1300" b="1" dirty="0">
                <a:solidFill>
                  <a:schemeClr val="bg1"/>
                </a:solidFill>
              </a:rPr>
              <a:t>SZL 5,000 on completion</a:t>
            </a:r>
            <a:endParaRPr lang="en-US" sz="1300" dirty="0"/>
          </a:p>
        </p:txBody>
      </p:sp>
      <p:sp>
        <p:nvSpPr>
          <p:cNvPr id="22" name="Phase 3"/>
          <p:cNvSpPr/>
          <p:nvPr/>
        </p:nvSpPr>
        <p:spPr>
          <a:xfrm>
            <a:off x="6205118" y="1965960"/>
            <a:ext cx="2606040" cy="3246120"/>
          </a:xfrm>
          <a:prstGeom prst="roundRect">
            <a:avLst>
              <a:gd name="adj" fmla="val 3509"/>
            </a:avLst>
          </a:prstGeom>
          <a:solidFill>
            <a:schemeClr val="bg2"/>
          </a:solidFill>
          <a:ln/>
        </p:spPr>
      </p:sp>
      <p:sp>
        <p:nvSpPr>
          <p:cNvPr id="23" name="Phase 3 number circle"/>
          <p:cNvSpPr/>
          <p:nvPr/>
        </p:nvSpPr>
        <p:spPr>
          <a:xfrm>
            <a:off x="6433718" y="2194560"/>
            <a:ext cx="457200" cy="457200"/>
          </a:xfrm>
          <a:prstGeom prst="ellipse">
            <a:avLst/>
          </a:prstGeom>
          <a:solidFill>
            <a:srgbClr val="6B7F78"/>
          </a:solidFill>
          <a:ln/>
        </p:spPr>
      </p:sp>
      <p:pic>
        <p:nvPicPr>
          <p:cNvPr id="24" name="Phase 3 number icon" descr="Phase 3 number">    </p:cNvPr>
          <p:cNvPicPr>
            <a:picLocks noChangeAspect="1"/>
          </p:cNvPicPr>
          <p:nvPr/>
        </p:nvPicPr>
        <p:blipFill>
          <a:blip r:embed="rId3"/>
          <a:stretch>
            <a:fillRect/>
          </a:stretch>
        </p:blipFill>
        <p:spPr>
          <a:xfrm>
            <a:off x="6548018" y="2308860"/>
            <a:ext cx="228600" cy="228600"/>
          </a:xfrm>
          <a:prstGeom prst="rect">
            <a:avLst/>
          </a:prstGeom>
        </p:spPr>
      </p:pic>
      <p:sp>
        <p:nvSpPr>
          <p:cNvPr id="25" name="Phase 3 tag"/>
          <p:cNvSpPr txBox="1"/>
          <p:nvPr/>
        </p:nvSpPr>
        <p:spPr>
          <a:xfrm>
            <a:off x="7028078" y="2194560"/>
            <a:ext cx="1600200" cy="228600"/>
          </a:xfrm>
          <a:prstGeom prst="rect">
            <a:avLst/>
          </a:prstGeom>
          <a:noFill/>
          <a:ln/>
        </p:spPr>
        <p:txBody>
          <a:bodyPr wrap="square" lIns="0" tIns="0" rIns="0" bIns="0" rtlCol="0" anchor="t"/>
          <a:lstStyle/>
          <a:p>
            <a:pPr indent="0" marL="0">
              <a:buNone/>
            </a:pPr>
            <a:r>
              <a:rPr lang="en-US" sz="1200" dirty="0">
                <a:solidFill>
                  <a:schemeClr val="accent5"/>
                </a:solidFill>
              </a:rPr>
              <a:t>Phase 3</a:t>
            </a:r>
            <a:endParaRPr lang="en-US" sz="1200" dirty="0"/>
          </a:p>
        </p:txBody>
      </p:sp>
      <p:sp>
        <p:nvSpPr>
          <p:cNvPr id="26" name="Phase 3 name"/>
          <p:cNvSpPr txBox="1"/>
          <p:nvPr/>
        </p:nvSpPr>
        <p:spPr>
          <a:xfrm>
            <a:off x="7028078" y="2423160"/>
            <a:ext cx="1600200" cy="320040"/>
          </a:xfrm>
          <a:prstGeom prst="rect">
            <a:avLst/>
          </a:prstGeom>
          <a:noFill/>
          <a:ln/>
        </p:spPr>
        <p:txBody>
          <a:bodyPr wrap="square" lIns="0" tIns="0" rIns="0" bIns="0" rtlCol="0" anchor="t"/>
          <a:lstStyle/>
          <a:p>
            <a:pPr indent="0" marL="0">
              <a:buNone/>
            </a:pPr>
            <a:r>
              <a:rPr lang="en-US" sz="1600" b="1" dirty="0">
                <a:solidFill>
                  <a:schemeClr val="tx1"/>
                </a:solidFill>
              </a:rPr>
              <a:t>Remaining routes</a:t>
            </a:r>
            <a:endParaRPr lang="en-US" sz="1600" dirty="0"/>
          </a:p>
        </p:txBody>
      </p:sp>
      <p:sp>
        <p:nvSpPr>
          <p:cNvPr id="27" name="Phase 3 work"/>
          <p:cNvSpPr txBox="1"/>
          <p:nvPr/>
        </p:nvSpPr>
        <p:spPr>
          <a:xfrm>
            <a:off x="6433718" y="2971800"/>
            <a:ext cx="2148840" cy="11887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Dispatch, transfers</a:t>
            </a:r>
            <a:endParaRPr lang="en-US" sz="1400" dirty="0"/>
          </a:p>
          <a:p>
            <a:pPr marL="342900" indent="-342900">
              <a:spcAft>
                <a:spcPts val="400"/>
              </a:spcAft>
              <a:buSzPct val="100000"/>
              <a:buChar char="•"/>
            </a:pPr>
            <a:r>
              <a:rPr lang="en-US" sz="1400" dirty="0">
                <a:solidFill>
                  <a:schemeClr val="tx1"/>
                </a:solidFill>
              </a:rPr>
              <a:t>Adjustments, reports</a:t>
            </a:r>
            <a:endParaRPr lang="en-US" sz="1400" dirty="0"/>
          </a:p>
          <a:p>
            <a:pPr marL="342900" indent="-342900">
              <a:spcAft>
                <a:spcPts val="400"/>
              </a:spcAft>
              <a:buSzPct val="100000"/>
              <a:buChar char="•"/>
            </a:pPr>
            <a:r>
              <a:rPr lang="en-US" sz="1400" dirty="0">
                <a:solidFill>
                  <a:schemeClr val="tx1"/>
                </a:solidFill>
              </a:rPr>
              <a:t>Admin, file storage</a:t>
            </a:r>
            <a:endParaRPr lang="en-US" sz="1400" dirty="0"/>
          </a:p>
        </p:txBody>
      </p:sp>
      <p:sp>
        <p:nvSpPr>
          <p:cNvPr id="28" name="Phase 3 gate"/>
          <p:cNvSpPr txBox="1"/>
          <p:nvPr/>
        </p:nvSpPr>
        <p:spPr>
          <a:xfrm>
            <a:off x="6433718" y="4343400"/>
            <a:ext cx="2148840" cy="822960"/>
          </a:xfrm>
          <a:prstGeom prst="rect">
            <a:avLst/>
          </a:prstGeom>
          <a:noFill/>
          <a:ln/>
        </p:spPr>
        <p:txBody>
          <a:bodyPr wrap="square" lIns="0" tIns="0" rIns="0" bIns="0" rtlCol="0" anchor="t"/>
          <a:lstStyle/>
          <a:p>
            <a:pPr indent="0" marL="0">
              <a:buNone/>
            </a:pPr>
            <a:r>
              <a:rPr lang="en-US" sz="1300" b="1" dirty="0">
                <a:solidFill>
                  <a:schemeClr val="tx1"/>
                </a:solidFill>
              </a:rPr>
              <a:t>Done when: </a:t>
            </a:r>
            <a:pPr indent="0" marL="0">
              <a:buNone/>
            </a:pPr>
            <a:r>
              <a:rPr lang="en-US" sz="1300" dirty="0">
                <a:solidFill>
                  <a:schemeClr val="tx1"/>
                </a:solidFill>
              </a:rPr>
              <a:t>Regression matrix passes</a:t>
            </a:r>
            <a:endParaRPr lang="en-US" sz="1300" dirty="0"/>
          </a:p>
        </p:txBody>
      </p:sp>
      <p:sp>
        <p:nvSpPr>
          <p:cNvPr id="29" name="Phase 3 payment pill"/>
          <p:cNvSpPr/>
          <p:nvPr/>
        </p:nvSpPr>
        <p:spPr>
          <a:xfrm>
            <a:off x="6205118" y="5394960"/>
            <a:ext cx="2606040" cy="502920"/>
          </a:xfrm>
          <a:prstGeom prst="roundRect">
            <a:avLst>
              <a:gd name="adj" fmla="val 18182"/>
            </a:avLst>
          </a:prstGeom>
          <a:solidFill>
            <a:schemeClr val="bg2"/>
          </a:solidFill>
          <a:ln/>
        </p:spPr>
      </p:sp>
      <p:sp>
        <p:nvSpPr>
          <p:cNvPr id="30" name="Phase 3 payment"/>
          <p:cNvSpPr txBox="1"/>
          <p:nvPr/>
        </p:nvSpPr>
        <p:spPr>
          <a:xfrm>
            <a:off x="6296558" y="5394960"/>
            <a:ext cx="2423160" cy="502920"/>
          </a:xfrm>
          <a:prstGeom prst="rect">
            <a:avLst/>
          </a:prstGeom>
          <a:noFill/>
          <a:ln/>
        </p:spPr>
        <p:txBody>
          <a:bodyPr wrap="square" lIns="0" tIns="0" rIns="0" bIns="0" rtlCol="0" anchor="ctr"/>
          <a:lstStyle/>
          <a:p>
            <a:pPr algn="ctr" indent="0" marL="0">
              <a:buNone/>
            </a:pPr>
            <a:r>
              <a:rPr lang="en-US" sz="1300" dirty="0">
                <a:solidFill>
                  <a:schemeClr val="accent5"/>
                </a:solidFill>
              </a:rPr>
              <a:t>No payment due</a:t>
            </a:r>
            <a:endParaRPr lang="en-US" sz="1300" dirty="0"/>
          </a:p>
        </p:txBody>
      </p:sp>
      <p:sp>
        <p:nvSpPr>
          <p:cNvPr id="31" name="Phase 4"/>
          <p:cNvSpPr/>
          <p:nvPr/>
        </p:nvSpPr>
        <p:spPr>
          <a:xfrm>
            <a:off x="9033358" y="1965960"/>
            <a:ext cx="2606040" cy="3246120"/>
          </a:xfrm>
          <a:prstGeom prst="roundRect">
            <a:avLst>
              <a:gd name="adj" fmla="val 3509"/>
            </a:avLst>
          </a:prstGeom>
          <a:solidFill>
            <a:schemeClr val="bg2"/>
          </a:solidFill>
          <a:ln/>
        </p:spPr>
      </p:sp>
      <p:sp>
        <p:nvSpPr>
          <p:cNvPr id="32" name="Phase 4 number circle"/>
          <p:cNvSpPr/>
          <p:nvPr/>
        </p:nvSpPr>
        <p:spPr>
          <a:xfrm>
            <a:off x="9261958" y="2194560"/>
            <a:ext cx="457200" cy="457200"/>
          </a:xfrm>
          <a:prstGeom prst="ellipse">
            <a:avLst/>
          </a:prstGeom>
          <a:solidFill>
            <a:srgbClr val="1F8A5B"/>
          </a:solidFill>
          <a:ln/>
        </p:spPr>
      </p:sp>
      <p:pic>
        <p:nvPicPr>
          <p:cNvPr id="33" name="Phase 4 number icon" descr="Phase 4 number">    </p:cNvPr>
          <p:cNvPicPr>
            <a:picLocks noChangeAspect="1"/>
          </p:cNvPicPr>
          <p:nvPr/>
        </p:nvPicPr>
        <p:blipFill>
          <a:blip r:embed="rId4"/>
          <a:stretch>
            <a:fillRect/>
          </a:stretch>
        </p:blipFill>
        <p:spPr>
          <a:xfrm>
            <a:off x="9376258" y="2308860"/>
            <a:ext cx="228600" cy="228600"/>
          </a:xfrm>
          <a:prstGeom prst="rect">
            <a:avLst/>
          </a:prstGeom>
        </p:spPr>
      </p:pic>
      <p:sp>
        <p:nvSpPr>
          <p:cNvPr id="34" name="Phase 4 tag"/>
          <p:cNvSpPr txBox="1"/>
          <p:nvPr/>
        </p:nvSpPr>
        <p:spPr>
          <a:xfrm>
            <a:off x="9856318" y="2194560"/>
            <a:ext cx="1600200" cy="228600"/>
          </a:xfrm>
          <a:prstGeom prst="rect">
            <a:avLst/>
          </a:prstGeom>
          <a:noFill/>
          <a:ln/>
        </p:spPr>
        <p:txBody>
          <a:bodyPr wrap="square" lIns="0" tIns="0" rIns="0" bIns="0" rtlCol="0" anchor="t"/>
          <a:lstStyle/>
          <a:p>
            <a:pPr indent="0" marL="0">
              <a:buNone/>
            </a:pPr>
            <a:r>
              <a:rPr lang="en-US" sz="1200" dirty="0">
                <a:solidFill>
                  <a:schemeClr val="accent5"/>
                </a:solidFill>
              </a:rPr>
              <a:t>Phase 4</a:t>
            </a:r>
            <a:endParaRPr lang="en-US" sz="1200" dirty="0"/>
          </a:p>
        </p:txBody>
      </p:sp>
      <p:sp>
        <p:nvSpPr>
          <p:cNvPr id="35" name="Phase 4 name"/>
          <p:cNvSpPr txBox="1"/>
          <p:nvPr/>
        </p:nvSpPr>
        <p:spPr>
          <a:xfrm>
            <a:off x="9856318" y="2423160"/>
            <a:ext cx="1600200" cy="320040"/>
          </a:xfrm>
          <a:prstGeom prst="rect">
            <a:avLst/>
          </a:prstGeom>
          <a:noFill/>
          <a:ln/>
        </p:spPr>
        <p:txBody>
          <a:bodyPr wrap="square" lIns="0" tIns="0" rIns="0" bIns="0" rtlCol="0" anchor="t"/>
          <a:lstStyle/>
          <a:p>
            <a:pPr indent="0" marL="0">
              <a:buNone/>
            </a:pPr>
            <a:r>
              <a:rPr lang="en-US" sz="1600" b="1" dirty="0">
                <a:solidFill>
                  <a:schemeClr val="tx1"/>
                </a:solidFill>
              </a:rPr>
              <a:t>QA and cutover</a:t>
            </a:r>
            <a:endParaRPr lang="en-US" sz="1600" dirty="0"/>
          </a:p>
        </p:txBody>
      </p:sp>
      <p:sp>
        <p:nvSpPr>
          <p:cNvPr id="36" name="Phase 4 work"/>
          <p:cNvSpPr txBox="1"/>
          <p:nvPr/>
        </p:nvSpPr>
        <p:spPr>
          <a:xfrm>
            <a:off x="9261958" y="2971800"/>
            <a:ext cx="2148840" cy="11887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Full regression</a:t>
            </a:r>
            <a:endParaRPr lang="en-US" sz="1400" dirty="0"/>
          </a:p>
          <a:p>
            <a:pPr marL="342900" indent="-342900">
              <a:spcAft>
                <a:spcPts val="400"/>
              </a:spcAft>
              <a:buSzPct val="100000"/>
              <a:buChar char="•"/>
            </a:pPr>
            <a:r>
              <a:rPr lang="en-US" sz="1400" dirty="0">
                <a:solidFill>
                  <a:schemeClr val="tx1"/>
                </a:solidFill>
              </a:rPr>
              <a:t>Production migration</a:t>
            </a:r>
            <a:endParaRPr lang="en-US" sz="1400" dirty="0"/>
          </a:p>
          <a:p>
            <a:pPr marL="342900" indent="-342900">
              <a:spcAft>
                <a:spcPts val="400"/>
              </a:spcAft>
              <a:buSzPct val="100000"/>
              <a:buChar char="•"/>
            </a:pPr>
            <a:r>
              <a:rPr lang="en-US" sz="1400" dirty="0">
                <a:solidFill>
                  <a:schemeClr val="tx1"/>
                </a:solidFill>
              </a:rPr>
              <a:t>Sanity read-only, then retired</a:t>
            </a:r>
            <a:endParaRPr lang="en-US" sz="1400" dirty="0"/>
          </a:p>
        </p:txBody>
      </p:sp>
      <p:sp>
        <p:nvSpPr>
          <p:cNvPr id="37" name="Phase 4 gate"/>
          <p:cNvSpPr txBox="1"/>
          <p:nvPr/>
        </p:nvSpPr>
        <p:spPr>
          <a:xfrm>
            <a:off x="9261958" y="4343400"/>
            <a:ext cx="2148840" cy="822960"/>
          </a:xfrm>
          <a:prstGeom prst="rect">
            <a:avLst/>
          </a:prstGeom>
          <a:noFill/>
          <a:ln/>
        </p:spPr>
        <p:txBody>
          <a:bodyPr wrap="square" lIns="0" tIns="0" rIns="0" bIns="0" rtlCol="0" anchor="t"/>
          <a:lstStyle/>
          <a:p>
            <a:pPr indent="0" marL="0">
              <a:buNone/>
            </a:pPr>
            <a:r>
              <a:rPr lang="en-US" sz="1300" b="1" dirty="0">
                <a:solidFill>
                  <a:schemeClr val="tx1"/>
                </a:solidFill>
              </a:rPr>
              <a:t>Done when: </a:t>
            </a:r>
            <a:pPr indent="0" marL="0">
              <a:buNone/>
            </a:pPr>
            <a:r>
              <a:rPr lang="en-US" sz="1300" dirty="0">
                <a:solidFill>
                  <a:schemeClr val="tx1"/>
                </a:solidFill>
              </a:rPr>
              <a:t>Production counts verified</a:t>
            </a:r>
            <a:endParaRPr lang="en-US" sz="1300" dirty="0"/>
          </a:p>
        </p:txBody>
      </p:sp>
      <p:sp>
        <p:nvSpPr>
          <p:cNvPr id="38" name="Phase 4 payment pill"/>
          <p:cNvSpPr/>
          <p:nvPr/>
        </p:nvSpPr>
        <p:spPr>
          <a:xfrm>
            <a:off x="9033358" y="5394960"/>
            <a:ext cx="2606040" cy="502920"/>
          </a:xfrm>
          <a:prstGeom prst="roundRect">
            <a:avLst>
              <a:gd name="adj" fmla="val 18182"/>
            </a:avLst>
          </a:prstGeom>
          <a:solidFill>
            <a:schemeClr val="accent1"/>
          </a:solidFill>
          <a:ln/>
        </p:spPr>
      </p:sp>
      <p:sp>
        <p:nvSpPr>
          <p:cNvPr id="39" name="Phase 4 payment"/>
          <p:cNvSpPr txBox="1"/>
          <p:nvPr/>
        </p:nvSpPr>
        <p:spPr>
          <a:xfrm>
            <a:off x="9124798" y="5394960"/>
            <a:ext cx="2423160" cy="502920"/>
          </a:xfrm>
          <a:prstGeom prst="rect">
            <a:avLst/>
          </a:prstGeom>
          <a:noFill/>
          <a:ln/>
        </p:spPr>
        <p:txBody>
          <a:bodyPr wrap="square" lIns="0" tIns="0" rIns="0" bIns="0" rtlCol="0" anchor="ctr"/>
          <a:lstStyle/>
          <a:p>
            <a:pPr algn="ctr" indent="0" marL="0">
              <a:buNone/>
            </a:pPr>
            <a:r>
              <a:rPr lang="en-US" sz="1300" b="1" dirty="0">
                <a:solidFill>
                  <a:schemeClr val="bg1"/>
                </a:solidFill>
              </a:rPr>
              <a:t>SZL 5,000 on go-live</a:t>
            </a:r>
            <a:endParaRPr lang="en-US" sz="13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rPr>
              <a:t>Where the SZL 20,000 goes</a:t>
            </a:r>
            <a:endParaRPr lang="en-US" sz="3600" dirty="0"/>
          </a:p>
        </p:txBody>
      </p:sp>
      <p:sp>
        <p:nvSpPr>
          <p:cNvPr id="3" name="Lede"/>
          <p:cNvSpPr txBox="1"/>
          <p:nvPr/>
        </p:nvSpPr>
        <p:spPr>
          <a:xfrm>
            <a:off x="548640" y="1188720"/>
            <a:ext cx="11091672" cy="594360"/>
          </a:xfrm>
          <a:prstGeom prst="rect">
            <a:avLst/>
          </a:prstGeom>
          <a:noFill/>
          <a:ln/>
        </p:spPr>
        <p:txBody>
          <a:bodyPr wrap="square" lIns="0" tIns="0" rIns="0" bIns="0" rtlCol="0" anchor="t"/>
          <a:lstStyle/>
          <a:p>
            <a:pPr indent="0" marL="0">
              <a:buNone/>
            </a:pPr>
            <a:r>
              <a:rPr lang="en-US" sz="1600" dirty="0">
                <a:solidFill>
                  <a:schemeClr val="tx1"/>
                </a:solidFill>
              </a:rPr>
              <a:t>The API rewrite is 40% of the fee: 54 routes and about 194 queries, rewritten one by one.</a:t>
            </a:r>
            <a:endParaRPr lang="en-US" sz="1600" dirty="0"/>
          </a:p>
        </p:txBody>
      </p:sp>
      <p:graphicFrame>
        <p:nvGraphicFramePr>
          <p:cNvPr id="4" name="Chart 0" descr=""/>
          <p:cNvGraphicFramePr/>
          <p:nvPr/>
        </p:nvGraphicFramePr>
        <p:xfrm>
          <a:off x="548640" y="1920240"/>
          <a:ext cx="7589520" cy="4343400"/>
        </p:xfrm>
        <a:graphic xmlns:a="http://schemas.openxmlformats.org/drawingml/2006/main">
          <a:graphicData uri="http://schemas.openxmlformats.org/drawingml/2006/chart">
            <c:chart xmlns:c="http://schemas.openxmlformats.org/drawingml/2006/chart" r:id="rId1"/>
          </a:graphicData>
        </a:graphic>
      </p:graphicFrame>
      <p:sp>
        <p:nvSpPr>
          <p:cNvPr id="5" name="Fee card"/>
          <p:cNvSpPr/>
          <p:nvPr/>
        </p:nvSpPr>
        <p:spPr>
          <a:xfrm>
            <a:off x="8412480" y="1920240"/>
            <a:ext cx="3227832" cy="2194560"/>
          </a:xfrm>
          <a:prstGeom prst="roundRect">
            <a:avLst>
              <a:gd name="adj" fmla="val 4167"/>
            </a:avLst>
          </a:prstGeom>
          <a:solidFill>
            <a:schemeClr val="tx2"/>
          </a:solidFill>
          <a:ln/>
        </p:spPr>
      </p:sp>
      <p:sp>
        <p:nvSpPr>
          <p:cNvPr id="6" name="Fee value"/>
          <p:cNvSpPr txBox="1"/>
          <p:nvPr/>
        </p:nvSpPr>
        <p:spPr>
          <a:xfrm>
            <a:off x="8641080" y="2103120"/>
            <a:ext cx="2834640" cy="731520"/>
          </a:xfrm>
          <a:prstGeom prst="rect">
            <a:avLst/>
          </a:prstGeom>
          <a:noFill/>
          <a:ln/>
        </p:spPr>
        <p:txBody>
          <a:bodyPr wrap="square" lIns="0" tIns="0" rIns="0" bIns="0" rtlCol="0" anchor="ctr"/>
          <a:lstStyle/>
          <a:p>
            <a:pPr indent="0" marL="0">
              <a:buNone/>
            </a:pPr>
            <a:r>
              <a:rPr lang="en-US" sz="3200" b="1" dirty="0">
                <a:solidFill>
                  <a:schemeClr val="bg1"/>
                </a:solidFill>
                <a:latin typeface="+mj-lt" pitchFamily="34" charset="0"/>
                <a:ea typeface="+mj-lt" pitchFamily="34" charset="-122"/>
                <a:cs typeface="+mj-lt" pitchFamily="34" charset="-120"/>
              </a:rPr>
              <a:t>SZL 20,000</a:t>
            </a:r>
            <a:endParaRPr lang="en-US" sz="3200" dirty="0"/>
          </a:p>
        </p:txBody>
      </p:sp>
      <p:sp>
        <p:nvSpPr>
          <p:cNvPr id="7" name="Fee label"/>
          <p:cNvSpPr txBox="1"/>
          <p:nvPr/>
        </p:nvSpPr>
        <p:spPr>
          <a:xfrm>
            <a:off x="8641080" y="2926080"/>
            <a:ext cx="2834640" cy="914400"/>
          </a:xfrm>
          <a:prstGeom prst="rect">
            <a:avLst/>
          </a:prstGeom>
          <a:noFill/>
          <a:ln/>
        </p:spPr>
        <p:txBody>
          <a:bodyPr wrap="square" lIns="0" tIns="0" rIns="0" bIns="0" rtlCol="0" anchor="t"/>
          <a:lstStyle/>
          <a:p>
            <a:pPr indent="0" marL="0">
              <a:buNone/>
            </a:pPr>
            <a:r>
              <a:rPr lang="en-US" sz="1400" dirty="0">
                <a:solidFill>
                  <a:schemeClr val="accent6"/>
                </a:solidFill>
              </a:rPr>
              <a:t>fixed fee, 96–139 estimated hours</a:t>
            </a:r>
            <a:endParaRPr lang="en-US" sz="1400" dirty="0"/>
          </a:p>
        </p:txBody>
      </p:sp>
      <p:sp>
        <p:nvSpPr>
          <p:cNvPr id="8" name="Rate card"/>
          <p:cNvSpPr/>
          <p:nvPr/>
        </p:nvSpPr>
        <p:spPr>
          <a:xfrm>
            <a:off x="8412480" y="4297680"/>
            <a:ext cx="3227832" cy="1965960"/>
          </a:xfrm>
          <a:prstGeom prst="roundRect">
            <a:avLst>
              <a:gd name="adj" fmla="val 4651"/>
            </a:avLst>
          </a:prstGeom>
          <a:solidFill>
            <a:schemeClr val="bg2"/>
          </a:solidFill>
          <a:ln/>
        </p:spPr>
      </p:sp>
      <p:sp>
        <p:nvSpPr>
          <p:cNvPr id="9" name="Rate value"/>
          <p:cNvSpPr txBox="1"/>
          <p:nvPr/>
        </p:nvSpPr>
        <p:spPr>
          <a:xfrm>
            <a:off x="8641080" y="4480560"/>
            <a:ext cx="2834640" cy="457200"/>
          </a:xfrm>
          <a:prstGeom prst="rect">
            <a:avLst/>
          </a:prstGeom>
          <a:noFill/>
          <a:ln/>
        </p:spPr>
        <p:txBody>
          <a:bodyPr wrap="square" lIns="0" tIns="0" rIns="0" bIns="0" rtlCol="0" anchor="ctr"/>
          <a:lstStyle/>
          <a:p>
            <a:pPr indent="0" marL="0">
              <a:buNone/>
            </a:pPr>
            <a:r>
              <a:rPr lang="en-US" sz="2400" b="1" dirty="0">
                <a:solidFill>
                  <a:schemeClr val="accent1"/>
                </a:solidFill>
                <a:latin typeface="+mj-lt" pitchFamily="34" charset="0"/>
                <a:ea typeface="+mj-lt" pitchFamily="34" charset="-122"/>
                <a:cs typeface="+mj-lt" pitchFamily="34" charset="-120"/>
              </a:rPr>
              <a:t>SZL 170 / hour</a:t>
            </a:r>
            <a:endParaRPr lang="en-US" sz="2400" dirty="0"/>
          </a:p>
        </p:txBody>
      </p:sp>
      <p:sp>
        <p:nvSpPr>
          <p:cNvPr id="10" name="Rate label"/>
          <p:cNvSpPr txBox="1"/>
          <p:nvPr/>
        </p:nvSpPr>
        <p:spPr>
          <a:xfrm>
            <a:off x="8641080" y="5074920"/>
            <a:ext cx="2834640" cy="1005840"/>
          </a:xfrm>
          <a:prstGeom prst="rect">
            <a:avLst/>
          </a:prstGeom>
          <a:noFill/>
          <a:ln/>
        </p:spPr>
        <p:txBody>
          <a:bodyPr wrap="square" lIns="0" tIns="0" rIns="0" bIns="0" rtlCol="0" anchor="t"/>
          <a:lstStyle/>
          <a:p>
            <a:pPr indent="0" marL="0">
              <a:buNone/>
            </a:pPr>
            <a:r>
              <a:rPr lang="en-US" sz="1400" dirty="0">
                <a:solidFill>
                  <a:schemeClr val="tx1"/>
                </a:solidFill>
              </a:rPr>
              <a:t>discounted project rate for the size of the engagement</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rPr>
              <a:t>How the fixed fee was set</a:t>
            </a:r>
            <a:endParaRPr lang="en-US" sz="3600" dirty="0"/>
          </a:p>
        </p:txBody>
      </p:sp>
      <p:sp>
        <p:nvSpPr>
          <p:cNvPr id="3" name="Lede"/>
          <p:cNvSpPr txBox="1"/>
          <p:nvPr/>
        </p:nvSpPr>
        <p:spPr>
          <a:xfrm>
            <a:off x="548640" y="1188720"/>
            <a:ext cx="11091672" cy="594360"/>
          </a:xfrm>
          <a:prstGeom prst="rect">
            <a:avLst/>
          </a:prstGeom>
          <a:noFill/>
          <a:ln/>
        </p:spPr>
        <p:txBody>
          <a:bodyPr wrap="square" lIns="0" tIns="0" rIns="0" bIns="0" rtlCol="0" anchor="t"/>
          <a:lstStyle/>
          <a:p>
            <a:pPr indent="0" marL="0">
              <a:buNone/>
            </a:pPr>
            <a:r>
              <a:rPr lang="en-US" sz="1600" dirty="0">
                <a:solidFill>
                  <a:schemeClr val="tx1"/>
                </a:solidFill>
              </a:rPr>
              <a:t>At SZL 170 an hour, 96–139 hours spans SZL 16,320 to SZL 23,630. The fixed fee sits near the middle.</a:t>
            </a:r>
            <a:endParaRPr lang="en-US" sz="1600" dirty="0"/>
          </a:p>
        </p:txBody>
      </p:sp>
      <p:sp>
        <p:nvSpPr>
          <p:cNvPr id="4" name="Fee marker label"/>
          <p:cNvSpPr txBox="1"/>
          <p:nvPr/>
        </p:nvSpPr>
        <p:spPr>
          <a:xfrm>
            <a:off x="3829891" y="2148840"/>
            <a:ext cx="4572000" cy="365760"/>
          </a:xfrm>
          <a:prstGeom prst="rect">
            <a:avLst/>
          </a:prstGeom>
          <a:noFill/>
          <a:ln/>
        </p:spPr>
        <p:txBody>
          <a:bodyPr wrap="square" lIns="0" tIns="0" rIns="0" bIns="0" rtlCol="0" anchor="t"/>
          <a:lstStyle/>
          <a:p>
            <a:pPr algn="ctr" indent="0" marL="0">
              <a:buNone/>
            </a:pPr>
            <a:r>
              <a:rPr lang="en-US" sz="1600" b="1" dirty="0">
                <a:solidFill>
                  <a:schemeClr val="tx1"/>
                </a:solidFill>
              </a:rPr>
              <a:t>SZL 20,000 fixed fee (about 118 hours)</a:t>
            </a:r>
            <a:endParaRPr lang="en-US" sz="1600" dirty="0"/>
          </a:p>
        </p:txBody>
      </p:sp>
      <p:sp>
        <p:nvSpPr>
          <p:cNvPr id="5" name="Range bar"/>
          <p:cNvSpPr/>
          <p:nvPr/>
        </p:nvSpPr>
        <p:spPr>
          <a:xfrm>
            <a:off x="914400" y="2743200"/>
            <a:ext cx="10332720" cy="365760"/>
          </a:xfrm>
          <a:prstGeom prst="roundRect">
            <a:avLst>
              <a:gd name="adj" fmla="val 50000"/>
            </a:avLst>
          </a:prstGeom>
          <a:solidFill>
            <a:schemeClr val="accent6"/>
          </a:solidFill>
          <a:ln/>
        </p:spPr>
      </p:sp>
      <p:sp>
        <p:nvSpPr>
          <p:cNvPr id="6" name="Fee marker"/>
          <p:cNvSpPr/>
          <p:nvPr/>
        </p:nvSpPr>
        <p:spPr>
          <a:xfrm>
            <a:off x="5859859" y="2688336"/>
            <a:ext cx="512064" cy="512064"/>
          </a:xfrm>
          <a:prstGeom prst="ellipse">
            <a:avLst/>
          </a:prstGeom>
          <a:solidFill>
            <a:schemeClr val="accent1"/>
          </a:solidFill>
          <a:ln w="25400">
            <a:solidFill>
              <a:srgbClr val="FFFFFF"/>
            </a:solidFill>
            <a:prstDash val="solid"/>
          </a:ln>
        </p:spPr>
      </p:sp>
      <p:sp>
        <p:nvSpPr>
          <p:cNvPr id="7" name="Low value"/>
          <p:cNvSpPr txBox="1"/>
          <p:nvPr/>
        </p:nvSpPr>
        <p:spPr>
          <a:xfrm>
            <a:off x="548640" y="3291840"/>
            <a:ext cx="2743200" cy="320040"/>
          </a:xfrm>
          <a:prstGeom prst="rect">
            <a:avLst/>
          </a:prstGeom>
          <a:noFill/>
          <a:ln/>
        </p:spPr>
        <p:txBody>
          <a:bodyPr wrap="square" lIns="0" tIns="0" rIns="0" bIns="0" rtlCol="0" anchor="t"/>
          <a:lstStyle/>
          <a:p>
            <a:pPr indent="0" marL="0">
              <a:buNone/>
            </a:pPr>
            <a:r>
              <a:rPr lang="en-US" sz="1600" b="1" dirty="0">
                <a:solidFill>
                  <a:schemeClr val="tx1"/>
                </a:solidFill>
              </a:rPr>
              <a:t>SZL 16,320</a:t>
            </a:r>
            <a:endParaRPr lang="en-US" sz="1600" dirty="0"/>
          </a:p>
        </p:txBody>
      </p:sp>
      <p:sp>
        <p:nvSpPr>
          <p:cNvPr id="8" name="Low label"/>
          <p:cNvSpPr txBox="1"/>
          <p:nvPr/>
        </p:nvSpPr>
        <p:spPr>
          <a:xfrm>
            <a:off x="548640" y="3611880"/>
            <a:ext cx="2743200" cy="274320"/>
          </a:xfrm>
          <a:prstGeom prst="rect">
            <a:avLst/>
          </a:prstGeom>
          <a:noFill/>
          <a:ln/>
        </p:spPr>
        <p:txBody>
          <a:bodyPr wrap="square" lIns="0" tIns="0" rIns="0" bIns="0" rtlCol="0" anchor="t"/>
          <a:lstStyle/>
          <a:p>
            <a:pPr indent="0" marL="0">
              <a:buNone/>
            </a:pPr>
            <a:r>
              <a:rPr lang="en-US" sz="1200" dirty="0">
                <a:solidFill>
                  <a:schemeClr val="accent5"/>
                </a:solidFill>
              </a:rPr>
              <a:t>96 hours at SZL 170</a:t>
            </a:r>
            <a:endParaRPr lang="en-US" sz="1200" dirty="0"/>
          </a:p>
        </p:txBody>
      </p:sp>
      <p:sp>
        <p:nvSpPr>
          <p:cNvPr id="9" name="High value"/>
          <p:cNvSpPr txBox="1"/>
          <p:nvPr/>
        </p:nvSpPr>
        <p:spPr>
          <a:xfrm>
            <a:off x="8869680" y="3291840"/>
            <a:ext cx="2743200" cy="320040"/>
          </a:xfrm>
          <a:prstGeom prst="rect">
            <a:avLst/>
          </a:prstGeom>
          <a:noFill/>
          <a:ln/>
        </p:spPr>
        <p:txBody>
          <a:bodyPr wrap="square" lIns="0" tIns="0" rIns="0" bIns="0" rtlCol="0" anchor="t"/>
          <a:lstStyle/>
          <a:p>
            <a:pPr algn="r" indent="0" marL="0">
              <a:buNone/>
            </a:pPr>
            <a:r>
              <a:rPr lang="en-US" sz="1600" b="1" dirty="0">
                <a:solidFill>
                  <a:schemeClr val="tx1"/>
                </a:solidFill>
              </a:rPr>
              <a:t>SZL 23,630</a:t>
            </a:r>
            <a:endParaRPr lang="en-US" sz="1600" dirty="0"/>
          </a:p>
        </p:txBody>
      </p:sp>
      <p:sp>
        <p:nvSpPr>
          <p:cNvPr id="10" name="High label"/>
          <p:cNvSpPr txBox="1"/>
          <p:nvPr/>
        </p:nvSpPr>
        <p:spPr>
          <a:xfrm>
            <a:off x="8869680" y="3611880"/>
            <a:ext cx="2743200" cy="274320"/>
          </a:xfrm>
          <a:prstGeom prst="rect">
            <a:avLst/>
          </a:prstGeom>
          <a:noFill/>
          <a:ln/>
        </p:spPr>
        <p:txBody>
          <a:bodyPr wrap="square" lIns="0" tIns="0" rIns="0" bIns="0" rtlCol="0" anchor="t"/>
          <a:lstStyle/>
          <a:p>
            <a:pPr algn="r" indent="0" marL="0">
              <a:buNone/>
            </a:pPr>
            <a:r>
              <a:rPr lang="en-US" sz="1200" dirty="0">
                <a:solidFill>
                  <a:schemeClr val="accent5"/>
                </a:solidFill>
              </a:rPr>
              <a:t>139 hours at SZL 170</a:t>
            </a:r>
            <a:endParaRPr lang="en-US" sz="1200" dirty="0"/>
          </a:p>
        </p:txBody>
      </p:sp>
      <p:sp>
        <p:nvSpPr>
          <p:cNvPr id="11" name="Insight 1"/>
          <p:cNvSpPr/>
          <p:nvPr/>
        </p:nvSpPr>
        <p:spPr>
          <a:xfrm>
            <a:off x="548640" y="4160520"/>
            <a:ext cx="2606040" cy="2103120"/>
          </a:xfrm>
          <a:prstGeom prst="roundRect">
            <a:avLst>
              <a:gd name="adj" fmla="val 4348"/>
            </a:avLst>
          </a:prstGeom>
          <a:solidFill>
            <a:schemeClr val="bg2"/>
          </a:solidFill>
          <a:ln/>
        </p:spPr>
      </p:sp>
      <p:sp>
        <p:nvSpPr>
          <p:cNvPr id="12" name="Insight 1 value"/>
          <p:cNvSpPr txBox="1"/>
          <p:nvPr/>
        </p:nvSpPr>
        <p:spPr>
          <a:xfrm>
            <a:off x="777240" y="4297680"/>
            <a:ext cx="2148840" cy="731520"/>
          </a:xfrm>
          <a:prstGeom prst="rect">
            <a:avLst/>
          </a:prstGeom>
          <a:noFill/>
          <a:ln/>
        </p:spPr>
        <p:txBody>
          <a:bodyPr wrap="square" lIns="0" tIns="0" rIns="0" bIns="0" rtlCol="0" anchor="ctr"/>
          <a:lstStyle/>
          <a:p>
            <a:pPr indent="0" marL="0">
              <a:buNone/>
            </a:pPr>
            <a:r>
              <a:rPr lang="en-US" sz="2400" b="1" dirty="0">
                <a:solidFill>
                  <a:schemeClr val="accent1"/>
                </a:solidFill>
                <a:latin typeface="+mj-lt" pitchFamily="34" charset="0"/>
                <a:ea typeface="+mj-lt" pitchFamily="34" charset="-122"/>
                <a:cs typeface="+mj-lt" pitchFamily="34" charset="-120"/>
              </a:rPr>
              <a:t>≈118 hours</a:t>
            </a:r>
            <a:endParaRPr lang="en-US" sz="2400" dirty="0"/>
          </a:p>
        </p:txBody>
      </p:sp>
      <p:sp>
        <p:nvSpPr>
          <p:cNvPr id="13" name="Insight 1 label"/>
          <p:cNvSpPr txBox="1"/>
          <p:nvPr/>
        </p:nvSpPr>
        <p:spPr>
          <a:xfrm>
            <a:off x="777240" y="5120640"/>
            <a:ext cx="2148840" cy="1051560"/>
          </a:xfrm>
          <a:prstGeom prst="rect">
            <a:avLst/>
          </a:prstGeom>
          <a:noFill/>
          <a:ln/>
        </p:spPr>
        <p:txBody>
          <a:bodyPr wrap="square" lIns="0" tIns="0" rIns="0" bIns="0" rtlCol="0" anchor="t"/>
          <a:lstStyle/>
          <a:p>
            <a:pPr indent="0" marL="0">
              <a:buNone/>
            </a:pPr>
            <a:r>
              <a:rPr lang="en-US" sz="1400" dirty="0">
                <a:solidFill>
                  <a:schemeClr val="tx1"/>
                </a:solidFill>
              </a:rPr>
              <a:t>what SZL 20,000 buys at SZL 170 an hour</a:t>
            </a:r>
            <a:endParaRPr lang="en-US" sz="1400" dirty="0"/>
          </a:p>
        </p:txBody>
      </p:sp>
      <p:sp>
        <p:nvSpPr>
          <p:cNvPr id="14" name="Insight 2"/>
          <p:cNvSpPr/>
          <p:nvPr/>
        </p:nvSpPr>
        <p:spPr>
          <a:xfrm>
            <a:off x="3376879" y="4160520"/>
            <a:ext cx="2606040" cy="2103120"/>
          </a:xfrm>
          <a:prstGeom prst="roundRect">
            <a:avLst>
              <a:gd name="adj" fmla="val 4348"/>
            </a:avLst>
          </a:prstGeom>
          <a:solidFill>
            <a:schemeClr val="bg2"/>
          </a:solidFill>
          <a:ln/>
        </p:spPr>
      </p:sp>
      <p:sp>
        <p:nvSpPr>
          <p:cNvPr id="15" name="Insight 2 value"/>
          <p:cNvSpPr txBox="1"/>
          <p:nvPr/>
        </p:nvSpPr>
        <p:spPr>
          <a:xfrm>
            <a:off x="3605479" y="4297680"/>
            <a:ext cx="2148840" cy="731520"/>
          </a:xfrm>
          <a:prstGeom prst="rect">
            <a:avLst/>
          </a:prstGeom>
          <a:noFill/>
          <a:ln/>
        </p:spPr>
        <p:txBody>
          <a:bodyPr wrap="square" lIns="0" tIns="0" rIns="0" bIns="0" rtlCol="0" anchor="ctr"/>
          <a:lstStyle/>
          <a:p>
            <a:pPr indent="0" marL="0">
              <a:buNone/>
            </a:pPr>
            <a:r>
              <a:rPr lang="en-US" sz="2400" b="1" dirty="0">
                <a:solidFill>
                  <a:schemeClr val="accent1"/>
                </a:solidFill>
                <a:latin typeface="+mj-lt" pitchFamily="34" charset="0"/>
                <a:ea typeface="+mj-lt" pitchFamily="34" charset="-122"/>
                <a:cs typeface="+mj-lt" pitchFamily="34" charset="-120"/>
              </a:rPr>
              <a:t>SZL 144–208</a:t>
            </a:r>
            <a:endParaRPr lang="en-US" sz="2400" dirty="0"/>
          </a:p>
        </p:txBody>
      </p:sp>
      <p:sp>
        <p:nvSpPr>
          <p:cNvPr id="16" name="Insight 2 label"/>
          <p:cNvSpPr txBox="1"/>
          <p:nvPr/>
        </p:nvSpPr>
        <p:spPr>
          <a:xfrm>
            <a:off x="3605479" y="5120640"/>
            <a:ext cx="2148840" cy="1051560"/>
          </a:xfrm>
          <a:prstGeom prst="rect">
            <a:avLst/>
          </a:prstGeom>
          <a:noFill/>
          <a:ln/>
        </p:spPr>
        <p:txBody>
          <a:bodyPr wrap="square" lIns="0" tIns="0" rIns="0" bIns="0" rtlCol="0" anchor="t"/>
          <a:lstStyle/>
          <a:p>
            <a:pPr indent="0" marL="0">
              <a:buNone/>
            </a:pPr>
            <a:r>
              <a:rPr lang="en-US" sz="1400" dirty="0">
                <a:solidFill>
                  <a:schemeClr val="tx1"/>
                </a:solidFill>
              </a:rPr>
              <a:t>effective hourly rate across the 139 to 96 hour range</a:t>
            </a:r>
            <a:endParaRPr lang="en-US" sz="1400" dirty="0"/>
          </a:p>
        </p:txBody>
      </p:sp>
      <p:sp>
        <p:nvSpPr>
          <p:cNvPr id="17" name="Insight 3"/>
          <p:cNvSpPr/>
          <p:nvPr/>
        </p:nvSpPr>
        <p:spPr>
          <a:xfrm>
            <a:off x="6205118" y="4160520"/>
            <a:ext cx="2606040" cy="2103120"/>
          </a:xfrm>
          <a:prstGeom prst="roundRect">
            <a:avLst>
              <a:gd name="adj" fmla="val 4348"/>
            </a:avLst>
          </a:prstGeom>
          <a:solidFill>
            <a:schemeClr val="bg2"/>
          </a:solidFill>
          <a:ln/>
        </p:spPr>
      </p:sp>
      <p:sp>
        <p:nvSpPr>
          <p:cNvPr id="18" name="Insight 3 value"/>
          <p:cNvSpPr txBox="1"/>
          <p:nvPr/>
        </p:nvSpPr>
        <p:spPr>
          <a:xfrm>
            <a:off x="6433718" y="4297680"/>
            <a:ext cx="2148840" cy="731520"/>
          </a:xfrm>
          <a:prstGeom prst="rect">
            <a:avLst/>
          </a:prstGeom>
          <a:noFill/>
          <a:ln/>
        </p:spPr>
        <p:txBody>
          <a:bodyPr wrap="square" lIns="0" tIns="0" rIns="0" bIns="0" rtlCol="0" anchor="ctr"/>
          <a:lstStyle/>
          <a:p>
            <a:pPr indent="0" marL="0">
              <a:buNone/>
            </a:pPr>
            <a:r>
              <a:rPr lang="en-US" sz="2400" b="1" dirty="0">
                <a:solidFill>
                  <a:schemeClr val="accent1"/>
                </a:solidFill>
                <a:latin typeface="+mj-lt" pitchFamily="34" charset="0"/>
                <a:ea typeface="+mj-lt" pitchFamily="34" charset="-122"/>
                <a:cs typeface="+mj-lt" pitchFamily="34" charset="-120"/>
              </a:rPr>
              <a:t>12–17 min</a:t>
            </a:r>
            <a:endParaRPr lang="en-US" sz="2400" dirty="0"/>
          </a:p>
        </p:txBody>
      </p:sp>
      <p:sp>
        <p:nvSpPr>
          <p:cNvPr id="19" name="Insight 3 label"/>
          <p:cNvSpPr txBox="1"/>
          <p:nvPr/>
        </p:nvSpPr>
        <p:spPr>
          <a:xfrm>
            <a:off x="6433718" y="5120640"/>
            <a:ext cx="2148840" cy="1051560"/>
          </a:xfrm>
          <a:prstGeom prst="rect">
            <a:avLst/>
          </a:prstGeom>
          <a:noFill/>
          <a:ln/>
        </p:spPr>
        <p:txBody>
          <a:bodyPr wrap="square" lIns="0" tIns="0" rIns="0" bIns="0" rtlCol="0" anchor="t"/>
          <a:lstStyle/>
          <a:p>
            <a:pPr indent="0" marL="0">
              <a:buNone/>
            </a:pPr>
            <a:r>
              <a:rPr lang="en-US" sz="1400" dirty="0">
                <a:solidFill>
                  <a:schemeClr val="tx1"/>
                </a:solidFill>
              </a:rPr>
              <a:t>per GROQ query inside the 40–55 hour API rewrite</a:t>
            </a:r>
            <a:endParaRPr lang="en-US" sz="1400" dirty="0"/>
          </a:p>
        </p:txBody>
      </p:sp>
      <p:sp>
        <p:nvSpPr>
          <p:cNvPr id="20" name="Insight 4"/>
          <p:cNvSpPr/>
          <p:nvPr/>
        </p:nvSpPr>
        <p:spPr>
          <a:xfrm>
            <a:off x="9033358" y="4160520"/>
            <a:ext cx="2606040" cy="2103120"/>
          </a:xfrm>
          <a:prstGeom prst="roundRect">
            <a:avLst>
              <a:gd name="adj" fmla="val 4348"/>
            </a:avLst>
          </a:prstGeom>
          <a:solidFill>
            <a:schemeClr val="tx2"/>
          </a:solidFill>
          <a:ln/>
        </p:spPr>
      </p:sp>
      <p:sp>
        <p:nvSpPr>
          <p:cNvPr id="21" name="Insight 4 value"/>
          <p:cNvSpPr txBox="1"/>
          <p:nvPr/>
        </p:nvSpPr>
        <p:spPr>
          <a:xfrm>
            <a:off x="9261958" y="4297680"/>
            <a:ext cx="2148840" cy="731520"/>
          </a:xfrm>
          <a:prstGeom prst="rect">
            <a:avLst/>
          </a:prstGeom>
          <a:noFill/>
          <a:ln/>
        </p:spPr>
        <p:txBody>
          <a:bodyPr wrap="square" lIns="0" tIns="0" rIns="0" bIns="0" rtlCol="0" anchor="ctr"/>
          <a:lstStyle/>
          <a:p>
            <a:pPr indent="0" marL="0">
              <a:buNone/>
            </a:pPr>
            <a:r>
              <a:rPr lang="en-US" sz="2400" b="1" dirty="0">
                <a:solidFill>
                  <a:schemeClr val="bg1"/>
                </a:solidFill>
                <a:latin typeface="+mj-lt" pitchFamily="34" charset="0"/>
                <a:ea typeface="+mj-lt" pitchFamily="34" charset="-122"/>
                <a:cs typeface="+mj-lt" pitchFamily="34" charset="-120"/>
              </a:rPr>
              <a:t>Our risk</a:t>
            </a:r>
            <a:endParaRPr lang="en-US" sz="2400" dirty="0"/>
          </a:p>
        </p:txBody>
      </p:sp>
      <p:sp>
        <p:nvSpPr>
          <p:cNvPr id="22" name="Insight 4 label"/>
          <p:cNvSpPr txBox="1"/>
          <p:nvPr/>
        </p:nvSpPr>
        <p:spPr>
          <a:xfrm>
            <a:off x="9261958" y="5120640"/>
            <a:ext cx="2148840" cy="1051560"/>
          </a:xfrm>
          <a:prstGeom prst="rect">
            <a:avLst/>
          </a:prstGeom>
          <a:noFill/>
          <a:ln/>
        </p:spPr>
        <p:txBody>
          <a:bodyPr wrap="square" lIns="0" tIns="0" rIns="0" bIns="0" rtlCol="0" anchor="t"/>
          <a:lstStyle/>
          <a:p>
            <a:pPr indent="0" marL="0">
              <a:buNone/>
            </a:pPr>
            <a:r>
              <a:rPr lang="en-US" sz="1400" dirty="0">
                <a:solidFill>
                  <a:schemeClr val="accent6"/>
                </a:solidFill>
              </a:rPr>
              <a:t>if the work overruns, G-Solutions² absorbs it, not the client</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rPr>
              <a:t>Payment and what is not included</a:t>
            </a:r>
            <a:endParaRPr lang="en-US" sz="3600" dirty="0"/>
          </a:p>
        </p:txBody>
      </p:sp>
      <p:sp>
        <p:nvSpPr>
          <p:cNvPr id="3" name="Lede"/>
          <p:cNvSpPr txBox="1"/>
          <p:nvPr/>
        </p:nvSpPr>
        <p:spPr>
          <a:xfrm>
            <a:off x="548640" y="1188720"/>
            <a:ext cx="11091672" cy="594360"/>
          </a:xfrm>
          <a:prstGeom prst="rect">
            <a:avLst/>
          </a:prstGeom>
          <a:noFill/>
          <a:ln/>
        </p:spPr>
        <p:txBody>
          <a:bodyPr wrap="square" lIns="0" tIns="0" rIns="0" bIns="0" rtlCol="0" anchor="t"/>
          <a:lstStyle/>
          <a:p>
            <a:pPr indent="0" marL="0">
              <a:buNone/>
            </a:pPr>
            <a:r>
              <a:rPr lang="en-US" sz="1600" dirty="0">
                <a:solidFill>
                  <a:schemeClr val="tx1"/>
                </a:solidFill>
              </a:rPr>
              <a:t>The fee is billed in three milestones and covers development time only.</a:t>
            </a:r>
            <a:endParaRPr lang="en-US" sz="1600" dirty="0"/>
          </a:p>
        </p:txBody>
      </p:sp>
      <p:sp>
        <p:nvSpPr>
          <p:cNvPr id="4" name="Milestone 1"/>
          <p:cNvSpPr/>
          <p:nvPr/>
        </p:nvSpPr>
        <p:spPr>
          <a:xfrm>
            <a:off x="548640" y="1920240"/>
            <a:ext cx="3566160" cy="1463040"/>
          </a:xfrm>
          <a:prstGeom prst="roundRect">
            <a:avLst>
              <a:gd name="adj" fmla="val 6250"/>
            </a:avLst>
          </a:prstGeom>
          <a:solidFill>
            <a:schemeClr val="accent1"/>
          </a:solidFill>
          <a:ln/>
        </p:spPr>
      </p:sp>
      <p:sp>
        <p:nvSpPr>
          <p:cNvPr id="5" name="Milestone 1 value"/>
          <p:cNvSpPr txBox="1"/>
          <p:nvPr/>
        </p:nvSpPr>
        <p:spPr>
          <a:xfrm>
            <a:off x="822960" y="2057400"/>
            <a:ext cx="3017520" cy="640080"/>
          </a:xfrm>
          <a:prstGeom prst="rect">
            <a:avLst/>
          </a:prstGeom>
          <a:noFill/>
          <a:ln/>
        </p:spPr>
        <p:txBody>
          <a:bodyPr wrap="square" lIns="0" tIns="0" rIns="0" bIns="0" rtlCol="0" anchor="ctr"/>
          <a:lstStyle/>
          <a:p>
            <a:pPr indent="0" marL="0">
              <a:buNone/>
            </a:pPr>
            <a:r>
              <a:rPr lang="en-US" sz="3000" b="1" dirty="0">
                <a:solidFill>
                  <a:schemeClr val="bg1"/>
                </a:solidFill>
                <a:latin typeface="+mj-lt" pitchFamily="34" charset="0"/>
                <a:ea typeface="+mj-lt" pitchFamily="34" charset="-122"/>
                <a:cs typeface="+mj-lt" pitchFamily="34" charset="-120"/>
              </a:rPr>
              <a:t>SZL 10,000</a:t>
            </a:r>
            <a:endParaRPr lang="en-US" sz="3000" dirty="0"/>
          </a:p>
        </p:txBody>
      </p:sp>
      <p:sp>
        <p:nvSpPr>
          <p:cNvPr id="6" name="Milestone 1 label"/>
          <p:cNvSpPr txBox="1"/>
          <p:nvPr/>
        </p:nvSpPr>
        <p:spPr>
          <a:xfrm>
            <a:off x="822960" y="2743200"/>
            <a:ext cx="3017520" cy="548640"/>
          </a:xfrm>
          <a:prstGeom prst="rect">
            <a:avLst/>
          </a:prstGeom>
          <a:noFill/>
          <a:ln/>
        </p:spPr>
        <p:txBody>
          <a:bodyPr wrap="square" lIns="0" tIns="0" rIns="0" bIns="0" rtlCol="0" anchor="t"/>
          <a:lstStyle/>
          <a:p>
            <a:pPr indent="0" marL="0">
              <a:buNone/>
            </a:pPr>
            <a:r>
              <a:rPr lang="en-US" sz="1400" dirty="0">
                <a:solidFill>
                  <a:schemeClr val="bg1"/>
                </a:solidFill>
              </a:rPr>
              <a:t>50% deposit before work starts</a:t>
            </a:r>
            <a:endParaRPr lang="en-US" sz="1400" dirty="0"/>
          </a:p>
        </p:txBody>
      </p:sp>
      <p:sp>
        <p:nvSpPr>
          <p:cNvPr id="7" name="Milestone 2"/>
          <p:cNvSpPr/>
          <p:nvPr/>
        </p:nvSpPr>
        <p:spPr>
          <a:xfrm>
            <a:off x="4311396" y="1920240"/>
            <a:ext cx="3566160" cy="1463040"/>
          </a:xfrm>
          <a:prstGeom prst="roundRect">
            <a:avLst>
              <a:gd name="adj" fmla="val 6250"/>
            </a:avLst>
          </a:prstGeom>
          <a:solidFill>
            <a:schemeClr val="bg2"/>
          </a:solidFill>
          <a:ln/>
        </p:spPr>
      </p:sp>
      <p:sp>
        <p:nvSpPr>
          <p:cNvPr id="8" name="Milestone 2 value"/>
          <p:cNvSpPr txBox="1"/>
          <p:nvPr/>
        </p:nvSpPr>
        <p:spPr>
          <a:xfrm>
            <a:off x="4585716" y="2057400"/>
            <a:ext cx="3017520" cy="640080"/>
          </a:xfrm>
          <a:prstGeom prst="rect">
            <a:avLst/>
          </a:prstGeom>
          <a:noFill/>
          <a:ln/>
        </p:spPr>
        <p:txBody>
          <a:bodyPr wrap="square" lIns="0" tIns="0" rIns="0" bIns="0" rtlCol="0" anchor="ctr"/>
          <a:lstStyle/>
          <a:p>
            <a:pPr indent="0" marL="0">
              <a:buNone/>
            </a:pPr>
            <a:r>
              <a:rPr lang="en-US" sz="3000" b="1" dirty="0">
                <a:solidFill>
                  <a:schemeClr val="accent1"/>
                </a:solidFill>
                <a:latin typeface="+mj-lt" pitchFamily="34" charset="0"/>
                <a:ea typeface="+mj-lt" pitchFamily="34" charset="-122"/>
                <a:cs typeface="+mj-lt" pitchFamily="34" charset="-120"/>
              </a:rPr>
              <a:t>SZL 5,000</a:t>
            </a:r>
            <a:endParaRPr lang="en-US" sz="3000" dirty="0"/>
          </a:p>
        </p:txBody>
      </p:sp>
      <p:sp>
        <p:nvSpPr>
          <p:cNvPr id="9" name="Milestone 2 label"/>
          <p:cNvSpPr txBox="1"/>
          <p:nvPr/>
        </p:nvSpPr>
        <p:spPr>
          <a:xfrm>
            <a:off x="4585716" y="2743200"/>
            <a:ext cx="3017520" cy="548640"/>
          </a:xfrm>
          <a:prstGeom prst="rect">
            <a:avLst/>
          </a:prstGeom>
          <a:noFill/>
          <a:ln/>
        </p:spPr>
        <p:txBody>
          <a:bodyPr wrap="square" lIns="0" tIns="0" rIns="0" bIns="0" rtlCol="0" anchor="t"/>
          <a:lstStyle/>
          <a:p>
            <a:pPr indent="0" marL="0">
              <a:buNone/>
            </a:pPr>
            <a:r>
              <a:rPr lang="en-US" sz="1400" dirty="0">
                <a:solidFill>
                  <a:schemeClr val="tx1"/>
                </a:solidFill>
              </a:rPr>
              <a:t>25% on completion of Phase 2</a:t>
            </a:r>
            <a:endParaRPr lang="en-US" sz="1400" dirty="0"/>
          </a:p>
        </p:txBody>
      </p:sp>
      <p:sp>
        <p:nvSpPr>
          <p:cNvPr id="10" name="Milestone 3"/>
          <p:cNvSpPr/>
          <p:nvPr/>
        </p:nvSpPr>
        <p:spPr>
          <a:xfrm>
            <a:off x="8074152" y="1920240"/>
            <a:ext cx="3566160" cy="1463040"/>
          </a:xfrm>
          <a:prstGeom prst="roundRect">
            <a:avLst>
              <a:gd name="adj" fmla="val 6250"/>
            </a:avLst>
          </a:prstGeom>
          <a:solidFill>
            <a:schemeClr val="bg2"/>
          </a:solidFill>
          <a:ln/>
        </p:spPr>
      </p:sp>
      <p:sp>
        <p:nvSpPr>
          <p:cNvPr id="11" name="Milestone 3 value"/>
          <p:cNvSpPr txBox="1"/>
          <p:nvPr/>
        </p:nvSpPr>
        <p:spPr>
          <a:xfrm>
            <a:off x="8348472" y="2057400"/>
            <a:ext cx="3017520" cy="640080"/>
          </a:xfrm>
          <a:prstGeom prst="rect">
            <a:avLst/>
          </a:prstGeom>
          <a:noFill/>
          <a:ln/>
        </p:spPr>
        <p:txBody>
          <a:bodyPr wrap="square" lIns="0" tIns="0" rIns="0" bIns="0" rtlCol="0" anchor="ctr"/>
          <a:lstStyle/>
          <a:p>
            <a:pPr indent="0" marL="0">
              <a:buNone/>
            </a:pPr>
            <a:r>
              <a:rPr lang="en-US" sz="3000" b="1" dirty="0">
                <a:solidFill>
                  <a:schemeClr val="accent1"/>
                </a:solidFill>
                <a:latin typeface="+mj-lt" pitchFamily="34" charset="0"/>
                <a:ea typeface="+mj-lt" pitchFamily="34" charset="-122"/>
                <a:cs typeface="+mj-lt" pitchFamily="34" charset="-120"/>
              </a:rPr>
              <a:t>SZL 5,000</a:t>
            </a:r>
            <a:endParaRPr lang="en-US" sz="3000" dirty="0"/>
          </a:p>
        </p:txBody>
      </p:sp>
      <p:sp>
        <p:nvSpPr>
          <p:cNvPr id="12" name="Milestone 3 label"/>
          <p:cNvSpPr txBox="1"/>
          <p:nvPr/>
        </p:nvSpPr>
        <p:spPr>
          <a:xfrm>
            <a:off x="8348472" y="2743200"/>
            <a:ext cx="3017520" cy="548640"/>
          </a:xfrm>
          <a:prstGeom prst="rect">
            <a:avLst/>
          </a:prstGeom>
          <a:noFill/>
          <a:ln/>
        </p:spPr>
        <p:txBody>
          <a:bodyPr wrap="square" lIns="0" tIns="0" rIns="0" bIns="0" rtlCol="0" anchor="t"/>
          <a:lstStyle/>
          <a:p>
            <a:pPr indent="0" marL="0">
              <a:buNone/>
            </a:pPr>
            <a:r>
              <a:rPr lang="en-US" sz="1400" dirty="0">
                <a:solidFill>
                  <a:schemeClr val="tx1"/>
                </a:solidFill>
              </a:rPr>
              <a:t>25% on go-live after Phase 4 sign-off</a:t>
            </a:r>
            <a:endParaRPr lang="en-US" sz="1400" dirty="0"/>
          </a:p>
        </p:txBody>
      </p:sp>
      <p:sp>
        <p:nvSpPr>
          <p:cNvPr id="13" name="Exclusions heading"/>
          <p:cNvSpPr txBox="1"/>
          <p:nvPr/>
        </p:nvSpPr>
        <p:spPr>
          <a:xfrm>
            <a:off x="548640" y="3611880"/>
            <a:ext cx="7315200" cy="365760"/>
          </a:xfrm>
          <a:prstGeom prst="rect">
            <a:avLst/>
          </a:prstGeom>
          <a:noFill/>
          <a:ln/>
        </p:spPr>
        <p:txBody>
          <a:bodyPr wrap="square" lIns="0" tIns="0" rIns="0" bIns="0" rtlCol="0" anchor="t"/>
          <a:lstStyle/>
          <a:p>
            <a:pPr indent="0" marL="0">
              <a:buNone/>
            </a:pPr>
            <a:r>
              <a:rPr lang="en-US" sz="2000" b="1" dirty="0">
                <a:solidFill>
                  <a:schemeClr val="tx1"/>
                </a:solidFill>
              </a:rPr>
              <a:t>Not in the fee</a:t>
            </a:r>
            <a:endParaRPr lang="en-US" sz="2000" dirty="0"/>
          </a:p>
        </p:txBody>
      </p:sp>
      <p:sp>
        <p:nvSpPr>
          <p:cNvPr id="14" name="Exclusion 1"/>
          <p:cNvSpPr/>
          <p:nvPr/>
        </p:nvSpPr>
        <p:spPr>
          <a:xfrm>
            <a:off x="548640" y="4069080"/>
            <a:ext cx="2606040" cy="2194560"/>
          </a:xfrm>
          <a:prstGeom prst="roundRect">
            <a:avLst>
              <a:gd name="adj" fmla="val 4167"/>
            </a:avLst>
          </a:prstGeom>
          <a:solidFill>
            <a:schemeClr val="bg2"/>
          </a:solidFill>
          <a:ln/>
        </p:spPr>
      </p:sp>
      <p:sp>
        <p:nvSpPr>
          <p:cNvPr id="15" name="Exclusion 1 circle"/>
          <p:cNvSpPr/>
          <p:nvPr/>
        </p:nvSpPr>
        <p:spPr>
          <a:xfrm>
            <a:off x="777240" y="4251960"/>
            <a:ext cx="502920" cy="502920"/>
          </a:xfrm>
          <a:prstGeom prst="ellipse">
            <a:avLst/>
          </a:prstGeom>
          <a:solidFill>
            <a:schemeClr val="accent1"/>
          </a:solidFill>
          <a:ln/>
        </p:spPr>
      </p:sp>
      <p:pic>
        <p:nvPicPr>
          <p:cNvPr id="16" name="Exclusion 1 icon" descr="Exclusion 1">    </p:cNvPr>
          <p:cNvPicPr>
            <a:picLocks noChangeAspect="1"/>
          </p:cNvPicPr>
          <p:nvPr/>
        </p:nvPicPr>
        <p:blipFill>
          <a:blip r:embed="rId1"/>
          <a:stretch>
            <a:fillRect/>
          </a:stretch>
        </p:blipFill>
        <p:spPr>
          <a:xfrm>
            <a:off x="902970" y="4377690"/>
            <a:ext cx="251460" cy="251460"/>
          </a:xfrm>
          <a:prstGeom prst="rect">
            <a:avLst/>
          </a:prstGeom>
        </p:spPr>
      </p:pic>
      <p:sp>
        <p:nvSpPr>
          <p:cNvPr id="17" name="Exclusion 1 heading"/>
          <p:cNvSpPr txBox="1"/>
          <p:nvPr/>
        </p:nvSpPr>
        <p:spPr>
          <a:xfrm>
            <a:off x="777240" y="4846320"/>
            <a:ext cx="2148840" cy="320040"/>
          </a:xfrm>
          <a:prstGeom prst="rect">
            <a:avLst/>
          </a:prstGeom>
          <a:noFill/>
          <a:ln/>
        </p:spPr>
        <p:txBody>
          <a:bodyPr wrap="square" lIns="0" tIns="0" rIns="0" bIns="0" rtlCol="0" anchor="t"/>
          <a:lstStyle/>
          <a:p>
            <a:pPr indent="0" marL="0">
              <a:buNone/>
            </a:pPr>
            <a:r>
              <a:rPr lang="en-US" sz="1600" b="1" dirty="0">
                <a:solidFill>
                  <a:schemeClr val="tx1"/>
                </a:solidFill>
              </a:rPr>
              <a:t>Database hosting</a:t>
            </a:r>
            <a:endParaRPr lang="en-US" sz="1600" dirty="0"/>
          </a:p>
        </p:txBody>
      </p:sp>
      <p:sp>
        <p:nvSpPr>
          <p:cNvPr id="18" name="Exclusion 1 text"/>
          <p:cNvSpPr txBox="1"/>
          <p:nvPr/>
        </p:nvSpPr>
        <p:spPr>
          <a:xfrm>
            <a:off x="777240" y="5212080"/>
            <a:ext cx="2148840" cy="1005840"/>
          </a:xfrm>
          <a:prstGeom prst="rect">
            <a:avLst/>
          </a:prstGeom>
          <a:noFill/>
          <a:ln/>
        </p:spPr>
        <p:txBody>
          <a:bodyPr wrap="square" lIns="0" tIns="0" rIns="0" bIns="0" rtlCol="0" anchor="t"/>
          <a:lstStyle/>
          <a:p>
            <a:pPr indent="0" marL="0">
              <a:buNone/>
            </a:pPr>
            <a:r>
              <a:rPr lang="en-US" sz="1300" dirty="0">
                <a:solidFill>
                  <a:schemeClr val="tx1"/>
                </a:solidFill>
              </a:rPr>
              <a:t>Atlas is billed directly by MongoDB. This deck shows no Atlas prices.</a:t>
            </a:r>
            <a:endParaRPr lang="en-US" sz="1300" dirty="0"/>
          </a:p>
        </p:txBody>
      </p:sp>
      <p:sp>
        <p:nvSpPr>
          <p:cNvPr id="19" name="Exclusion 2"/>
          <p:cNvSpPr/>
          <p:nvPr/>
        </p:nvSpPr>
        <p:spPr>
          <a:xfrm>
            <a:off x="3376879" y="4069080"/>
            <a:ext cx="2606040" cy="2194560"/>
          </a:xfrm>
          <a:prstGeom prst="roundRect">
            <a:avLst>
              <a:gd name="adj" fmla="val 4167"/>
            </a:avLst>
          </a:prstGeom>
          <a:solidFill>
            <a:schemeClr val="bg2"/>
          </a:solidFill>
          <a:ln/>
        </p:spPr>
      </p:sp>
      <p:sp>
        <p:nvSpPr>
          <p:cNvPr id="20" name="Exclusion 2 circle"/>
          <p:cNvSpPr/>
          <p:nvPr/>
        </p:nvSpPr>
        <p:spPr>
          <a:xfrm>
            <a:off x="3605479" y="4251960"/>
            <a:ext cx="502920" cy="502920"/>
          </a:xfrm>
          <a:prstGeom prst="ellipse">
            <a:avLst/>
          </a:prstGeom>
          <a:solidFill>
            <a:schemeClr val="accent1"/>
          </a:solidFill>
          <a:ln/>
        </p:spPr>
      </p:sp>
      <p:pic>
        <p:nvPicPr>
          <p:cNvPr id="21" name="Exclusion 2 icon" descr="Exclusion 2">    </p:cNvPr>
          <p:cNvPicPr>
            <a:picLocks noChangeAspect="1"/>
          </p:cNvPicPr>
          <p:nvPr/>
        </p:nvPicPr>
        <p:blipFill>
          <a:blip r:embed="rId2"/>
          <a:stretch>
            <a:fillRect/>
          </a:stretch>
        </p:blipFill>
        <p:spPr>
          <a:xfrm>
            <a:off x="3731209" y="4377690"/>
            <a:ext cx="251460" cy="251460"/>
          </a:xfrm>
          <a:prstGeom prst="rect">
            <a:avLst/>
          </a:prstGeom>
        </p:spPr>
      </p:pic>
      <p:sp>
        <p:nvSpPr>
          <p:cNvPr id="22" name="Exclusion 2 heading"/>
          <p:cNvSpPr txBox="1"/>
          <p:nvPr/>
        </p:nvSpPr>
        <p:spPr>
          <a:xfrm>
            <a:off x="3605479" y="4846320"/>
            <a:ext cx="2148840" cy="320040"/>
          </a:xfrm>
          <a:prstGeom prst="rect">
            <a:avLst/>
          </a:prstGeom>
          <a:noFill/>
          <a:ln/>
        </p:spPr>
        <p:txBody>
          <a:bodyPr wrap="square" lIns="0" tIns="0" rIns="0" bIns="0" rtlCol="0" anchor="t"/>
          <a:lstStyle/>
          <a:p>
            <a:pPr indent="0" marL="0">
              <a:buNone/>
            </a:pPr>
            <a:r>
              <a:rPr lang="en-US" sz="1600" b="1" dirty="0">
                <a:solidFill>
                  <a:schemeClr val="tx1"/>
                </a:solidFill>
              </a:rPr>
              <a:t>File storage</a:t>
            </a:r>
            <a:endParaRPr lang="en-US" sz="1600" dirty="0"/>
          </a:p>
        </p:txBody>
      </p:sp>
      <p:sp>
        <p:nvSpPr>
          <p:cNvPr id="23" name="Exclusion 2 text"/>
          <p:cNvSpPr txBox="1"/>
          <p:nvPr/>
        </p:nvSpPr>
        <p:spPr>
          <a:xfrm>
            <a:off x="3605479" y="5212080"/>
            <a:ext cx="2148840" cy="1005840"/>
          </a:xfrm>
          <a:prstGeom prst="rect">
            <a:avLst/>
          </a:prstGeom>
          <a:noFill/>
          <a:ln/>
        </p:spPr>
        <p:txBody>
          <a:bodyPr wrap="square" lIns="0" tIns="0" rIns="0" bIns="0" rtlCol="0" anchor="t"/>
          <a:lstStyle/>
          <a:p>
            <a:pPr indent="0" marL="0">
              <a:buNone/>
            </a:pPr>
            <a:r>
              <a:rPr lang="en-US" sz="1300" dirty="0">
                <a:solidFill>
                  <a:schemeClr val="tx1"/>
                </a:solidFill>
              </a:rPr>
              <a:t>The provider (S3, Cloudinary or UploadThing) bills directly.</a:t>
            </a:r>
            <a:endParaRPr lang="en-US" sz="1300" dirty="0"/>
          </a:p>
        </p:txBody>
      </p:sp>
      <p:sp>
        <p:nvSpPr>
          <p:cNvPr id="24" name="Exclusion 3"/>
          <p:cNvSpPr/>
          <p:nvPr/>
        </p:nvSpPr>
        <p:spPr>
          <a:xfrm>
            <a:off x="6205118" y="4069080"/>
            <a:ext cx="2606040" cy="2194560"/>
          </a:xfrm>
          <a:prstGeom prst="roundRect">
            <a:avLst>
              <a:gd name="adj" fmla="val 4167"/>
            </a:avLst>
          </a:prstGeom>
          <a:solidFill>
            <a:schemeClr val="bg2"/>
          </a:solidFill>
          <a:ln/>
        </p:spPr>
      </p:sp>
      <p:sp>
        <p:nvSpPr>
          <p:cNvPr id="25" name="Exclusion 3 circle"/>
          <p:cNvSpPr/>
          <p:nvPr/>
        </p:nvSpPr>
        <p:spPr>
          <a:xfrm>
            <a:off x="6433718" y="4251960"/>
            <a:ext cx="502920" cy="502920"/>
          </a:xfrm>
          <a:prstGeom prst="ellipse">
            <a:avLst/>
          </a:prstGeom>
          <a:solidFill>
            <a:schemeClr val="accent1"/>
          </a:solidFill>
          <a:ln/>
        </p:spPr>
      </p:sp>
      <p:pic>
        <p:nvPicPr>
          <p:cNvPr id="26" name="Exclusion 3 icon" descr="Exclusion 3">    </p:cNvPr>
          <p:cNvPicPr>
            <a:picLocks noChangeAspect="1"/>
          </p:cNvPicPr>
          <p:nvPr/>
        </p:nvPicPr>
        <p:blipFill>
          <a:blip r:embed="rId3"/>
          <a:stretch>
            <a:fillRect/>
          </a:stretch>
        </p:blipFill>
        <p:spPr>
          <a:xfrm>
            <a:off x="6559448" y="4377690"/>
            <a:ext cx="251460" cy="251460"/>
          </a:xfrm>
          <a:prstGeom prst="rect">
            <a:avLst/>
          </a:prstGeom>
        </p:spPr>
      </p:pic>
      <p:sp>
        <p:nvSpPr>
          <p:cNvPr id="27" name="Exclusion 3 heading"/>
          <p:cNvSpPr txBox="1"/>
          <p:nvPr/>
        </p:nvSpPr>
        <p:spPr>
          <a:xfrm>
            <a:off x="6433718" y="4846320"/>
            <a:ext cx="2148840" cy="320040"/>
          </a:xfrm>
          <a:prstGeom prst="rect">
            <a:avLst/>
          </a:prstGeom>
          <a:noFill/>
          <a:ln/>
        </p:spPr>
        <p:txBody>
          <a:bodyPr wrap="square" lIns="0" tIns="0" rIns="0" bIns="0" rtlCol="0" anchor="t"/>
          <a:lstStyle/>
          <a:p>
            <a:pPr indent="0" marL="0">
              <a:buNone/>
            </a:pPr>
            <a:r>
              <a:rPr lang="en-US" sz="1600" b="1" dirty="0">
                <a:solidFill>
                  <a:schemeClr val="tx1"/>
                </a:solidFill>
              </a:rPr>
              <a:t>Self-hosting setup</a:t>
            </a:r>
            <a:endParaRPr lang="en-US" sz="1600" dirty="0"/>
          </a:p>
        </p:txBody>
      </p:sp>
      <p:sp>
        <p:nvSpPr>
          <p:cNvPr id="28" name="Exclusion 3 text"/>
          <p:cNvSpPr txBox="1"/>
          <p:nvPr/>
        </p:nvSpPr>
        <p:spPr>
          <a:xfrm>
            <a:off x="6433718" y="5212080"/>
            <a:ext cx="2148840" cy="1005840"/>
          </a:xfrm>
          <a:prstGeom prst="rect">
            <a:avLst/>
          </a:prstGeom>
          <a:noFill/>
          <a:ln/>
        </p:spPr>
        <p:txBody>
          <a:bodyPr wrap="square" lIns="0" tIns="0" rIns="0" bIns="0" rtlCol="0" anchor="t"/>
          <a:lstStyle/>
          <a:p>
            <a:pPr indent="0" marL="0">
              <a:buNone/>
            </a:pPr>
            <a:r>
              <a:rPr lang="en-US" sz="1300" dirty="0">
                <a:solidFill>
                  <a:schemeClr val="tx1"/>
                </a:solidFill>
              </a:rPr>
              <a:t>Provisioning, hardening, tunnel, backups and monitoring need their own line.</a:t>
            </a:r>
            <a:endParaRPr lang="en-US" sz="1300" dirty="0"/>
          </a:p>
        </p:txBody>
      </p:sp>
      <p:sp>
        <p:nvSpPr>
          <p:cNvPr id="29" name="Exclusion 4"/>
          <p:cNvSpPr/>
          <p:nvPr/>
        </p:nvSpPr>
        <p:spPr>
          <a:xfrm>
            <a:off x="9033358" y="4069080"/>
            <a:ext cx="2606040" cy="2194560"/>
          </a:xfrm>
          <a:prstGeom prst="roundRect">
            <a:avLst>
              <a:gd name="adj" fmla="val 4167"/>
            </a:avLst>
          </a:prstGeom>
          <a:solidFill>
            <a:schemeClr val="bg2"/>
          </a:solidFill>
          <a:ln/>
        </p:spPr>
      </p:sp>
      <p:sp>
        <p:nvSpPr>
          <p:cNvPr id="30" name="Exclusion 4 circle"/>
          <p:cNvSpPr/>
          <p:nvPr/>
        </p:nvSpPr>
        <p:spPr>
          <a:xfrm>
            <a:off x="9261958" y="4251960"/>
            <a:ext cx="502920" cy="502920"/>
          </a:xfrm>
          <a:prstGeom prst="ellipse">
            <a:avLst/>
          </a:prstGeom>
          <a:solidFill>
            <a:schemeClr val="accent1"/>
          </a:solidFill>
          <a:ln/>
        </p:spPr>
      </p:sp>
      <p:pic>
        <p:nvPicPr>
          <p:cNvPr id="31" name="Exclusion 4 icon" descr="Exclusion 4">    </p:cNvPr>
          <p:cNvPicPr>
            <a:picLocks noChangeAspect="1"/>
          </p:cNvPicPr>
          <p:nvPr/>
        </p:nvPicPr>
        <p:blipFill>
          <a:blip r:embed="rId4"/>
          <a:stretch>
            <a:fillRect/>
          </a:stretch>
        </p:blipFill>
        <p:spPr>
          <a:xfrm>
            <a:off x="9387688" y="4377690"/>
            <a:ext cx="251460" cy="251460"/>
          </a:xfrm>
          <a:prstGeom prst="rect">
            <a:avLst/>
          </a:prstGeom>
        </p:spPr>
      </p:pic>
      <p:sp>
        <p:nvSpPr>
          <p:cNvPr id="32" name="Exclusion 4 heading"/>
          <p:cNvSpPr txBox="1"/>
          <p:nvPr/>
        </p:nvSpPr>
        <p:spPr>
          <a:xfrm>
            <a:off x="9261958" y="4846320"/>
            <a:ext cx="2148840" cy="320040"/>
          </a:xfrm>
          <a:prstGeom prst="rect">
            <a:avLst/>
          </a:prstGeom>
          <a:noFill/>
          <a:ln/>
        </p:spPr>
        <p:txBody>
          <a:bodyPr wrap="square" lIns="0" tIns="0" rIns="0" bIns="0" rtlCol="0" anchor="t"/>
          <a:lstStyle/>
          <a:p>
            <a:pPr indent="0" marL="0">
              <a:buNone/>
            </a:pPr>
            <a:r>
              <a:rPr lang="en-US" sz="1600" b="1" dirty="0">
                <a:solidFill>
                  <a:schemeClr val="tx1"/>
                </a:solidFill>
              </a:rPr>
              <a:t>What it offsets</a:t>
            </a:r>
            <a:endParaRPr lang="en-US" sz="1600" dirty="0"/>
          </a:p>
        </p:txBody>
      </p:sp>
      <p:sp>
        <p:nvSpPr>
          <p:cNvPr id="33" name="Exclusion 4 text"/>
          <p:cNvSpPr txBox="1"/>
          <p:nvPr/>
        </p:nvSpPr>
        <p:spPr>
          <a:xfrm>
            <a:off x="9261958" y="5212080"/>
            <a:ext cx="2148840" cy="1005840"/>
          </a:xfrm>
          <a:prstGeom prst="rect">
            <a:avLst/>
          </a:prstGeom>
          <a:noFill/>
          <a:ln/>
        </p:spPr>
        <p:txBody>
          <a:bodyPr wrap="square" lIns="0" tIns="0" rIns="0" bIns="0" rtlCol="0" anchor="t"/>
          <a:lstStyle/>
          <a:p>
            <a:pPr indent="0" marL="0">
              <a:buNone/>
            </a:pPr>
            <a:r>
              <a:rPr lang="en-US" sz="1300" dirty="0">
                <a:solidFill>
                  <a:schemeClr val="tx1"/>
                </a:solidFill>
              </a:rPr>
              <a:t>The Sanity subscription ends once cutover is verified. Its cost is not recorded yet.</a:t>
            </a:r>
            <a:endParaRPr lang="en-US" sz="13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rPr>
              <a:t>Four ways to host MongoDB</a:t>
            </a:r>
            <a:endParaRPr lang="en-US" sz="3600" dirty="0"/>
          </a:p>
        </p:txBody>
      </p:sp>
      <p:sp>
        <p:nvSpPr>
          <p:cNvPr id="3" name="Lede"/>
          <p:cNvSpPr txBox="1"/>
          <p:nvPr/>
        </p:nvSpPr>
        <p:spPr>
          <a:xfrm>
            <a:off x="548640" y="1188720"/>
            <a:ext cx="11091672" cy="594360"/>
          </a:xfrm>
          <a:prstGeom prst="rect">
            <a:avLst/>
          </a:prstGeom>
          <a:noFill/>
          <a:ln/>
        </p:spPr>
        <p:txBody>
          <a:bodyPr wrap="square" lIns="0" tIns="0" rIns="0" bIns="0" rtlCol="0" anchor="t"/>
          <a:lstStyle/>
          <a:p>
            <a:pPr indent="0" marL="0">
              <a:buNone/>
            </a:pPr>
            <a:r>
              <a:rPr lang="en-US" sz="1600" dirty="0">
                <a:solidFill>
                  <a:schemeClr val="tx1"/>
                </a:solidFill>
              </a:rPr>
              <a:t>The app needs only a connection string, so the host can change later without code changes.</a:t>
            </a:r>
            <a:endParaRPr lang="en-US" sz="1600" dirty="0"/>
          </a:p>
        </p:txBody>
      </p:sp>
      <p:graphicFrame>
        <p:nvGraphicFramePr>
          <p:cNvPr id="14" name="Hosting options table"/>
          <p:cNvGraphicFramePr>
            <a:graphicFrameLocks noGrp="1"/>
          </p:cNvGraphicFramePr>
          <p:nvPr>
            <p:extLst>
              <p:ext uri="{D42A27DB-BD31-4B8C-83A1-F6EECF244321}">
                <p14:modId xmlns:p14="http://schemas.microsoft.com/office/powerpoint/2010/main" val="1579011935"/>
              </p:ext>
            </p:extLst>
          </p:nvPr>
        </p:nvGraphicFramePr>
        <p:xfrm>
          <a:off x="548640" y="1920240"/>
          <a:ext cx="11091672" cy="914400"/>
        </p:xfrm>
        <a:graphic>
          <a:graphicData uri="http://schemas.openxmlformats.org/drawingml/2006/table">
            <a:tbl>
              <a:tblPr/>
              <a:tblGrid>
                <a:gridCol w="2011680"/>
                <a:gridCol w="2651760"/>
                <a:gridCol w="2286000"/>
                <a:gridCol w="2286000"/>
                <a:gridCol w="1856232"/>
              </a:tblGrid>
              <a:tr h="0">
                <a:tc>
                  <a:txBody>
                    <a:bodyPr/>
                    <a:lstStyle/>
                    <a:p>
                      <a:pPr indent="0" marL="0">
                        <a:buNone/>
                      </a:pPr>
                      <a:r>
                        <a:rPr lang="en-US" sz="1300" b="1" dirty="0">
                          <a:solidFill>
                            <a:schemeClr val="bg1"/>
                          </a:solidFill>
                        </a:rPr>
                        <a:t>Option</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Who operates it</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Cost shape</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Main risk</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Best when</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tx2"/>
                    </a:solidFill>
                  </a:tcPr>
                </a:tc>
              </a:tr>
              <a:tr h="0">
                <a:tc>
                  <a:txBody>
                    <a:bodyPr/>
                    <a:lstStyle/>
                    <a:p>
                      <a:pPr indent="0" marL="0">
                        <a:buNone/>
                      </a:pPr>
                      <a:r>
                        <a:rPr lang="en-US" sz="1300" b="1" dirty="0">
                          <a:solidFill>
                            <a:schemeClr val="tx1"/>
                          </a:solidFill>
                        </a:rPr>
                        <a:t>Atlas (managed)</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MongoDB: patching, replica set, backups on paid tiers</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Monthly tier, rising with storage and throughput</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Recurring cost grows with data</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No one can maintain a server</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2"/>
                    </a:solidFill>
                  </a:tcPr>
                </a:tc>
              </a:tr>
              <a:tr h="0">
                <a:tc>
                  <a:txBody>
                    <a:bodyPr/>
                    <a:lstStyle/>
                    <a:p>
                      <a:pPr indent="0" marL="0">
                        <a:buNone/>
                      </a:pPr>
                      <a:r>
                        <a:rPr lang="en-US" sz="1300" b="1" dirty="0">
                          <a:solidFill>
                            <a:schemeClr val="tx1"/>
                          </a:solidFill>
                        </a:rPr>
                        <a:t>Rented server (VPS)</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Client or G-Solutions²: patches, backups, monitoring</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Flat monthly fee plus operating time</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You own operations; one node is a single point of failure</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 technical person is available</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1"/>
                    </a:solidFill>
                  </a:tcPr>
                </a:tc>
              </a:tr>
              <a:tr h="0">
                <a:tc>
                  <a:txBody>
                    <a:bodyPr/>
                    <a:lstStyle/>
                    <a:p>
                      <a:pPr indent="0" marL="0">
                        <a:buNone/>
                      </a:pPr>
                      <a:r>
                        <a:rPr lang="en-US" sz="1300" b="1" dirty="0">
                          <a:solidFill>
                            <a:schemeClr val="tx1"/>
                          </a:solidFill>
                        </a:rPr>
                        <a:t>Office server</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Client or G-Solutions², plus the office's power and network</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Hardware, UPS and internet plus operating time</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An outage stops the whole business</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Data must stay on-premises and power and internet are reliable</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2"/>
                    </a:solidFill>
                  </a:tcPr>
                </a:tc>
              </a:tr>
              <a:tr h="0">
                <a:tc>
                  <a:txBody>
                    <a:bodyPr/>
                    <a:lstStyle/>
                    <a:p>
                      <a:pPr indent="0" marL="0">
                        <a:buNone/>
                      </a:pPr>
                      <a:r>
                        <a:rPr lang="en-US" sz="1300" b="1" dirty="0">
                          <a:solidFill>
                            <a:schemeClr val="tx1"/>
                          </a:solidFill>
                        </a:rPr>
                        <a:t>Hybrid: office plus off-site replica</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As office, plus the off-site part</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Office costs plus a small off-site server</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More parts to monitor</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You want on-premises control and real disaster recovery</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1"/>
                    </a:solidFill>
                  </a:tcPr>
                </a:tc>
              </a:tr>
            </a:tbl>
          </a:graphicData>
        </a:graphic>
      </p:graphicFrame>
      <p:sp>
        <p:nvSpPr>
          <p:cNvPr id="5" name="Footnote"/>
          <p:cNvSpPr txBox="1"/>
          <p:nvPr/>
        </p:nvSpPr>
        <p:spPr>
          <a:xfrm>
            <a:off x="548640" y="5806440"/>
            <a:ext cx="11091672" cy="457200"/>
          </a:xfrm>
          <a:prstGeom prst="rect">
            <a:avLst/>
          </a:prstGeom>
          <a:noFill/>
          <a:ln/>
        </p:spPr>
        <p:txBody>
          <a:bodyPr wrap="square" lIns="0" tIns="0" rIns="0" bIns="0" rtlCol="0" anchor="t"/>
          <a:lstStyle/>
          <a:p>
            <a:pPr indent="0" marL="0">
              <a:buNone/>
            </a:pPr>
            <a:r>
              <a:rPr lang="en-US" sz="1200" dirty="0">
                <a:solidFill>
                  <a:schemeClr val="accent5"/>
                </a:solidFill>
              </a:rPr>
              <a:t>Self-hosted options need a replica set, ideally three data-bearing members, for failover and transactions. No prices are shown because none are recorded in the quote or repository.</a:t>
            </a:r>
            <a:endParaRPr lang="en-US" sz="12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rPr>
              <a:t>Reaching an office database</a:t>
            </a:r>
            <a:endParaRPr lang="en-US" sz="3600" dirty="0"/>
          </a:p>
        </p:txBody>
      </p:sp>
      <p:sp>
        <p:nvSpPr>
          <p:cNvPr id="3" name="Lede"/>
          <p:cNvSpPr txBox="1"/>
          <p:nvPr/>
        </p:nvSpPr>
        <p:spPr>
          <a:xfrm>
            <a:off x="548640" y="1188720"/>
            <a:ext cx="11091672" cy="594360"/>
          </a:xfrm>
          <a:prstGeom prst="rect">
            <a:avLst/>
          </a:prstGeom>
          <a:noFill/>
          <a:ln/>
        </p:spPr>
        <p:txBody>
          <a:bodyPr wrap="square" lIns="0" tIns="0" rIns="0" bIns="0" rtlCol="0" anchor="t"/>
          <a:lstStyle/>
          <a:p>
            <a:pPr indent="0" marL="0">
              <a:buNone/>
            </a:pPr>
            <a:r>
              <a:rPr lang="en-US" sz="1600" dirty="0">
                <a:solidFill>
                  <a:schemeClr val="tx1"/>
                </a:solidFill>
              </a:rPr>
              <a:t>Vercel's functions connect from changing public IPs, so they cannot reach an office network without help.</a:t>
            </a:r>
            <a:endParaRPr lang="en-US" sz="1600" dirty="0"/>
          </a:p>
        </p:txBody>
      </p:sp>
      <p:sp>
        <p:nvSpPr>
          <p:cNvPr id="4" name="Flow Vercel app"/>
          <p:cNvSpPr/>
          <p:nvPr/>
        </p:nvSpPr>
        <p:spPr>
          <a:xfrm>
            <a:off x="548640" y="1965960"/>
            <a:ext cx="3136392" cy="822960"/>
          </a:xfrm>
          <a:prstGeom prst="roundRect">
            <a:avLst>
              <a:gd name="adj" fmla="val 11111"/>
            </a:avLst>
          </a:prstGeom>
          <a:solidFill>
            <a:schemeClr val="accent4"/>
          </a:solidFill>
          <a:ln/>
        </p:spPr>
      </p:sp>
      <p:sp>
        <p:nvSpPr>
          <p:cNvPr id="5" name="Flow Vercel app text"/>
          <p:cNvSpPr txBox="1"/>
          <p:nvPr/>
        </p:nvSpPr>
        <p:spPr>
          <a:xfrm>
            <a:off x="548640" y="1965960"/>
            <a:ext cx="3136392" cy="822960"/>
          </a:xfrm>
          <a:prstGeom prst="rect">
            <a:avLst/>
          </a:prstGeom>
          <a:noFill/>
          <a:ln/>
        </p:spPr>
        <p:txBody>
          <a:bodyPr wrap="square" lIns="0" tIns="0" rIns="0" bIns="0" rtlCol="0" anchor="ctr"/>
          <a:lstStyle/>
          <a:p>
            <a:pPr algn="ctr" indent="0" marL="0">
              <a:buNone/>
            </a:pPr>
            <a:r>
              <a:rPr lang="en-US" sz="1600" b="1" dirty="0">
                <a:solidFill>
                  <a:schemeClr val="bg1"/>
                </a:solidFill>
              </a:rPr>
              <a:t>Vercel app</a:t>
            </a:r>
            <a:endParaRPr lang="en-US" sz="1600" dirty="0"/>
          </a:p>
        </p:txBody>
      </p:sp>
      <p:sp>
        <p:nvSpPr>
          <p:cNvPr id="6" name="Flow arrow 1"/>
          <p:cNvSpPr/>
          <p:nvPr/>
        </p:nvSpPr>
        <p:spPr>
          <a:xfrm>
            <a:off x="3685032" y="2377440"/>
            <a:ext cx="841248" cy="0"/>
          </a:xfrm>
          <a:prstGeom prst="line">
            <a:avLst/>
          </a:prstGeom>
          <a:noFill/>
          <a:ln w="19050">
            <a:solidFill>
              <a:srgbClr val="6B7F78"/>
            </a:solidFill>
            <a:prstDash val="solid"/>
            <a:tailEnd type="triangle"/>
          </a:ln>
        </p:spPr>
      </p:sp>
      <p:sp>
        <p:nvSpPr>
          <p:cNvPr id="7" name="Flow Tunnel or private link"/>
          <p:cNvSpPr/>
          <p:nvPr/>
        </p:nvSpPr>
        <p:spPr>
          <a:xfrm>
            <a:off x="4526280" y="1965960"/>
            <a:ext cx="3136392" cy="822960"/>
          </a:xfrm>
          <a:prstGeom prst="roundRect">
            <a:avLst>
              <a:gd name="adj" fmla="val 11111"/>
            </a:avLst>
          </a:prstGeom>
          <a:solidFill>
            <a:schemeClr val="accent1"/>
          </a:solidFill>
          <a:ln/>
        </p:spPr>
      </p:sp>
      <p:sp>
        <p:nvSpPr>
          <p:cNvPr id="8" name="Flow Tunnel or private link text"/>
          <p:cNvSpPr txBox="1"/>
          <p:nvPr/>
        </p:nvSpPr>
        <p:spPr>
          <a:xfrm>
            <a:off x="4526280" y="1965960"/>
            <a:ext cx="3136392" cy="822960"/>
          </a:xfrm>
          <a:prstGeom prst="rect">
            <a:avLst/>
          </a:prstGeom>
          <a:noFill/>
          <a:ln/>
        </p:spPr>
        <p:txBody>
          <a:bodyPr wrap="square" lIns="0" tIns="0" rIns="0" bIns="0" rtlCol="0" anchor="ctr"/>
          <a:lstStyle/>
          <a:p>
            <a:pPr algn="ctr" indent="0" marL="0">
              <a:buNone/>
            </a:pPr>
            <a:r>
              <a:rPr lang="en-US" sz="1600" b="1" dirty="0">
                <a:solidFill>
                  <a:schemeClr val="bg1"/>
                </a:solidFill>
              </a:rPr>
              <a:t>Tunnel or private link</a:t>
            </a:r>
            <a:endParaRPr lang="en-US" sz="1600" dirty="0"/>
          </a:p>
        </p:txBody>
      </p:sp>
      <p:sp>
        <p:nvSpPr>
          <p:cNvPr id="9" name="Flow arrow 2"/>
          <p:cNvSpPr/>
          <p:nvPr/>
        </p:nvSpPr>
        <p:spPr>
          <a:xfrm>
            <a:off x="7662672" y="2377440"/>
            <a:ext cx="841248" cy="0"/>
          </a:xfrm>
          <a:prstGeom prst="line">
            <a:avLst/>
          </a:prstGeom>
          <a:noFill/>
          <a:ln w="19050">
            <a:solidFill>
              <a:srgbClr val="6B7F78"/>
            </a:solidFill>
            <a:prstDash val="solid"/>
            <a:tailEnd type="triangle"/>
          </a:ln>
        </p:spPr>
      </p:sp>
      <p:sp>
        <p:nvSpPr>
          <p:cNvPr id="10" name="Flow Office MongoDB"/>
          <p:cNvSpPr/>
          <p:nvPr/>
        </p:nvSpPr>
        <p:spPr>
          <a:xfrm>
            <a:off x="8503920" y="1965960"/>
            <a:ext cx="3136392" cy="822960"/>
          </a:xfrm>
          <a:prstGeom prst="roundRect">
            <a:avLst>
              <a:gd name="adj" fmla="val 11111"/>
            </a:avLst>
          </a:prstGeom>
          <a:solidFill>
            <a:schemeClr val="tx2"/>
          </a:solidFill>
          <a:ln/>
        </p:spPr>
      </p:sp>
      <p:sp>
        <p:nvSpPr>
          <p:cNvPr id="11" name="Flow Office MongoDB text"/>
          <p:cNvSpPr txBox="1"/>
          <p:nvPr/>
        </p:nvSpPr>
        <p:spPr>
          <a:xfrm>
            <a:off x="8503920" y="1965960"/>
            <a:ext cx="3136392" cy="822960"/>
          </a:xfrm>
          <a:prstGeom prst="rect">
            <a:avLst/>
          </a:prstGeom>
          <a:noFill/>
          <a:ln/>
        </p:spPr>
        <p:txBody>
          <a:bodyPr wrap="square" lIns="0" tIns="0" rIns="0" bIns="0" rtlCol="0" anchor="ctr"/>
          <a:lstStyle/>
          <a:p>
            <a:pPr algn="ctr" indent="0" marL="0">
              <a:buNone/>
            </a:pPr>
            <a:r>
              <a:rPr lang="en-US" sz="1600" b="1" dirty="0">
                <a:solidFill>
                  <a:schemeClr val="bg1"/>
                </a:solidFill>
              </a:rPr>
              <a:t>Office MongoDB</a:t>
            </a:r>
            <a:endParaRPr lang="en-US" sz="1600" dirty="0"/>
          </a:p>
        </p:txBody>
      </p:sp>
      <p:sp>
        <p:nvSpPr>
          <p:cNvPr id="12" name="Reach card 1"/>
          <p:cNvSpPr/>
          <p:nvPr/>
        </p:nvSpPr>
        <p:spPr>
          <a:xfrm>
            <a:off x="548640" y="3108960"/>
            <a:ext cx="3566160" cy="3154680"/>
          </a:xfrm>
          <a:prstGeom prst="roundRect">
            <a:avLst>
              <a:gd name="adj" fmla="val 2899"/>
            </a:avLst>
          </a:prstGeom>
          <a:solidFill>
            <a:schemeClr val="bg2"/>
          </a:solidFill>
          <a:ln/>
        </p:spPr>
      </p:sp>
      <p:sp>
        <p:nvSpPr>
          <p:cNvPr id="13" name="Reach 1 circle"/>
          <p:cNvSpPr/>
          <p:nvPr/>
        </p:nvSpPr>
        <p:spPr>
          <a:xfrm>
            <a:off x="822960" y="3337560"/>
            <a:ext cx="548640" cy="548640"/>
          </a:xfrm>
          <a:prstGeom prst="ellipse">
            <a:avLst/>
          </a:prstGeom>
          <a:solidFill>
            <a:schemeClr val="accent1"/>
          </a:solidFill>
          <a:ln/>
        </p:spPr>
      </p:sp>
      <p:pic>
        <p:nvPicPr>
          <p:cNvPr id="14" name="Reach 1 icon" descr="Reach 1">    </p:cNvPr>
          <p:cNvPicPr>
            <a:picLocks noChangeAspect="1"/>
          </p:cNvPicPr>
          <p:nvPr/>
        </p:nvPicPr>
        <p:blipFill>
          <a:blip r:embed="rId1"/>
          <a:stretch>
            <a:fillRect/>
          </a:stretch>
        </p:blipFill>
        <p:spPr>
          <a:xfrm>
            <a:off x="960120" y="3474720"/>
            <a:ext cx="274320" cy="274320"/>
          </a:xfrm>
          <a:prstGeom prst="rect">
            <a:avLst/>
          </a:prstGeom>
        </p:spPr>
      </p:pic>
      <p:sp>
        <p:nvSpPr>
          <p:cNvPr id="15" name="Reach 1 tag"/>
          <p:cNvSpPr/>
          <p:nvPr/>
        </p:nvSpPr>
        <p:spPr>
          <a:xfrm>
            <a:off x="2743200" y="3474720"/>
            <a:ext cx="1188720" cy="310896"/>
          </a:xfrm>
          <a:prstGeom prst="roundRect">
            <a:avLst>
              <a:gd name="adj" fmla="val 50000"/>
            </a:avLst>
          </a:prstGeom>
          <a:solidFill>
            <a:schemeClr val="accent1"/>
          </a:solidFill>
          <a:ln/>
        </p:spPr>
      </p:sp>
      <p:sp>
        <p:nvSpPr>
          <p:cNvPr id="16" name="Reach 1 tag text"/>
          <p:cNvSpPr txBox="1"/>
          <p:nvPr/>
        </p:nvSpPr>
        <p:spPr>
          <a:xfrm>
            <a:off x="2743200" y="3474720"/>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Preferred</a:t>
            </a:r>
            <a:endParaRPr lang="en-US" sz="1200" dirty="0"/>
          </a:p>
        </p:txBody>
      </p:sp>
      <p:sp>
        <p:nvSpPr>
          <p:cNvPr id="17" name="Reach 1 heading"/>
          <p:cNvSpPr txBox="1"/>
          <p:nvPr/>
        </p:nvSpPr>
        <p:spPr>
          <a:xfrm>
            <a:off x="822960" y="4114800"/>
            <a:ext cx="3017520" cy="365760"/>
          </a:xfrm>
          <a:prstGeom prst="rect">
            <a:avLst/>
          </a:prstGeom>
          <a:noFill/>
          <a:ln/>
        </p:spPr>
        <p:txBody>
          <a:bodyPr wrap="square" lIns="0" tIns="0" rIns="0" bIns="0" rtlCol="0" anchor="t"/>
          <a:lstStyle/>
          <a:p>
            <a:pPr indent="0" marL="0">
              <a:buNone/>
            </a:pPr>
            <a:r>
              <a:rPr lang="en-US" sz="1700" b="1" dirty="0">
                <a:solidFill>
                  <a:schemeClr val="tx1"/>
                </a:solidFill>
              </a:rPr>
              <a:t>Tunnel or private link</a:t>
            </a:r>
            <a:endParaRPr lang="en-US" sz="1700" dirty="0"/>
          </a:p>
        </p:txBody>
      </p:sp>
      <p:sp>
        <p:nvSpPr>
          <p:cNvPr id="18" name="Reach 1 text"/>
          <p:cNvSpPr txBox="1"/>
          <p:nvPr/>
        </p:nvSpPr>
        <p:spPr>
          <a:xfrm>
            <a:off x="822960" y="4572000"/>
            <a:ext cx="3017520" cy="1600200"/>
          </a:xfrm>
          <a:prstGeom prst="rect">
            <a:avLst/>
          </a:prstGeom>
          <a:noFill/>
          <a:ln/>
        </p:spPr>
        <p:txBody>
          <a:bodyPr wrap="square" lIns="0" tIns="0" rIns="0" bIns="0" rtlCol="0" anchor="t"/>
          <a:lstStyle/>
          <a:p>
            <a:pPr indent="0" marL="0">
              <a:buNone/>
            </a:pPr>
            <a:r>
              <a:rPr lang="en-US" sz="1400" dirty="0">
                <a:solidFill>
                  <a:schemeClr val="tx1"/>
                </a:solidFill>
              </a:rPr>
              <a:t>Cloudflare Tunnel or Tailscale. No router ports are opened. It adds a dependency and some latency, and must be tested with Vercel's functions.</a:t>
            </a:r>
            <a:endParaRPr lang="en-US" sz="1400" dirty="0"/>
          </a:p>
        </p:txBody>
      </p:sp>
      <p:sp>
        <p:nvSpPr>
          <p:cNvPr id="19" name="Reach card 2"/>
          <p:cNvSpPr/>
          <p:nvPr/>
        </p:nvSpPr>
        <p:spPr>
          <a:xfrm>
            <a:off x="4311396" y="3108960"/>
            <a:ext cx="3566160" cy="3154680"/>
          </a:xfrm>
          <a:prstGeom prst="roundRect">
            <a:avLst>
              <a:gd name="adj" fmla="val 2899"/>
            </a:avLst>
          </a:prstGeom>
          <a:solidFill>
            <a:schemeClr val="bg2"/>
          </a:solidFill>
          <a:ln/>
        </p:spPr>
      </p:sp>
      <p:sp>
        <p:nvSpPr>
          <p:cNvPr id="20" name="Reach 2 circle"/>
          <p:cNvSpPr/>
          <p:nvPr/>
        </p:nvSpPr>
        <p:spPr>
          <a:xfrm>
            <a:off x="4585716" y="3337560"/>
            <a:ext cx="548640" cy="548640"/>
          </a:xfrm>
          <a:prstGeom prst="ellipse">
            <a:avLst/>
          </a:prstGeom>
          <a:solidFill>
            <a:schemeClr val="accent3"/>
          </a:solidFill>
          <a:ln/>
        </p:spPr>
      </p:sp>
      <p:pic>
        <p:nvPicPr>
          <p:cNvPr id="21" name="Reach 2 icon" descr="Reach 2">    </p:cNvPr>
          <p:cNvPicPr>
            <a:picLocks noChangeAspect="1"/>
          </p:cNvPicPr>
          <p:nvPr/>
        </p:nvPicPr>
        <p:blipFill>
          <a:blip r:embed="rId2"/>
          <a:stretch>
            <a:fillRect/>
          </a:stretch>
        </p:blipFill>
        <p:spPr>
          <a:xfrm>
            <a:off x="4722876" y="3474720"/>
            <a:ext cx="274320" cy="274320"/>
          </a:xfrm>
          <a:prstGeom prst="rect">
            <a:avLst/>
          </a:prstGeom>
        </p:spPr>
      </p:pic>
      <p:sp>
        <p:nvSpPr>
          <p:cNvPr id="22" name="Reach 2 tag"/>
          <p:cNvSpPr/>
          <p:nvPr/>
        </p:nvSpPr>
        <p:spPr>
          <a:xfrm>
            <a:off x="6505956" y="3474720"/>
            <a:ext cx="1188720" cy="310896"/>
          </a:xfrm>
          <a:prstGeom prst="roundRect">
            <a:avLst>
              <a:gd name="adj" fmla="val 50000"/>
            </a:avLst>
          </a:prstGeom>
          <a:solidFill>
            <a:schemeClr val="accent3"/>
          </a:solidFill>
          <a:ln/>
        </p:spPr>
      </p:sp>
      <p:sp>
        <p:nvSpPr>
          <p:cNvPr id="23" name="Reach 2 tag text"/>
          <p:cNvSpPr txBox="1"/>
          <p:nvPr/>
        </p:nvSpPr>
        <p:spPr>
          <a:xfrm>
            <a:off x="6505956" y="3474720"/>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Avoid</a:t>
            </a:r>
            <a:endParaRPr lang="en-US" sz="1200" dirty="0"/>
          </a:p>
        </p:txBody>
      </p:sp>
      <p:sp>
        <p:nvSpPr>
          <p:cNvPr id="24" name="Reach 2 heading"/>
          <p:cNvSpPr txBox="1"/>
          <p:nvPr/>
        </p:nvSpPr>
        <p:spPr>
          <a:xfrm>
            <a:off x="4585716" y="4114800"/>
            <a:ext cx="3017520" cy="365760"/>
          </a:xfrm>
          <a:prstGeom prst="rect">
            <a:avLst/>
          </a:prstGeom>
          <a:noFill/>
          <a:ln/>
        </p:spPr>
        <p:txBody>
          <a:bodyPr wrap="square" lIns="0" tIns="0" rIns="0" bIns="0" rtlCol="0" anchor="t"/>
          <a:lstStyle/>
          <a:p>
            <a:pPr indent="0" marL="0">
              <a:buNone/>
            </a:pPr>
            <a:r>
              <a:rPr lang="en-US" sz="1700" b="1" dirty="0">
                <a:solidFill>
                  <a:schemeClr val="tx1"/>
                </a:solidFill>
              </a:rPr>
              <a:t>Port-forward</a:t>
            </a:r>
            <a:endParaRPr lang="en-US" sz="1700" dirty="0"/>
          </a:p>
        </p:txBody>
      </p:sp>
      <p:sp>
        <p:nvSpPr>
          <p:cNvPr id="25" name="Reach 2 text"/>
          <p:cNvSpPr txBox="1"/>
          <p:nvPr/>
        </p:nvSpPr>
        <p:spPr>
          <a:xfrm>
            <a:off x="4585716" y="4572000"/>
            <a:ext cx="3017520" cy="1600200"/>
          </a:xfrm>
          <a:prstGeom prst="rect">
            <a:avLst/>
          </a:prstGeom>
          <a:noFill/>
          <a:ln/>
        </p:spPr>
        <p:txBody>
          <a:bodyPr wrap="square" lIns="0" tIns="0" rIns="0" bIns="0" rtlCol="0" anchor="t"/>
          <a:lstStyle/>
          <a:p>
            <a:pPr indent="0" marL="0">
              <a:buNone/>
            </a:pPr>
            <a:r>
              <a:rPr lang="en-US" sz="1400" dirty="0">
                <a:solidFill>
                  <a:schemeClr val="tx1"/>
                </a:solidFill>
              </a:rPr>
              <a:t>Needs a static public IP and a hardened server. An exposed database is a common cause of data loss.</a:t>
            </a:r>
            <a:endParaRPr lang="en-US" sz="1400" dirty="0"/>
          </a:p>
        </p:txBody>
      </p:sp>
      <p:sp>
        <p:nvSpPr>
          <p:cNvPr id="26" name="Reach card 3"/>
          <p:cNvSpPr/>
          <p:nvPr/>
        </p:nvSpPr>
        <p:spPr>
          <a:xfrm>
            <a:off x="8074152" y="3108960"/>
            <a:ext cx="3566160" cy="3154680"/>
          </a:xfrm>
          <a:prstGeom prst="roundRect">
            <a:avLst>
              <a:gd name="adj" fmla="val 2899"/>
            </a:avLst>
          </a:prstGeom>
          <a:solidFill>
            <a:schemeClr val="bg2"/>
          </a:solidFill>
          <a:ln/>
        </p:spPr>
      </p:sp>
      <p:sp>
        <p:nvSpPr>
          <p:cNvPr id="27" name="Reach 3 circle"/>
          <p:cNvSpPr/>
          <p:nvPr/>
        </p:nvSpPr>
        <p:spPr>
          <a:xfrm>
            <a:off x="8348472" y="3337560"/>
            <a:ext cx="548640" cy="548640"/>
          </a:xfrm>
          <a:prstGeom prst="ellipse">
            <a:avLst/>
          </a:prstGeom>
          <a:solidFill>
            <a:schemeClr val="accent4"/>
          </a:solidFill>
          <a:ln/>
        </p:spPr>
      </p:sp>
      <p:pic>
        <p:nvPicPr>
          <p:cNvPr id="28" name="Reach 3 icon" descr="Reach 3">    </p:cNvPr>
          <p:cNvPicPr>
            <a:picLocks noChangeAspect="1"/>
          </p:cNvPicPr>
          <p:nvPr/>
        </p:nvPicPr>
        <p:blipFill>
          <a:blip r:embed="rId3"/>
          <a:stretch>
            <a:fillRect/>
          </a:stretch>
        </p:blipFill>
        <p:spPr>
          <a:xfrm>
            <a:off x="8485632" y="3474720"/>
            <a:ext cx="274320" cy="274320"/>
          </a:xfrm>
          <a:prstGeom prst="rect">
            <a:avLst/>
          </a:prstGeom>
        </p:spPr>
      </p:pic>
      <p:sp>
        <p:nvSpPr>
          <p:cNvPr id="29" name="Reach 3 tag"/>
          <p:cNvSpPr/>
          <p:nvPr/>
        </p:nvSpPr>
        <p:spPr>
          <a:xfrm>
            <a:off x="10268712" y="3474720"/>
            <a:ext cx="1188720" cy="310896"/>
          </a:xfrm>
          <a:prstGeom prst="roundRect">
            <a:avLst>
              <a:gd name="adj" fmla="val 50000"/>
            </a:avLst>
          </a:prstGeom>
          <a:solidFill>
            <a:schemeClr val="accent4"/>
          </a:solidFill>
          <a:ln/>
        </p:spPr>
      </p:sp>
      <p:sp>
        <p:nvSpPr>
          <p:cNvPr id="30" name="Reach 3 tag text"/>
          <p:cNvSpPr txBox="1"/>
          <p:nvPr/>
        </p:nvSpPr>
        <p:spPr>
          <a:xfrm>
            <a:off x="10268712" y="3474720"/>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Alternative</a:t>
            </a:r>
            <a:endParaRPr lang="en-US" sz="1200" dirty="0"/>
          </a:p>
        </p:txBody>
      </p:sp>
      <p:sp>
        <p:nvSpPr>
          <p:cNvPr id="31" name="Reach 3 heading"/>
          <p:cNvSpPr txBox="1"/>
          <p:nvPr/>
        </p:nvSpPr>
        <p:spPr>
          <a:xfrm>
            <a:off x="8348472" y="4114800"/>
            <a:ext cx="3017520" cy="365760"/>
          </a:xfrm>
          <a:prstGeom prst="rect">
            <a:avLst/>
          </a:prstGeom>
          <a:noFill/>
          <a:ln/>
        </p:spPr>
        <p:txBody>
          <a:bodyPr wrap="square" lIns="0" tIns="0" rIns="0" bIns="0" rtlCol="0" anchor="t"/>
          <a:lstStyle/>
          <a:p>
            <a:pPr indent="0" marL="0">
              <a:buNone/>
            </a:pPr>
            <a:r>
              <a:rPr lang="en-US" sz="1700" b="1" dirty="0">
                <a:solidFill>
                  <a:schemeClr val="tx1"/>
                </a:solidFill>
              </a:rPr>
              <a:t>App moves in-house</a:t>
            </a:r>
            <a:endParaRPr lang="en-US" sz="1700" dirty="0"/>
          </a:p>
        </p:txBody>
      </p:sp>
      <p:sp>
        <p:nvSpPr>
          <p:cNvPr id="32" name="Reach 3 text"/>
          <p:cNvSpPr txBox="1"/>
          <p:nvPr/>
        </p:nvSpPr>
        <p:spPr>
          <a:xfrm>
            <a:off x="8348472" y="4572000"/>
            <a:ext cx="3017520" cy="1600200"/>
          </a:xfrm>
          <a:prstGeom prst="rect">
            <a:avLst/>
          </a:prstGeom>
          <a:noFill/>
          <a:ln/>
        </p:spPr>
        <p:txBody>
          <a:bodyPr wrap="square" lIns="0" tIns="0" rIns="0" bIns="0" rtlCol="0" anchor="t"/>
          <a:lstStyle/>
          <a:p>
            <a:pPr indent="0" marL="0">
              <a:buNone/>
            </a:pPr>
            <a:r>
              <a:rPr lang="en-US" sz="1400" dirty="0">
                <a:solidFill>
                  <a:schemeClr val="tx1"/>
                </a:solidFill>
              </a:rPr>
              <a:t>The database never leaves the LAN, but Vercel's convenience is lost and the office hosts the web app too.</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rPr>
              <a:t>What the building adds</a:t>
            </a:r>
            <a:endParaRPr lang="en-US" sz="3600" dirty="0"/>
          </a:p>
        </p:txBody>
      </p:sp>
      <p:sp>
        <p:nvSpPr>
          <p:cNvPr id="3" name="Lede"/>
          <p:cNvSpPr txBox="1"/>
          <p:nvPr/>
        </p:nvSpPr>
        <p:spPr>
          <a:xfrm>
            <a:off x="548640" y="1188720"/>
            <a:ext cx="11091672" cy="594360"/>
          </a:xfrm>
          <a:prstGeom prst="rect">
            <a:avLst/>
          </a:prstGeom>
          <a:noFill/>
          <a:ln/>
        </p:spPr>
        <p:txBody>
          <a:bodyPr wrap="square" lIns="0" tIns="0" rIns="0" bIns="0" rtlCol="0" anchor="t"/>
          <a:lstStyle/>
          <a:p>
            <a:pPr indent="0" marL="0">
              <a:buNone/>
            </a:pPr>
            <a:r>
              <a:rPr lang="en-US" sz="1600" dirty="0">
                <a:solidFill>
                  <a:schemeClr val="tx1"/>
                </a:solidFill>
              </a:rPr>
              <a:t>Today the app is as available as Sanity and Vercel. On an office server, the office's power and internet become CaterFlow's uptime.</a:t>
            </a:r>
            <a:endParaRPr lang="en-US" sz="1600" dirty="0"/>
          </a:p>
        </p:txBody>
      </p:sp>
      <p:sp>
        <p:nvSpPr>
          <p:cNvPr id="4" name="Consideration 1 circle"/>
          <p:cNvSpPr/>
          <p:nvPr/>
        </p:nvSpPr>
        <p:spPr>
          <a:xfrm>
            <a:off x="548640" y="2011680"/>
            <a:ext cx="640080" cy="640080"/>
          </a:xfrm>
          <a:prstGeom prst="ellipse">
            <a:avLst/>
          </a:prstGeom>
          <a:solidFill>
            <a:schemeClr val="accent1"/>
          </a:solidFill>
          <a:ln/>
        </p:spPr>
      </p:sp>
      <p:pic>
        <p:nvPicPr>
          <p:cNvPr id="5" name="Consideration 1 icon" descr="Consideration 1">    </p:cNvPr>
          <p:cNvPicPr>
            <a:picLocks noChangeAspect="1"/>
          </p:cNvPicPr>
          <p:nvPr/>
        </p:nvPicPr>
        <p:blipFill>
          <a:blip r:embed="rId1"/>
          <a:stretch>
            <a:fillRect/>
          </a:stretch>
        </p:blipFill>
        <p:spPr>
          <a:xfrm>
            <a:off x="708660" y="2171700"/>
            <a:ext cx="320040" cy="320040"/>
          </a:xfrm>
          <a:prstGeom prst="rect">
            <a:avLst/>
          </a:prstGeom>
        </p:spPr>
      </p:pic>
      <p:sp>
        <p:nvSpPr>
          <p:cNvPr id="6" name="Consideration 1 heading"/>
          <p:cNvSpPr txBox="1"/>
          <p:nvPr/>
        </p:nvSpPr>
        <p:spPr>
          <a:xfrm>
            <a:off x="1417320" y="2011680"/>
            <a:ext cx="4480560" cy="320040"/>
          </a:xfrm>
          <a:prstGeom prst="rect">
            <a:avLst/>
          </a:prstGeom>
          <a:noFill/>
          <a:ln/>
        </p:spPr>
        <p:txBody>
          <a:bodyPr wrap="square" lIns="0" tIns="0" rIns="0" bIns="0" rtlCol="0" anchor="t"/>
          <a:lstStyle/>
          <a:p>
            <a:pPr indent="0" marL="0">
              <a:buNone/>
            </a:pPr>
            <a:r>
              <a:rPr lang="en-US" sz="1800" b="1" dirty="0">
                <a:solidFill>
                  <a:schemeClr val="tx1"/>
                </a:solidFill>
              </a:rPr>
              <a:t>Power</a:t>
            </a:r>
            <a:endParaRPr lang="en-US" sz="1800" dirty="0"/>
          </a:p>
        </p:txBody>
      </p:sp>
      <p:sp>
        <p:nvSpPr>
          <p:cNvPr id="7" name="Consideration 1 text"/>
          <p:cNvSpPr txBox="1"/>
          <p:nvPr/>
        </p:nvSpPr>
        <p:spPr>
          <a:xfrm>
            <a:off x="1417320" y="2377440"/>
            <a:ext cx="4480560" cy="914400"/>
          </a:xfrm>
          <a:prstGeom prst="rect">
            <a:avLst/>
          </a:prstGeom>
          <a:noFill/>
          <a:ln/>
        </p:spPr>
        <p:txBody>
          <a:bodyPr wrap="square" lIns="0" tIns="0" rIns="0" bIns="0" rtlCol="0" anchor="t"/>
          <a:lstStyle/>
          <a:p>
            <a:pPr indent="0" marL="0">
              <a:buNone/>
            </a:pPr>
            <a:r>
              <a:rPr lang="en-US" sz="1400" dirty="0">
                <a:solidFill>
                  <a:schemeClr val="tx1"/>
                </a:solidFill>
              </a:rPr>
              <a:t>A UPS with runtime for a clean shutdown, and an inverter or generator for longer cuts.</a:t>
            </a:r>
            <a:endParaRPr lang="en-US" sz="1400" dirty="0"/>
          </a:p>
        </p:txBody>
      </p:sp>
      <p:sp>
        <p:nvSpPr>
          <p:cNvPr id="8" name="Consideration 2 circle"/>
          <p:cNvSpPr/>
          <p:nvPr/>
        </p:nvSpPr>
        <p:spPr>
          <a:xfrm>
            <a:off x="6217920" y="2011680"/>
            <a:ext cx="640080" cy="640080"/>
          </a:xfrm>
          <a:prstGeom prst="ellipse">
            <a:avLst/>
          </a:prstGeom>
          <a:solidFill>
            <a:schemeClr val="accent1"/>
          </a:solidFill>
          <a:ln/>
        </p:spPr>
      </p:sp>
      <p:pic>
        <p:nvPicPr>
          <p:cNvPr id="9" name="Consideration 2 icon" descr="Consideration 2">    </p:cNvPr>
          <p:cNvPicPr>
            <a:picLocks noChangeAspect="1"/>
          </p:cNvPicPr>
          <p:nvPr/>
        </p:nvPicPr>
        <p:blipFill>
          <a:blip r:embed="rId2"/>
          <a:stretch>
            <a:fillRect/>
          </a:stretch>
        </p:blipFill>
        <p:spPr>
          <a:xfrm>
            <a:off x="6377940" y="2171700"/>
            <a:ext cx="320040" cy="320040"/>
          </a:xfrm>
          <a:prstGeom prst="rect">
            <a:avLst/>
          </a:prstGeom>
        </p:spPr>
      </p:pic>
      <p:sp>
        <p:nvSpPr>
          <p:cNvPr id="10" name="Consideration 2 heading"/>
          <p:cNvSpPr txBox="1"/>
          <p:nvPr/>
        </p:nvSpPr>
        <p:spPr>
          <a:xfrm>
            <a:off x="7086600" y="2011680"/>
            <a:ext cx="4480560" cy="320040"/>
          </a:xfrm>
          <a:prstGeom prst="rect">
            <a:avLst/>
          </a:prstGeom>
          <a:noFill/>
          <a:ln/>
        </p:spPr>
        <p:txBody>
          <a:bodyPr wrap="square" lIns="0" tIns="0" rIns="0" bIns="0" rtlCol="0" anchor="t"/>
          <a:lstStyle/>
          <a:p>
            <a:pPr indent="0" marL="0">
              <a:buNone/>
            </a:pPr>
            <a:r>
              <a:rPr lang="en-US" sz="1800" b="1" dirty="0">
                <a:solidFill>
                  <a:schemeClr val="tx1"/>
                </a:solidFill>
              </a:rPr>
              <a:t>Internet</a:t>
            </a:r>
            <a:endParaRPr lang="en-US" sz="1800" dirty="0"/>
          </a:p>
        </p:txBody>
      </p:sp>
      <p:sp>
        <p:nvSpPr>
          <p:cNvPr id="11" name="Consideration 2 text"/>
          <p:cNvSpPr txBox="1"/>
          <p:nvPr/>
        </p:nvSpPr>
        <p:spPr>
          <a:xfrm>
            <a:off x="7086600" y="2377440"/>
            <a:ext cx="4480560" cy="914400"/>
          </a:xfrm>
          <a:prstGeom prst="rect">
            <a:avLst/>
          </a:prstGeom>
          <a:noFill/>
          <a:ln/>
        </p:spPr>
        <p:txBody>
          <a:bodyPr wrap="square" lIns="0" tIns="0" rIns="0" bIns="0" rtlCol="0" anchor="t"/>
          <a:lstStyle/>
          <a:p>
            <a:pPr indent="0" marL="0">
              <a:buNone/>
            </a:pPr>
            <a:r>
              <a:rPr lang="en-US" sz="1400" dirty="0">
                <a:solidFill>
                  <a:schemeClr val="tx1"/>
                </a:solidFill>
              </a:rPr>
              <a:t>Remote users, such as site managers on mobile, depend on the office uplink.</a:t>
            </a:r>
            <a:endParaRPr lang="en-US" sz="1400" dirty="0"/>
          </a:p>
        </p:txBody>
      </p:sp>
      <p:sp>
        <p:nvSpPr>
          <p:cNvPr id="12" name="Consideration 3 circle"/>
          <p:cNvSpPr/>
          <p:nvPr/>
        </p:nvSpPr>
        <p:spPr>
          <a:xfrm>
            <a:off x="548640" y="3429000"/>
            <a:ext cx="640080" cy="640080"/>
          </a:xfrm>
          <a:prstGeom prst="ellipse">
            <a:avLst/>
          </a:prstGeom>
          <a:solidFill>
            <a:schemeClr val="accent1"/>
          </a:solidFill>
          <a:ln/>
        </p:spPr>
      </p:sp>
      <p:pic>
        <p:nvPicPr>
          <p:cNvPr id="13" name="Consideration 3 icon" descr="Consideration 3">    </p:cNvPr>
          <p:cNvPicPr>
            <a:picLocks noChangeAspect="1"/>
          </p:cNvPicPr>
          <p:nvPr/>
        </p:nvPicPr>
        <p:blipFill>
          <a:blip r:embed="rId3"/>
          <a:stretch>
            <a:fillRect/>
          </a:stretch>
        </p:blipFill>
        <p:spPr>
          <a:xfrm>
            <a:off x="708660" y="3589020"/>
            <a:ext cx="320040" cy="320040"/>
          </a:xfrm>
          <a:prstGeom prst="rect">
            <a:avLst/>
          </a:prstGeom>
        </p:spPr>
      </p:pic>
      <p:sp>
        <p:nvSpPr>
          <p:cNvPr id="14" name="Consideration 3 heading"/>
          <p:cNvSpPr txBox="1"/>
          <p:nvPr/>
        </p:nvSpPr>
        <p:spPr>
          <a:xfrm>
            <a:off x="1417320" y="3429000"/>
            <a:ext cx="4480560" cy="320040"/>
          </a:xfrm>
          <a:prstGeom prst="rect">
            <a:avLst/>
          </a:prstGeom>
          <a:noFill/>
          <a:ln/>
        </p:spPr>
        <p:txBody>
          <a:bodyPr wrap="square" lIns="0" tIns="0" rIns="0" bIns="0" rtlCol="0" anchor="t"/>
          <a:lstStyle/>
          <a:p>
            <a:pPr indent="0" marL="0">
              <a:buNone/>
            </a:pPr>
            <a:r>
              <a:rPr lang="en-US" sz="1800" b="1" dirty="0">
                <a:solidFill>
                  <a:schemeClr val="tx1"/>
                </a:solidFill>
              </a:rPr>
              <a:t>Backups</a:t>
            </a:r>
            <a:endParaRPr lang="en-US" sz="1800" dirty="0"/>
          </a:p>
        </p:txBody>
      </p:sp>
      <p:sp>
        <p:nvSpPr>
          <p:cNvPr id="15" name="Consideration 3 text"/>
          <p:cNvSpPr txBox="1"/>
          <p:nvPr/>
        </p:nvSpPr>
        <p:spPr>
          <a:xfrm>
            <a:off x="1417320" y="3794760"/>
            <a:ext cx="4480560" cy="914400"/>
          </a:xfrm>
          <a:prstGeom prst="rect">
            <a:avLst/>
          </a:prstGeom>
          <a:noFill/>
          <a:ln/>
        </p:spPr>
        <p:txBody>
          <a:bodyPr wrap="square" lIns="0" tIns="0" rIns="0" bIns="0" rtlCol="0" anchor="t"/>
          <a:lstStyle/>
          <a:p>
            <a:pPr indent="0" marL="0">
              <a:buNone/>
            </a:pPr>
            <a:r>
              <a:rPr lang="en-US" sz="1400" dirty="0">
                <a:solidFill>
                  <a:schemeClr val="tx1"/>
                </a:solidFill>
              </a:rPr>
              <a:t>A nightly dump copied off-site, with restores tested. A backup in the same building is not a backup.</a:t>
            </a:r>
            <a:endParaRPr lang="en-US" sz="1400" dirty="0"/>
          </a:p>
        </p:txBody>
      </p:sp>
      <p:sp>
        <p:nvSpPr>
          <p:cNvPr id="16" name="Consideration 4 circle"/>
          <p:cNvSpPr/>
          <p:nvPr/>
        </p:nvSpPr>
        <p:spPr>
          <a:xfrm>
            <a:off x="6217920" y="3429000"/>
            <a:ext cx="640080" cy="640080"/>
          </a:xfrm>
          <a:prstGeom prst="ellipse">
            <a:avLst/>
          </a:prstGeom>
          <a:solidFill>
            <a:schemeClr val="accent1"/>
          </a:solidFill>
          <a:ln/>
        </p:spPr>
      </p:sp>
      <p:pic>
        <p:nvPicPr>
          <p:cNvPr id="17" name="Consideration 4 icon" descr="Consideration 4">    </p:cNvPr>
          <p:cNvPicPr>
            <a:picLocks noChangeAspect="1"/>
          </p:cNvPicPr>
          <p:nvPr/>
        </p:nvPicPr>
        <p:blipFill>
          <a:blip r:embed="rId4"/>
          <a:stretch>
            <a:fillRect/>
          </a:stretch>
        </p:blipFill>
        <p:spPr>
          <a:xfrm>
            <a:off x="6377940" y="3589020"/>
            <a:ext cx="320040" cy="320040"/>
          </a:xfrm>
          <a:prstGeom prst="rect">
            <a:avLst/>
          </a:prstGeom>
        </p:spPr>
      </p:pic>
      <p:sp>
        <p:nvSpPr>
          <p:cNvPr id="18" name="Consideration 4 heading"/>
          <p:cNvSpPr txBox="1"/>
          <p:nvPr/>
        </p:nvSpPr>
        <p:spPr>
          <a:xfrm>
            <a:off x="7086600" y="3429000"/>
            <a:ext cx="4480560" cy="320040"/>
          </a:xfrm>
          <a:prstGeom prst="rect">
            <a:avLst/>
          </a:prstGeom>
          <a:noFill/>
          <a:ln/>
        </p:spPr>
        <p:txBody>
          <a:bodyPr wrap="square" lIns="0" tIns="0" rIns="0" bIns="0" rtlCol="0" anchor="t"/>
          <a:lstStyle/>
          <a:p>
            <a:pPr indent="0" marL="0">
              <a:buNone/>
            </a:pPr>
            <a:r>
              <a:rPr lang="en-US" sz="1800" b="1" dirty="0">
                <a:solidFill>
                  <a:schemeClr val="tx1"/>
                </a:solidFill>
              </a:rPr>
              <a:t>Security</a:t>
            </a:r>
            <a:endParaRPr lang="en-US" sz="1800" dirty="0"/>
          </a:p>
        </p:txBody>
      </p:sp>
      <p:sp>
        <p:nvSpPr>
          <p:cNvPr id="19" name="Consideration 4 text"/>
          <p:cNvSpPr txBox="1"/>
          <p:nvPr/>
        </p:nvSpPr>
        <p:spPr>
          <a:xfrm>
            <a:off x="7086600" y="3794760"/>
            <a:ext cx="4480560" cy="914400"/>
          </a:xfrm>
          <a:prstGeom prst="rect">
            <a:avLst/>
          </a:prstGeom>
          <a:noFill/>
          <a:ln/>
        </p:spPr>
        <p:txBody>
          <a:bodyPr wrap="square" lIns="0" tIns="0" rIns="0" bIns="0" rtlCol="0" anchor="t"/>
          <a:lstStyle/>
          <a:p>
            <a:pPr indent="0" marL="0">
              <a:buNone/>
            </a:pPr>
            <a:r>
              <a:rPr lang="en-US" sz="1400" dirty="0">
                <a:solidFill>
                  <a:schemeClr val="tx1"/>
                </a:solidFill>
              </a:rPr>
              <a:t>Authentication and TLS, a private interface, a firewall, least-privilege users, patching.</a:t>
            </a:r>
            <a:endParaRPr lang="en-US" sz="1400" dirty="0"/>
          </a:p>
        </p:txBody>
      </p:sp>
      <p:sp>
        <p:nvSpPr>
          <p:cNvPr id="20" name="Consideration 5 circle"/>
          <p:cNvSpPr/>
          <p:nvPr/>
        </p:nvSpPr>
        <p:spPr>
          <a:xfrm>
            <a:off x="548640" y="4846320"/>
            <a:ext cx="640080" cy="640080"/>
          </a:xfrm>
          <a:prstGeom prst="ellipse">
            <a:avLst/>
          </a:prstGeom>
          <a:solidFill>
            <a:schemeClr val="accent1"/>
          </a:solidFill>
          <a:ln/>
        </p:spPr>
      </p:sp>
      <p:pic>
        <p:nvPicPr>
          <p:cNvPr id="21" name="Consideration 5 icon" descr="Consideration 5">    </p:cNvPr>
          <p:cNvPicPr>
            <a:picLocks noChangeAspect="1"/>
          </p:cNvPicPr>
          <p:nvPr/>
        </p:nvPicPr>
        <p:blipFill>
          <a:blip r:embed="rId5"/>
          <a:stretch>
            <a:fillRect/>
          </a:stretch>
        </p:blipFill>
        <p:spPr>
          <a:xfrm>
            <a:off x="708660" y="5006340"/>
            <a:ext cx="320040" cy="320040"/>
          </a:xfrm>
          <a:prstGeom prst="rect">
            <a:avLst/>
          </a:prstGeom>
        </p:spPr>
      </p:pic>
      <p:sp>
        <p:nvSpPr>
          <p:cNvPr id="22" name="Consideration 5 heading"/>
          <p:cNvSpPr txBox="1"/>
          <p:nvPr/>
        </p:nvSpPr>
        <p:spPr>
          <a:xfrm>
            <a:off x="1417320" y="4846320"/>
            <a:ext cx="4480560" cy="320040"/>
          </a:xfrm>
          <a:prstGeom prst="rect">
            <a:avLst/>
          </a:prstGeom>
          <a:noFill/>
          <a:ln/>
        </p:spPr>
        <p:txBody>
          <a:bodyPr wrap="square" lIns="0" tIns="0" rIns="0" bIns="0" rtlCol="0" anchor="t"/>
          <a:lstStyle/>
          <a:p>
            <a:pPr indent="0" marL="0">
              <a:buNone/>
            </a:pPr>
            <a:r>
              <a:rPr lang="en-US" sz="1800" b="1" dirty="0">
                <a:solidFill>
                  <a:schemeClr val="tx1"/>
                </a:solidFill>
              </a:rPr>
              <a:t>Hardware</a:t>
            </a:r>
            <a:endParaRPr lang="en-US" sz="1800" dirty="0"/>
          </a:p>
        </p:txBody>
      </p:sp>
      <p:sp>
        <p:nvSpPr>
          <p:cNvPr id="23" name="Consideration 5 text"/>
          <p:cNvSpPr txBox="1"/>
          <p:nvPr/>
        </p:nvSpPr>
        <p:spPr>
          <a:xfrm>
            <a:off x="1417320" y="5212080"/>
            <a:ext cx="4480560" cy="914400"/>
          </a:xfrm>
          <a:prstGeom prst="rect">
            <a:avLst/>
          </a:prstGeom>
          <a:noFill/>
          <a:ln/>
        </p:spPr>
        <p:txBody>
          <a:bodyPr wrap="square" lIns="0" tIns="0" rIns="0" bIns="0" rtlCol="0" anchor="t"/>
          <a:lstStyle/>
          <a:p>
            <a:pPr indent="0" marL="0">
              <a:buNone/>
            </a:pPr>
            <a:r>
              <a:rPr lang="en-US" sz="1400" dirty="0">
                <a:solidFill>
                  <a:schemeClr val="tx1"/>
                </a:solidFill>
              </a:rPr>
              <a:t>Mirrored SSDs, disk and health alerts, and a three-member replica set.</a:t>
            </a:r>
            <a:endParaRPr lang="en-US" sz="1400" dirty="0"/>
          </a:p>
        </p:txBody>
      </p:sp>
      <p:sp>
        <p:nvSpPr>
          <p:cNvPr id="24" name="Consideration 6 circle"/>
          <p:cNvSpPr/>
          <p:nvPr/>
        </p:nvSpPr>
        <p:spPr>
          <a:xfrm>
            <a:off x="6217920" y="4846320"/>
            <a:ext cx="640080" cy="640080"/>
          </a:xfrm>
          <a:prstGeom prst="ellipse">
            <a:avLst/>
          </a:prstGeom>
          <a:solidFill>
            <a:schemeClr val="accent2"/>
          </a:solidFill>
          <a:ln/>
        </p:spPr>
      </p:sp>
      <p:pic>
        <p:nvPicPr>
          <p:cNvPr id="25" name="Consideration 6 icon" descr="Consideration 6">    </p:cNvPr>
          <p:cNvPicPr>
            <a:picLocks noChangeAspect="1"/>
          </p:cNvPicPr>
          <p:nvPr/>
        </p:nvPicPr>
        <p:blipFill>
          <a:blip r:embed="rId6"/>
          <a:stretch>
            <a:fillRect/>
          </a:stretch>
        </p:blipFill>
        <p:spPr>
          <a:xfrm>
            <a:off x="6377940" y="5006340"/>
            <a:ext cx="320040" cy="320040"/>
          </a:xfrm>
          <a:prstGeom prst="rect">
            <a:avLst/>
          </a:prstGeom>
        </p:spPr>
      </p:pic>
      <p:sp>
        <p:nvSpPr>
          <p:cNvPr id="26" name="Consideration 6 heading"/>
          <p:cNvSpPr txBox="1"/>
          <p:nvPr/>
        </p:nvSpPr>
        <p:spPr>
          <a:xfrm>
            <a:off x="7086600" y="4846320"/>
            <a:ext cx="4480560" cy="320040"/>
          </a:xfrm>
          <a:prstGeom prst="rect">
            <a:avLst/>
          </a:prstGeom>
          <a:noFill/>
          <a:ln/>
        </p:spPr>
        <p:txBody>
          <a:bodyPr wrap="square" lIns="0" tIns="0" rIns="0" bIns="0" rtlCol="0" anchor="t"/>
          <a:lstStyle/>
          <a:p>
            <a:pPr indent="0" marL="0">
              <a:buNone/>
            </a:pPr>
            <a:r>
              <a:rPr lang="en-US" sz="1800" b="1" dirty="0">
                <a:solidFill>
                  <a:schemeClr val="tx1"/>
                </a:solidFill>
              </a:rPr>
              <a:t>Ownership</a:t>
            </a:r>
            <a:endParaRPr lang="en-US" sz="1800" dirty="0"/>
          </a:p>
        </p:txBody>
      </p:sp>
      <p:sp>
        <p:nvSpPr>
          <p:cNvPr id="27" name="Consideration 6 text"/>
          <p:cNvSpPr txBox="1"/>
          <p:nvPr/>
        </p:nvSpPr>
        <p:spPr>
          <a:xfrm>
            <a:off x="7086600" y="5212080"/>
            <a:ext cx="4480560" cy="914400"/>
          </a:xfrm>
          <a:prstGeom prst="rect">
            <a:avLst/>
          </a:prstGeom>
          <a:noFill/>
          <a:ln/>
        </p:spPr>
        <p:txBody>
          <a:bodyPr wrap="square" lIns="0" tIns="0" rIns="0" bIns="0" rtlCol="0" anchor="t"/>
          <a:lstStyle/>
          <a:p>
            <a:pPr indent="0" marL="0">
              <a:buNone/>
            </a:pPr>
            <a:r>
              <a:rPr lang="en-US" sz="1400" dirty="0">
                <a:solidFill>
                  <a:schemeClr val="tx1"/>
                </a:solidFill>
              </a:rPr>
              <a:t>A named person for patching, monitoring and recovery. Not yet identified.</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rPr>
              <a:t>Six conditions before cutover</a:t>
            </a:r>
            <a:endParaRPr lang="en-US" sz="3600" dirty="0"/>
          </a:p>
        </p:txBody>
      </p:sp>
      <p:sp>
        <p:nvSpPr>
          <p:cNvPr id="3" name="Lede"/>
          <p:cNvSpPr txBox="1"/>
          <p:nvPr/>
        </p:nvSpPr>
        <p:spPr>
          <a:xfrm>
            <a:off x="548640" y="1188720"/>
            <a:ext cx="11091672" cy="594360"/>
          </a:xfrm>
          <a:prstGeom prst="rect">
            <a:avLst/>
          </a:prstGeom>
          <a:noFill/>
          <a:ln/>
        </p:spPr>
        <p:txBody>
          <a:bodyPr wrap="square" lIns="0" tIns="0" rIns="0" bIns="0" rtlCol="0" anchor="t"/>
          <a:lstStyle/>
          <a:p>
            <a:pPr indent="0" marL="0">
              <a:buNone/>
            </a:pPr>
            <a:r>
              <a:rPr lang="en-US" sz="1600" dirty="0">
                <a:solidFill>
                  <a:schemeClr val="tx1"/>
                </a:solidFill>
              </a:rPr>
              <a:t>Go ahead with an office server only if every one of these is met.</a:t>
            </a:r>
            <a:endParaRPr lang="en-US" sz="1600" dirty="0"/>
          </a:p>
        </p:txBody>
      </p:sp>
      <p:sp>
        <p:nvSpPr>
          <p:cNvPr id="4" name="Condition 1"/>
          <p:cNvSpPr/>
          <p:nvPr/>
        </p:nvSpPr>
        <p:spPr>
          <a:xfrm>
            <a:off x="548640" y="1965960"/>
            <a:ext cx="7498080" cy="621792"/>
          </a:xfrm>
          <a:prstGeom prst="roundRect">
            <a:avLst>
              <a:gd name="adj" fmla="val 14706"/>
            </a:avLst>
          </a:prstGeom>
          <a:solidFill>
            <a:schemeClr val="bg2"/>
          </a:solidFill>
          <a:ln/>
        </p:spPr>
      </p:sp>
      <p:sp>
        <p:nvSpPr>
          <p:cNvPr id="5" name="Condition 1 circle"/>
          <p:cNvSpPr/>
          <p:nvPr/>
        </p:nvSpPr>
        <p:spPr>
          <a:xfrm>
            <a:off x="685800" y="2048256"/>
            <a:ext cx="457200" cy="457200"/>
          </a:xfrm>
          <a:prstGeom prst="ellipse">
            <a:avLst/>
          </a:prstGeom>
          <a:solidFill>
            <a:schemeClr val="accent1"/>
          </a:solidFill>
          <a:ln/>
        </p:spPr>
      </p:sp>
      <p:pic>
        <p:nvPicPr>
          <p:cNvPr id="6" name="Condition 1 icon" descr="Condition 1">    </p:cNvPr>
          <p:cNvPicPr>
            <a:picLocks noChangeAspect="1"/>
          </p:cNvPicPr>
          <p:nvPr/>
        </p:nvPicPr>
        <p:blipFill>
          <a:blip r:embed="rId1"/>
          <a:stretch>
            <a:fillRect/>
          </a:stretch>
        </p:blipFill>
        <p:spPr>
          <a:xfrm>
            <a:off x="800100" y="2162556"/>
            <a:ext cx="228600" cy="228600"/>
          </a:xfrm>
          <a:prstGeom prst="rect">
            <a:avLst/>
          </a:prstGeom>
        </p:spPr>
      </p:pic>
      <p:sp>
        <p:nvSpPr>
          <p:cNvPr id="7" name="Condition 1 text"/>
          <p:cNvSpPr txBox="1"/>
          <p:nvPr/>
        </p:nvSpPr>
        <p:spPr>
          <a:xfrm>
            <a:off x="1371600" y="1965960"/>
            <a:ext cx="6492240" cy="621792"/>
          </a:xfrm>
          <a:prstGeom prst="rect">
            <a:avLst/>
          </a:prstGeom>
          <a:noFill/>
          <a:ln/>
        </p:spPr>
        <p:txBody>
          <a:bodyPr wrap="square" lIns="0" tIns="0" rIns="0" bIns="0" rtlCol="0" anchor="ctr"/>
          <a:lstStyle/>
          <a:p>
            <a:pPr indent="0" marL="0">
              <a:buNone/>
            </a:pPr>
            <a:r>
              <a:rPr lang="en-US" sz="1400" dirty="0">
                <a:solidFill>
                  <a:schemeClr val="tx1"/>
                </a:solidFill>
              </a:rPr>
              <a:t>An off-site backup runs automatically and a restore has been tested</a:t>
            </a:r>
            <a:endParaRPr lang="en-US" sz="1400" dirty="0"/>
          </a:p>
        </p:txBody>
      </p:sp>
      <p:sp>
        <p:nvSpPr>
          <p:cNvPr id="8" name="Condition 2"/>
          <p:cNvSpPr/>
          <p:nvPr/>
        </p:nvSpPr>
        <p:spPr>
          <a:xfrm>
            <a:off x="548640" y="2679192"/>
            <a:ext cx="7498080" cy="621792"/>
          </a:xfrm>
          <a:prstGeom prst="roundRect">
            <a:avLst>
              <a:gd name="adj" fmla="val 14706"/>
            </a:avLst>
          </a:prstGeom>
          <a:solidFill>
            <a:schemeClr val="bg2"/>
          </a:solidFill>
          <a:ln/>
        </p:spPr>
      </p:sp>
      <p:sp>
        <p:nvSpPr>
          <p:cNvPr id="9" name="Condition 2 circle"/>
          <p:cNvSpPr/>
          <p:nvPr/>
        </p:nvSpPr>
        <p:spPr>
          <a:xfrm>
            <a:off x="685800" y="2761488"/>
            <a:ext cx="457200" cy="457200"/>
          </a:xfrm>
          <a:prstGeom prst="ellipse">
            <a:avLst/>
          </a:prstGeom>
          <a:solidFill>
            <a:schemeClr val="accent1"/>
          </a:solidFill>
          <a:ln/>
        </p:spPr>
      </p:sp>
      <p:pic>
        <p:nvPicPr>
          <p:cNvPr id="10" name="Condition 2 icon" descr="Condition 2">    </p:cNvPr>
          <p:cNvPicPr>
            <a:picLocks noChangeAspect="1"/>
          </p:cNvPicPr>
          <p:nvPr/>
        </p:nvPicPr>
        <p:blipFill>
          <a:blip r:embed="rId2"/>
          <a:stretch>
            <a:fillRect/>
          </a:stretch>
        </p:blipFill>
        <p:spPr>
          <a:xfrm>
            <a:off x="800100" y="2875788"/>
            <a:ext cx="228600" cy="228600"/>
          </a:xfrm>
          <a:prstGeom prst="rect">
            <a:avLst/>
          </a:prstGeom>
        </p:spPr>
      </p:pic>
      <p:sp>
        <p:nvSpPr>
          <p:cNvPr id="11" name="Condition 2 text"/>
          <p:cNvSpPr txBox="1"/>
          <p:nvPr/>
        </p:nvSpPr>
        <p:spPr>
          <a:xfrm>
            <a:off x="1371600" y="2679192"/>
            <a:ext cx="6492240" cy="621792"/>
          </a:xfrm>
          <a:prstGeom prst="rect">
            <a:avLst/>
          </a:prstGeom>
          <a:noFill/>
          <a:ln/>
        </p:spPr>
        <p:txBody>
          <a:bodyPr wrap="square" lIns="0" tIns="0" rIns="0" bIns="0" rtlCol="0" anchor="ctr"/>
          <a:lstStyle/>
          <a:p>
            <a:pPr indent="0" marL="0">
              <a:buNone/>
            </a:pPr>
            <a:r>
              <a:rPr lang="en-US" sz="1400" dirty="0">
                <a:solidFill>
                  <a:schemeClr val="tx1"/>
                </a:solidFill>
              </a:rPr>
              <a:t>The app reaches the database through a tunnel or private link, with no open database port</a:t>
            </a:r>
            <a:endParaRPr lang="en-US" sz="1400" dirty="0"/>
          </a:p>
        </p:txBody>
      </p:sp>
      <p:sp>
        <p:nvSpPr>
          <p:cNvPr id="12" name="Condition 3"/>
          <p:cNvSpPr/>
          <p:nvPr/>
        </p:nvSpPr>
        <p:spPr>
          <a:xfrm>
            <a:off x="548640" y="3392424"/>
            <a:ext cx="7498080" cy="621792"/>
          </a:xfrm>
          <a:prstGeom prst="roundRect">
            <a:avLst>
              <a:gd name="adj" fmla="val 14706"/>
            </a:avLst>
          </a:prstGeom>
          <a:solidFill>
            <a:schemeClr val="bg2"/>
          </a:solidFill>
          <a:ln/>
        </p:spPr>
      </p:sp>
      <p:sp>
        <p:nvSpPr>
          <p:cNvPr id="13" name="Condition 3 circle"/>
          <p:cNvSpPr/>
          <p:nvPr/>
        </p:nvSpPr>
        <p:spPr>
          <a:xfrm>
            <a:off x="685800" y="3474720"/>
            <a:ext cx="457200" cy="457200"/>
          </a:xfrm>
          <a:prstGeom prst="ellipse">
            <a:avLst/>
          </a:prstGeom>
          <a:solidFill>
            <a:schemeClr val="accent1"/>
          </a:solidFill>
          <a:ln/>
        </p:spPr>
      </p:sp>
      <p:pic>
        <p:nvPicPr>
          <p:cNvPr id="14" name="Condition 3 icon" descr="Condition 3">    </p:cNvPr>
          <p:cNvPicPr>
            <a:picLocks noChangeAspect="1"/>
          </p:cNvPicPr>
          <p:nvPr/>
        </p:nvPicPr>
        <p:blipFill>
          <a:blip r:embed="rId3"/>
          <a:stretch>
            <a:fillRect/>
          </a:stretch>
        </p:blipFill>
        <p:spPr>
          <a:xfrm>
            <a:off x="800100" y="3589020"/>
            <a:ext cx="228600" cy="228600"/>
          </a:xfrm>
          <a:prstGeom prst="rect">
            <a:avLst/>
          </a:prstGeom>
        </p:spPr>
      </p:pic>
      <p:sp>
        <p:nvSpPr>
          <p:cNvPr id="15" name="Condition 3 text"/>
          <p:cNvSpPr txBox="1"/>
          <p:nvPr/>
        </p:nvSpPr>
        <p:spPr>
          <a:xfrm>
            <a:off x="1371600" y="3392424"/>
            <a:ext cx="6492240" cy="621792"/>
          </a:xfrm>
          <a:prstGeom prst="rect">
            <a:avLst/>
          </a:prstGeom>
          <a:noFill/>
          <a:ln/>
        </p:spPr>
        <p:txBody>
          <a:bodyPr wrap="square" lIns="0" tIns="0" rIns="0" bIns="0" rtlCol="0" anchor="ctr"/>
          <a:lstStyle/>
          <a:p>
            <a:pPr indent="0" marL="0">
              <a:buNone/>
            </a:pPr>
            <a:r>
              <a:rPr lang="en-US" sz="1400" dirty="0">
                <a:solidFill>
                  <a:schemeClr val="tx1"/>
                </a:solidFill>
              </a:rPr>
              <a:t>A UPS protects the server and the office has reliable internet</a:t>
            </a:r>
            <a:endParaRPr lang="en-US" sz="1400" dirty="0"/>
          </a:p>
        </p:txBody>
      </p:sp>
      <p:sp>
        <p:nvSpPr>
          <p:cNvPr id="16" name="Condition 4"/>
          <p:cNvSpPr/>
          <p:nvPr/>
        </p:nvSpPr>
        <p:spPr>
          <a:xfrm>
            <a:off x="548640" y="4105656"/>
            <a:ext cx="7498080" cy="621792"/>
          </a:xfrm>
          <a:prstGeom prst="roundRect">
            <a:avLst>
              <a:gd name="adj" fmla="val 14706"/>
            </a:avLst>
          </a:prstGeom>
          <a:solidFill>
            <a:schemeClr val="bg2"/>
          </a:solidFill>
          <a:ln/>
        </p:spPr>
      </p:sp>
      <p:sp>
        <p:nvSpPr>
          <p:cNvPr id="17" name="Condition 4 circle"/>
          <p:cNvSpPr/>
          <p:nvPr/>
        </p:nvSpPr>
        <p:spPr>
          <a:xfrm>
            <a:off x="685800" y="4187952"/>
            <a:ext cx="457200" cy="457200"/>
          </a:xfrm>
          <a:prstGeom prst="ellipse">
            <a:avLst/>
          </a:prstGeom>
          <a:solidFill>
            <a:schemeClr val="accent1"/>
          </a:solidFill>
          <a:ln/>
        </p:spPr>
      </p:sp>
      <p:pic>
        <p:nvPicPr>
          <p:cNvPr id="18" name="Condition 4 icon" descr="Condition 4">    </p:cNvPr>
          <p:cNvPicPr>
            <a:picLocks noChangeAspect="1"/>
          </p:cNvPicPr>
          <p:nvPr/>
        </p:nvPicPr>
        <p:blipFill>
          <a:blip r:embed="rId4"/>
          <a:stretch>
            <a:fillRect/>
          </a:stretch>
        </p:blipFill>
        <p:spPr>
          <a:xfrm>
            <a:off x="800100" y="4302252"/>
            <a:ext cx="228600" cy="228600"/>
          </a:xfrm>
          <a:prstGeom prst="rect">
            <a:avLst/>
          </a:prstGeom>
        </p:spPr>
      </p:pic>
      <p:sp>
        <p:nvSpPr>
          <p:cNvPr id="19" name="Condition 4 text"/>
          <p:cNvSpPr txBox="1"/>
          <p:nvPr/>
        </p:nvSpPr>
        <p:spPr>
          <a:xfrm>
            <a:off x="1371600" y="4105656"/>
            <a:ext cx="6492240" cy="621792"/>
          </a:xfrm>
          <a:prstGeom prst="rect">
            <a:avLst/>
          </a:prstGeom>
          <a:noFill/>
          <a:ln/>
        </p:spPr>
        <p:txBody>
          <a:bodyPr wrap="square" lIns="0" tIns="0" rIns="0" bIns="0" rtlCol="0" anchor="ctr"/>
          <a:lstStyle/>
          <a:p>
            <a:pPr indent="0" marL="0">
              <a:buNone/>
            </a:pPr>
            <a:r>
              <a:rPr lang="en-US" sz="1400" dirty="0">
                <a:solidFill>
                  <a:schemeClr val="tx1"/>
                </a:solidFill>
              </a:rPr>
              <a:t>A named person is responsible for patching, monitoring and recovery</a:t>
            </a:r>
            <a:endParaRPr lang="en-US" sz="1400" dirty="0"/>
          </a:p>
        </p:txBody>
      </p:sp>
      <p:sp>
        <p:nvSpPr>
          <p:cNvPr id="20" name="Condition 5"/>
          <p:cNvSpPr/>
          <p:nvPr/>
        </p:nvSpPr>
        <p:spPr>
          <a:xfrm>
            <a:off x="548640" y="4818888"/>
            <a:ext cx="7498080" cy="621792"/>
          </a:xfrm>
          <a:prstGeom prst="roundRect">
            <a:avLst>
              <a:gd name="adj" fmla="val 14706"/>
            </a:avLst>
          </a:prstGeom>
          <a:solidFill>
            <a:schemeClr val="bg2"/>
          </a:solidFill>
          <a:ln/>
        </p:spPr>
      </p:sp>
      <p:sp>
        <p:nvSpPr>
          <p:cNvPr id="21" name="Condition 5 circle"/>
          <p:cNvSpPr/>
          <p:nvPr/>
        </p:nvSpPr>
        <p:spPr>
          <a:xfrm>
            <a:off x="685800" y="4901184"/>
            <a:ext cx="457200" cy="457200"/>
          </a:xfrm>
          <a:prstGeom prst="ellipse">
            <a:avLst/>
          </a:prstGeom>
          <a:solidFill>
            <a:schemeClr val="accent1"/>
          </a:solidFill>
          <a:ln/>
        </p:spPr>
      </p:sp>
      <p:pic>
        <p:nvPicPr>
          <p:cNvPr id="22" name="Condition 5 icon" descr="Condition 5">    </p:cNvPr>
          <p:cNvPicPr>
            <a:picLocks noChangeAspect="1"/>
          </p:cNvPicPr>
          <p:nvPr/>
        </p:nvPicPr>
        <p:blipFill>
          <a:blip r:embed="rId5"/>
          <a:stretch>
            <a:fillRect/>
          </a:stretch>
        </p:blipFill>
        <p:spPr>
          <a:xfrm>
            <a:off x="800100" y="5015484"/>
            <a:ext cx="228600" cy="228600"/>
          </a:xfrm>
          <a:prstGeom prst="rect">
            <a:avLst/>
          </a:prstGeom>
        </p:spPr>
      </p:pic>
      <p:sp>
        <p:nvSpPr>
          <p:cNvPr id="23" name="Condition 5 text"/>
          <p:cNvSpPr txBox="1"/>
          <p:nvPr/>
        </p:nvSpPr>
        <p:spPr>
          <a:xfrm>
            <a:off x="1371600" y="4818888"/>
            <a:ext cx="6492240" cy="621792"/>
          </a:xfrm>
          <a:prstGeom prst="rect">
            <a:avLst/>
          </a:prstGeom>
          <a:noFill/>
          <a:ln/>
        </p:spPr>
        <p:txBody>
          <a:bodyPr wrap="square" lIns="0" tIns="0" rIns="0" bIns="0" rtlCol="0" anchor="ctr"/>
          <a:lstStyle/>
          <a:p>
            <a:pPr indent="0" marL="0">
              <a:buNone/>
            </a:pPr>
            <a:r>
              <a:rPr lang="en-US" sz="1400" dirty="0">
                <a:solidFill>
                  <a:schemeClr val="tx1"/>
                </a:solidFill>
              </a:rPr>
              <a:t>A replica set has at least one off-site member, or the client accepts single-node risk in writing</a:t>
            </a:r>
            <a:endParaRPr lang="en-US" sz="1400" dirty="0"/>
          </a:p>
        </p:txBody>
      </p:sp>
      <p:sp>
        <p:nvSpPr>
          <p:cNvPr id="24" name="Condition 6"/>
          <p:cNvSpPr/>
          <p:nvPr/>
        </p:nvSpPr>
        <p:spPr>
          <a:xfrm>
            <a:off x="548640" y="5532120"/>
            <a:ext cx="7498080" cy="621792"/>
          </a:xfrm>
          <a:prstGeom prst="roundRect">
            <a:avLst>
              <a:gd name="adj" fmla="val 14706"/>
            </a:avLst>
          </a:prstGeom>
          <a:solidFill>
            <a:schemeClr val="bg2"/>
          </a:solidFill>
          <a:ln/>
        </p:spPr>
      </p:sp>
      <p:sp>
        <p:nvSpPr>
          <p:cNvPr id="25" name="Condition 6 circle"/>
          <p:cNvSpPr/>
          <p:nvPr/>
        </p:nvSpPr>
        <p:spPr>
          <a:xfrm>
            <a:off x="685800" y="5614416"/>
            <a:ext cx="457200" cy="457200"/>
          </a:xfrm>
          <a:prstGeom prst="ellipse">
            <a:avLst/>
          </a:prstGeom>
          <a:solidFill>
            <a:schemeClr val="accent1"/>
          </a:solidFill>
          <a:ln/>
        </p:spPr>
      </p:sp>
      <p:pic>
        <p:nvPicPr>
          <p:cNvPr id="26" name="Condition 6 icon" descr="Condition 6">    </p:cNvPr>
          <p:cNvPicPr>
            <a:picLocks noChangeAspect="1"/>
          </p:cNvPicPr>
          <p:nvPr/>
        </p:nvPicPr>
        <p:blipFill>
          <a:blip r:embed="rId6"/>
          <a:stretch>
            <a:fillRect/>
          </a:stretch>
        </p:blipFill>
        <p:spPr>
          <a:xfrm>
            <a:off x="800100" y="5728716"/>
            <a:ext cx="228600" cy="228600"/>
          </a:xfrm>
          <a:prstGeom prst="rect">
            <a:avLst/>
          </a:prstGeom>
        </p:spPr>
      </p:pic>
      <p:sp>
        <p:nvSpPr>
          <p:cNvPr id="27" name="Condition 6 text"/>
          <p:cNvSpPr txBox="1"/>
          <p:nvPr/>
        </p:nvSpPr>
        <p:spPr>
          <a:xfrm>
            <a:off x="1371600" y="5532120"/>
            <a:ext cx="6492240" cy="621792"/>
          </a:xfrm>
          <a:prstGeom prst="rect">
            <a:avLst/>
          </a:prstGeom>
          <a:noFill/>
          <a:ln/>
        </p:spPr>
        <p:txBody>
          <a:bodyPr wrap="square" lIns="0" tIns="0" rIns="0" bIns="0" rtlCol="0" anchor="ctr"/>
          <a:lstStyle/>
          <a:p>
            <a:pPr indent="0" marL="0">
              <a:buNone/>
            </a:pPr>
            <a:r>
              <a:rPr lang="en-US" sz="1400" dirty="0">
                <a:solidFill>
                  <a:schemeClr val="tx1"/>
                </a:solidFill>
              </a:rPr>
              <a:t>Authentication and TLS are enabled and tested</a:t>
            </a:r>
            <a:endParaRPr lang="en-US" sz="1400" dirty="0"/>
          </a:p>
        </p:txBody>
      </p:sp>
      <p:sp>
        <p:nvSpPr>
          <p:cNvPr id="28" name="Fallback card"/>
          <p:cNvSpPr/>
          <p:nvPr/>
        </p:nvSpPr>
        <p:spPr>
          <a:xfrm>
            <a:off x="8412480" y="1965960"/>
            <a:ext cx="3227832" cy="4160520"/>
          </a:xfrm>
          <a:prstGeom prst="roundRect">
            <a:avLst>
              <a:gd name="adj" fmla="val 2833"/>
            </a:avLst>
          </a:prstGeom>
          <a:solidFill>
            <a:schemeClr val="tx2"/>
          </a:solidFill>
          <a:ln/>
        </p:spPr>
      </p:sp>
      <p:sp>
        <p:nvSpPr>
          <p:cNvPr id="29" name="Fallback heading"/>
          <p:cNvSpPr txBox="1"/>
          <p:nvPr/>
        </p:nvSpPr>
        <p:spPr>
          <a:xfrm>
            <a:off x="8686800" y="2240280"/>
            <a:ext cx="2743200" cy="365760"/>
          </a:xfrm>
          <a:prstGeom prst="rect">
            <a:avLst/>
          </a:prstGeom>
          <a:noFill/>
          <a:ln/>
        </p:spPr>
        <p:txBody>
          <a:bodyPr wrap="square" lIns="0" tIns="0" rIns="0" bIns="0" rtlCol="0" anchor="t"/>
          <a:lstStyle/>
          <a:p>
            <a:pPr indent="0" marL="0">
              <a:buNone/>
            </a:pPr>
            <a:r>
              <a:rPr lang="en-US" sz="1800" b="1" dirty="0">
                <a:solidFill>
                  <a:schemeClr val="accent6"/>
                </a:solidFill>
              </a:rPr>
              <a:t>If one is missing</a:t>
            </a:r>
            <a:endParaRPr lang="en-US" sz="1800" dirty="0"/>
          </a:p>
        </p:txBody>
      </p:sp>
      <p:sp>
        <p:nvSpPr>
          <p:cNvPr id="30" name="Fallback text"/>
          <p:cNvSpPr txBox="1"/>
          <p:nvPr/>
        </p:nvSpPr>
        <p:spPr>
          <a:xfrm>
            <a:off x="8686800" y="2743200"/>
            <a:ext cx="2743200" cy="1371600"/>
          </a:xfrm>
          <a:prstGeom prst="rect">
            <a:avLst/>
          </a:prstGeom>
          <a:noFill/>
          <a:ln/>
        </p:spPr>
        <p:txBody>
          <a:bodyPr wrap="square" lIns="0" tIns="0" rIns="0" bIns="0" rtlCol="0" anchor="t"/>
          <a:lstStyle/>
          <a:p>
            <a:pPr indent="0" marL="0">
              <a:buNone/>
            </a:pPr>
            <a:r>
              <a:rPr lang="en-US" sz="2600" b="1" dirty="0">
                <a:solidFill>
                  <a:schemeClr val="bg1"/>
                </a:solidFill>
                <a:latin typeface="+mj-lt" pitchFamily="34" charset="0"/>
                <a:ea typeface="+mj-lt" pitchFamily="34" charset="-122"/>
                <a:cs typeface="+mj-lt" pitchFamily="34" charset="-120"/>
              </a:rPr>
              <a:t>Stay on Atlas until it is met.</a:t>
            </a:r>
            <a:endParaRPr lang="en-US" sz="2600" dirty="0"/>
          </a:p>
        </p:txBody>
      </p:sp>
      <p:sp>
        <p:nvSpPr>
          <p:cNvPr id="31" name="Fallback reason"/>
          <p:cNvSpPr txBox="1"/>
          <p:nvPr/>
        </p:nvSpPr>
        <p:spPr>
          <a:xfrm>
            <a:off x="8686800" y="4480560"/>
            <a:ext cx="2743200" cy="1371600"/>
          </a:xfrm>
          <a:prstGeom prst="rect">
            <a:avLst/>
          </a:prstGeom>
          <a:noFill/>
          <a:ln/>
        </p:spPr>
        <p:txBody>
          <a:bodyPr wrap="square" lIns="0" tIns="0" rIns="0" bIns="0" rtlCol="0" anchor="t"/>
          <a:lstStyle/>
          <a:p>
            <a:pPr indent="0" marL="0">
              <a:buNone/>
            </a:pPr>
            <a:r>
              <a:rPr lang="en-US" sz="1400" dirty="0">
                <a:solidFill>
                  <a:schemeClr val="accent6"/>
                </a:solidFill>
              </a:rPr>
              <a:t>A database outage would stop dispatch, receipts and counts for the whole business.</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rPr>
              <a:t>Risks to manage</a:t>
            </a:r>
            <a:endParaRPr lang="en-US" sz="3600" dirty="0"/>
          </a:p>
        </p:txBody>
      </p:sp>
      <p:sp>
        <p:nvSpPr>
          <p:cNvPr id="3" name="Lede"/>
          <p:cNvSpPr txBox="1"/>
          <p:nvPr/>
        </p:nvSpPr>
        <p:spPr>
          <a:xfrm>
            <a:off x="548640" y="1188720"/>
            <a:ext cx="11091672" cy="594360"/>
          </a:xfrm>
          <a:prstGeom prst="rect">
            <a:avLst/>
          </a:prstGeom>
          <a:noFill/>
          <a:ln/>
        </p:spPr>
        <p:txBody>
          <a:bodyPr wrap="square" lIns="0" tIns="0" rIns="0" bIns="0" rtlCol="0" anchor="t"/>
          <a:lstStyle/>
          <a:p>
            <a:pPr indent="0" marL="0">
              <a:buNone/>
            </a:pPr>
            <a:r>
              <a:rPr lang="en-US" sz="1600" dirty="0">
                <a:solidFill>
                  <a:schemeClr val="tx1"/>
                </a:solidFill>
              </a:rPr>
              <a:t>The biggest near-term risk is the gap: migration takes about 3–4 weeks of full-time work, and the quota is binding today.</a:t>
            </a:r>
            <a:endParaRPr lang="en-US" sz="1600" dirty="0"/>
          </a:p>
        </p:txBody>
      </p:sp>
      <p:graphicFrame>
        <p:nvGraphicFramePr>
          <p:cNvPr id="18" name="Risk table"/>
          <p:cNvGraphicFramePr>
            <a:graphicFrameLocks noGrp="1"/>
          </p:cNvGraphicFramePr>
          <p:nvPr>
            <p:extLst>
              <p:ext uri="{D42A27DB-BD31-4B8C-83A1-F6EECF244321}">
                <p14:modId xmlns:p14="http://schemas.microsoft.com/office/powerpoint/2010/main" val="1579011935"/>
              </p:ext>
            </p:extLst>
          </p:nvPr>
        </p:nvGraphicFramePr>
        <p:xfrm>
          <a:off x="548640" y="1920240"/>
          <a:ext cx="11091672" cy="914400"/>
        </p:xfrm>
        <a:graphic>
          <a:graphicData uri="http://schemas.openxmlformats.org/drawingml/2006/table">
            <a:tbl>
              <a:tblPr/>
              <a:tblGrid>
                <a:gridCol w="2194560"/>
                <a:gridCol w="4480560"/>
                <a:gridCol w="4416552"/>
              </a:tblGrid>
              <a:tr h="0">
                <a:tc>
                  <a:txBody>
                    <a:bodyPr/>
                    <a:lstStyle/>
                    <a:p>
                      <a:pPr indent="0" marL="0">
                        <a:buNone/>
                      </a:pPr>
                      <a:r>
                        <a:rPr lang="en-US" sz="1300" b="1" dirty="0">
                          <a:solidFill>
                            <a:schemeClr val="bg1"/>
                          </a:solidFill>
                        </a:rPr>
                        <a:t>Risk</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Why it matters</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Mitigation</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tx2"/>
                    </a:solidFill>
                  </a:tcPr>
                </a:tc>
              </a:tr>
              <a:tr h="0">
                <a:tc>
                  <a:txBody>
                    <a:bodyPr/>
                    <a:lstStyle/>
                    <a:p>
                      <a:pPr indent="0" marL="0">
                        <a:buNone/>
                      </a:pPr>
                      <a:r>
                        <a:rPr lang="en-US" sz="1300" b="1" dirty="0">
                          <a:solidFill>
                            <a:schemeClr val="tx1"/>
                          </a:solidFill>
                        </a:rPr>
                        <a:t>Quota block continues</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Blocked at about 31,059 live documents; the deletion fix is not deployed</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Backup, deploy the fix, run one archive pass and one delete pass, check the counts</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2"/>
                    </a:solidFill>
                  </a:tcPr>
                </a:tc>
              </a:tr>
              <a:tr h="0">
                <a:tc>
                  <a:txBody>
                    <a:bodyPr/>
                    <a:lstStyle/>
                    <a:p>
                      <a:pPr indent="0" marL="0">
                        <a:buNone/>
                      </a:pPr>
                      <a:r>
                        <a:rPr lang="en-US" sz="1300" b="1" dirty="0">
                          <a:solidFill>
                            <a:schemeClr val="tx1"/>
                          </a:solidFill>
                        </a:rPr>
                        <a:t>Quota and tier unknown</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The assumed 50,000-document tier was contradicted</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Confirm plan, limit and price on the Sanity billing page</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1"/>
                    </a:solidFill>
                  </a:tcPr>
                </a:tc>
              </a:tr>
              <a:tr h="0">
                <a:tc>
                  <a:txBody>
                    <a:bodyPr/>
                    <a:lstStyle/>
                    <a:p>
                      <a:pPr indent="0" marL="0">
                        <a:buNone/>
                      </a:pPr>
                      <a:r>
                        <a:rPr lang="en-US" sz="1300" b="1" dirty="0">
                          <a:solidFill>
                            <a:schemeClr val="tx1"/>
                          </a:solidFill>
                        </a:rPr>
                        <a:t>Reference integrity</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MongoDB does not enforce references like Sanity</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Mongoose validation; verify every reference on staging</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2"/>
                    </a:solidFill>
                  </a:tcPr>
                </a:tc>
              </a:tr>
              <a:tr h="0">
                <a:tc>
                  <a:txBody>
                    <a:bodyPr/>
                    <a:lstStyle/>
                    <a:p>
                      <a:pPr indent="0" marL="0">
                        <a:buNone/>
                      </a:pPr>
                      <a:r>
                        <a:rPr lang="en-US" sz="1300" b="1" dirty="0">
                          <a:solidFill>
                            <a:schemeClr val="tx1"/>
                          </a:solidFill>
                        </a:rPr>
                        <a:t>Slower queries</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GROQ joins become $lookup pipelines that need indexes</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Index by date, site and bin; test heavy routes on real-sized data</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1"/>
                    </a:solidFill>
                  </a:tcPr>
                </a:tc>
              </a:tr>
              <a:tr h="0">
                <a:tc>
                  <a:txBody>
                    <a:bodyPr/>
                    <a:lstStyle/>
                    <a:p>
                      <a:pPr indent="0" marL="0">
                        <a:buNone/>
                      </a:pPr>
                      <a:r>
                        <a:rPr lang="en-US" sz="1300" b="1" dirty="0">
                          <a:solidFill>
                            <a:schemeClr val="tx1"/>
                          </a:solidFill>
                        </a:rPr>
                        <a:t>Images and Studio</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Image transforms and Studio use are unconfirmed</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Check each attachment; ask the client directly</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2"/>
                    </a:solidFill>
                  </a:tcPr>
                </a:tc>
              </a:tr>
              <a:tr h="0">
                <a:tc>
                  <a:txBody>
                    <a:bodyPr/>
                    <a:lstStyle/>
                    <a:p>
                      <a:pPr indent="0" marL="0">
                        <a:buNone/>
                      </a:pPr>
                      <a:r>
                        <a:rPr lang="en-US" sz="1300" b="1" dirty="0">
                          <a:solidFill>
                            <a:schemeClr val="tx1"/>
                          </a:solidFill>
                        </a:rPr>
                        <a:t>Cutover</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Writes during the switch could be lost or duplicated</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Agree downtime and rollback windows; keep Sanity read-only</a:t>
                      </a:r>
                      <a:endParaRPr lang="en-US" sz="1300" dirty="0"/>
                    </a:p>
                  </a:txBody>
                  <a:tcPr marL="109728" marR="109728" marT="64008" marB="64008" anchor="ctr">
                    <a:lnL w="9525" cap="flat" cmpd="sng" algn="ctr">
                      <a:solidFill>
                        <a:srgbClr val="D5E1DB"/>
                      </a:solidFill>
                      <a:prstDash val="solid"/>
                      <a:round/>
                      <a:headEnd type="none" w="med" len="med"/>
                      <a:tailEnd type="none" w="med" len="med"/>
                    </a:lnL>
                    <a:lnR w="9525" cap="flat" cmpd="sng" algn="ctr">
                      <a:solidFill>
                        <a:srgbClr val="D5E1DB"/>
                      </a:solidFill>
                      <a:prstDash val="solid"/>
                      <a:round/>
                      <a:headEnd type="none" w="med" len="med"/>
                      <a:tailEnd type="none" w="med" len="med"/>
                    </a:lnR>
                    <a:lnT w="9525" cap="flat" cmpd="sng" algn="ctr">
                      <a:solidFill>
                        <a:srgbClr val="D5E1DB"/>
                      </a:solidFill>
                      <a:prstDash val="solid"/>
                      <a:round/>
                      <a:headEnd type="none" w="med" len="med"/>
                      <a:tailEnd type="none" w="med" len="med"/>
                    </a:lnT>
                    <a:lnB w="9525" cap="flat" cmpd="sng" algn="ctr">
                      <a:solidFill>
                        <a:srgbClr val="D5E1DB"/>
                      </a:solidFill>
                      <a:prstDash val="solid"/>
                      <a:round/>
                      <a:headEnd type="none" w="med" len="med"/>
                      <a:tailEnd type="none" w="med" len="med"/>
                    </a:lnB>
                    <a:solidFill>
                      <a:schemeClr val="bg1"/>
                    </a:solidFill>
                  </a:tcPr>
                </a:tc>
              </a:tr>
            </a:tbl>
          </a:graphicData>
        </a:graphic>
      </p:graphicFrame>
      <p:sp>
        <p:nvSpPr>
          <p:cNvPr id="5" name="Footnote"/>
          <p:cNvSpPr txBox="1"/>
          <p:nvPr/>
        </p:nvSpPr>
        <p:spPr>
          <a:xfrm>
            <a:off x="548640" y="5852160"/>
            <a:ext cx="11091672" cy="411480"/>
          </a:xfrm>
          <a:prstGeom prst="rect">
            <a:avLst/>
          </a:prstGeom>
          <a:noFill/>
          <a:ln/>
        </p:spPr>
        <p:txBody>
          <a:bodyPr wrap="square" lIns="0" tIns="0" rIns="0" bIns="0" rtlCol="0" anchor="t"/>
          <a:lstStyle/>
          <a:p>
            <a:pPr indent="0" marL="0">
              <a:buNone/>
            </a:pPr>
            <a:r>
              <a:rPr lang="en-US" sz="1200" dirty="0">
                <a:solidFill>
                  <a:schemeClr val="accent5"/>
                </a:solidFill>
              </a:rPr>
              <a:t>Also open: the plan's phase hours (92–129) differ from the quote's workstreams (96–139), and retention is 90 days locally against a 60-day code default.</a:t>
            </a:r>
            <a:endParaRPr lang="en-US" sz="12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2"/>
                </a:solidFill>
              </a:rPr>
              <a:t>Recommendation and next steps</a:t>
            </a:r>
            <a:endParaRPr lang="en-US" sz="3600" dirty="0"/>
          </a:p>
        </p:txBody>
      </p:sp>
      <p:sp>
        <p:nvSpPr>
          <p:cNvPr id="3" name="Lede"/>
          <p:cNvSpPr txBox="1"/>
          <p:nvPr/>
        </p:nvSpPr>
        <p:spPr>
          <a:xfrm>
            <a:off x="548640" y="1188720"/>
            <a:ext cx="11091672" cy="594360"/>
          </a:xfrm>
          <a:prstGeom prst="rect">
            <a:avLst/>
          </a:prstGeom>
          <a:noFill/>
          <a:ln/>
        </p:spPr>
        <p:txBody>
          <a:bodyPr wrap="square" lIns="0" tIns="0" rIns="0" bIns="0" rtlCol="0" anchor="t"/>
          <a:lstStyle/>
          <a:p>
            <a:pPr indent="0" marL="0">
              <a:buNone/>
            </a:pPr>
            <a:r>
              <a:rPr lang="en-US" sz="1600" dirty="0">
                <a:solidFill>
                  <a:schemeClr val="tx1"/>
                </a:solidFill>
              </a:rPr>
              <a:t>Proceed at the quoted SZL 20,000, and choose the production host after Phase 1, once real data volumes are known.</a:t>
            </a:r>
            <a:endParaRPr lang="en-US" sz="1600" dirty="0"/>
          </a:p>
        </p:txBody>
      </p:sp>
      <p:sp>
        <p:nvSpPr>
          <p:cNvPr id="4" name="Step 1"/>
          <p:cNvSpPr/>
          <p:nvPr/>
        </p:nvSpPr>
        <p:spPr>
          <a:xfrm>
            <a:off x="548640" y="1920240"/>
            <a:ext cx="11091672" cy="548640"/>
          </a:xfrm>
          <a:prstGeom prst="roundRect">
            <a:avLst>
              <a:gd name="adj" fmla="val 16667"/>
            </a:avLst>
          </a:prstGeom>
          <a:solidFill>
            <a:schemeClr val="bg2"/>
          </a:solidFill>
          <a:ln/>
        </p:spPr>
      </p:sp>
      <p:sp>
        <p:nvSpPr>
          <p:cNvPr id="5" name="Step 1 circle"/>
          <p:cNvSpPr/>
          <p:nvPr/>
        </p:nvSpPr>
        <p:spPr>
          <a:xfrm>
            <a:off x="658368" y="1993392"/>
            <a:ext cx="402336" cy="402336"/>
          </a:xfrm>
          <a:prstGeom prst="ellipse">
            <a:avLst/>
          </a:prstGeom>
          <a:solidFill>
            <a:schemeClr val="accent1"/>
          </a:solidFill>
          <a:ln/>
        </p:spPr>
      </p:sp>
      <p:sp>
        <p:nvSpPr>
          <p:cNvPr id="6" name="Step 1 number"/>
          <p:cNvSpPr txBox="1"/>
          <p:nvPr/>
        </p:nvSpPr>
        <p:spPr>
          <a:xfrm>
            <a:off x="658368" y="1993392"/>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Step 1 text"/>
          <p:cNvSpPr txBox="1"/>
          <p:nvPr/>
        </p:nvSpPr>
        <p:spPr>
          <a:xfrm>
            <a:off x="1280160" y="1920240"/>
            <a:ext cx="10241280" cy="548640"/>
          </a:xfrm>
          <a:prstGeom prst="rect">
            <a:avLst/>
          </a:prstGeom>
          <a:noFill/>
          <a:ln/>
        </p:spPr>
        <p:txBody>
          <a:bodyPr wrap="square" lIns="0" tIns="0" rIns="0" bIns="0" rtlCol="0" anchor="ctr"/>
          <a:lstStyle/>
          <a:p>
            <a:pPr indent="0" marL="0">
              <a:buNone/>
            </a:pPr>
            <a:r>
              <a:rPr lang="en-US" sz="1400" b="1" dirty="0">
                <a:solidFill>
                  <a:schemeClr val="tx1"/>
                </a:solidFill>
              </a:rPr>
              <a:t>Unblock Sanity now. </a:t>
            </a:r>
            <a:pPr indent="0" marL="0">
              <a:buNone/>
            </a:pPr>
            <a:r>
              <a:rPr lang="en-US" sz="1400" dirty="0">
                <a:solidFill>
                  <a:schemeClr val="tx1"/>
                </a:solidFill>
              </a:rPr>
              <a:t>Back up, deploy the retention fix, run one archive and one delete pass, confirm the quota.</a:t>
            </a:r>
            <a:endParaRPr lang="en-US" sz="1400" dirty="0"/>
          </a:p>
        </p:txBody>
      </p:sp>
      <p:sp>
        <p:nvSpPr>
          <p:cNvPr id="8" name="Step 2"/>
          <p:cNvSpPr/>
          <p:nvPr/>
        </p:nvSpPr>
        <p:spPr>
          <a:xfrm>
            <a:off x="548640" y="2542032"/>
            <a:ext cx="11091672" cy="548640"/>
          </a:xfrm>
          <a:prstGeom prst="roundRect">
            <a:avLst>
              <a:gd name="adj" fmla="val 16667"/>
            </a:avLst>
          </a:prstGeom>
          <a:solidFill>
            <a:schemeClr val="bg2"/>
          </a:solidFill>
          <a:ln/>
        </p:spPr>
      </p:sp>
      <p:sp>
        <p:nvSpPr>
          <p:cNvPr id="9" name="Step 2 circle"/>
          <p:cNvSpPr/>
          <p:nvPr/>
        </p:nvSpPr>
        <p:spPr>
          <a:xfrm>
            <a:off x="658368" y="2615184"/>
            <a:ext cx="402336" cy="402336"/>
          </a:xfrm>
          <a:prstGeom prst="ellipse">
            <a:avLst/>
          </a:prstGeom>
          <a:solidFill>
            <a:schemeClr val="accent1"/>
          </a:solidFill>
          <a:ln/>
        </p:spPr>
      </p:sp>
      <p:sp>
        <p:nvSpPr>
          <p:cNvPr id="10" name="Step 2 number"/>
          <p:cNvSpPr txBox="1"/>
          <p:nvPr/>
        </p:nvSpPr>
        <p:spPr>
          <a:xfrm>
            <a:off x="658368" y="2615184"/>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Step 2 text"/>
          <p:cNvSpPr txBox="1"/>
          <p:nvPr/>
        </p:nvSpPr>
        <p:spPr>
          <a:xfrm>
            <a:off x="1280160" y="2542032"/>
            <a:ext cx="10241280" cy="548640"/>
          </a:xfrm>
          <a:prstGeom prst="rect">
            <a:avLst/>
          </a:prstGeom>
          <a:noFill/>
          <a:ln/>
        </p:spPr>
        <p:txBody>
          <a:bodyPr wrap="square" lIns="0" tIns="0" rIns="0" bIns="0" rtlCol="0" anchor="ctr"/>
          <a:lstStyle/>
          <a:p>
            <a:pPr indent="0" marL="0">
              <a:buNone/>
            </a:pPr>
            <a:r>
              <a:rPr lang="en-US" sz="1400" b="1" dirty="0">
                <a:solidFill>
                  <a:schemeClr val="tx1"/>
                </a:solidFill>
              </a:rPr>
              <a:t>Sign the quote and pay the SZL 10,000 deposit </a:t>
            </a:r>
            <a:pPr indent="0" marL="0">
              <a:buNone/>
            </a:pPr>
            <a:r>
              <a:rPr lang="en-US" sz="1400" dirty="0">
                <a:solidFill>
                  <a:schemeClr val="tx1"/>
                </a:solidFill>
              </a:rPr>
              <a:t>so Phase 1 can start.</a:t>
            </a:r>
            <a:endParaRPr lang="en-US" sz="1400" dirty="0"/>
          </a:p>
        </p:txBody>
      </p:sp>
      <p:sp>
        <p:nvSpPr>
          <p:cNvPr id="12" name="Step 3"/>
          <p:cNvSpPr/>
          <p:nvPr/>
        </p:nvSpPr>
        <p:spPr>
          <a:xfrm>
            <a:off x="548640" y="3163824"/>
            <a:ext cx="11091672" cy="548640"/>
          </a:xfrm>
          <a:prstGeom prst="roundRect">
            <a:avLst>
              <a:gd name="adj" fmla="val 16667"/>
            </a:avLst>
          </a:prstGeom>
          <a:solidFill>
            <a:schemeClr val="bg2"/>
          </a:solidFill>
          <a:ln/>
        </p:spPr>
      </p:sp>
      <p:sp>
        <p:nvSpPr>
          <p:cNvPr id="13" name="Step 3 circle"/>
          <p:cNvSpPr/>
          <p:nvPr/>
        </p:nvSpPr>
        <p:spPr>
          <a:xfrm>
            <a:off x="658368" y="3236976"/>
            <a:ext cx="402336" cy="402336"/>
          </a:xfrm>
          <a:prstGeom prst="ellipse">
            <a:avLst/>
          </a:prstGeom>
          <a:solidFill>
            <a:schemeClr val="accent1"/>
          </a:solidFill>
          <a:ln/>
        </p:spPr>
      </p:sp>
      <p:sp>
        <p:nvSpPr>
          <p:cNvPr id="14" name="Step 3 number"/>
          <p:cNvSpPr txBox="1"/>
          <p:nvPr/>
        </p:nvSpPr>
        <p:spPr>
          <a:xfrm>
            <a:off x="658368" y="3236976"/>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Step 3 text"/>
          <p:cNvSpPr txBox="1"/>
          <p:nvPr/>
        </p:nvSpPr>
        <p:spPr>
          <a:xfrm>
            <a:off x="1280160" y="3163824"/>
            <a:ext cx="10241280" cy="548640"/>
          </a:xfrm>
          <a:prstGeom prst="rect">
            <a:avLst/>
          </a:prstGeom>
          <a:noFill/>
          <a:ln/>
        </p:spPr>
        <p:txBody>
          <a:bodyPr wrap="square" lIns="0" tIns="0" rIns="0" bIns="0" rtlCol="0" anchor="ctr"/>
          <a:lstStyle/>
          <a:p>
            <a:pPr indent="0" marL="0">
              <a:buNone/>
            </a:pPr>
            <a:r>
              <a:rPr lang="en-US" sz="1400" b="1" dirty="0">
                <a:solidFill>
                  <a:schemeClr val="tx1"/>
                </a:solidFill>
              </a:rPr>
              <a:t>Stage on a managed or rented MongoDB </a:t>
            </a:r>
            <a:pPr indent="0" marL="0">
              <a:buNone/>
            </a:pPr>
            <a:r>
              <a:rPr lang="en-US" sz="1400" dirty="0">
                <a:solidFill>
                  <a:schemeClr val="tx1"/>
                </a:solidFill>
              </a:rPr>
              <a:t>during Phases 1 and 2, with no dependence on the office.</a:t>
            </a:r>
            <a:endParaRPr lang="en-US" sz="1400" dirty="0"/>
          </a:p>
        </p:txBody>
      </p:sp>
      <p:sp>
        <p:nvSpPr>
          <p:cNvPr id="16" name="Step 4"/>
          <p:cNvSpPr/>
          <p:nvPr/>
        </p:nvSpPr>
        <p:spPr>
          <a:xfrm>
            <a:off x="548640" y="3785616"/>
            <a:ext cx="11091672" cy="548640"/>
          </a:xfrm>
          <a:prstGeom prst="roundRect">
            <a:avLst>
              <a:gd name="adj" fmla="val 16667"/>
            </a:avLst>
          </a:prstGeom>
          <a:solidFill>
            <a:schemeClr val="bg2"/>
          </a:solidFill>
          <a:ln/>
        </p:spPr>
      </p:sp>
      <p:sp>
        <p:nvSpPr>
          <p:cNvPr id="17" name="Step 4 circle"/>
          <p:cNvSpPr/>
          <p:nvPr/>
        </p:nvSpPr>
        <p:spPr>
          <a:xfrm>
            <a:off x="658368" y="3858768"/>
            <a:ext cx="402336" cy="402336"/>
          </a:xfrm>
          <a:prstGeom prst="ellipse">
            <a:avLst/>
          </a:prstGeom>
          <a:solidFill>
            <a:schemeClr val="accent1"/>
          </a:solidFill>
          <a:ln/>
        </p:spPr>
      </p:sp>
      <p:sp>
        <p:nvSpPr>
          <p:cNvPr id="18" name="Step 4 number"/>
          <p:cNvSpPr txBox="1"/>
          <p:nvPr/>
        </p:nvSpPr>
        <p:spPr>
          <a:xfrm>
            <a:off x="658368" y="3858768"/>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Step 4 text"/>
          <p:cNvSpPr txBox="1"/>
          <p:nvPr/>
        </p:nvSpPr>
        <p:spPr>
          <a:xfrm>
            <a:off x="1280160" y="3785616"/>
            <a:ext cx="10241280" cy="548640"/>
          </a:xfrm>
          <a:prstGeom prst="rect">
            <a:avLst/>
          </a:prstGeom>
          <a:noFill/>
          <a:ln/>
        </p:spPr>
        <p:txBody>
          <a:bodyPr wrap="square" lIns="0" tIns="0" rIns="0" bIns="0" rtlCol="0" anchor="ctr"/>
          <a:lstStyle/>
          <a:p>
            <a:pPr indent="0" marL="0">
              <a:buNone/>
            </a:pPr>
            <a:r>
              <a:rPr lang="en-US" sz="1400" b="1" dirty="0">
                <a:solidFill>
                  <a:schemeClr val="tx1"/>
                </a:solidFill>
              </a:rPr>
              <a:t>Choose the production host after Phase 1. </a:t>
            </a:r>
            <a:pPr indent="0" marL="0">
              <a:buNone/>
            </a:pPr>
            <a:r>
              <a:rPr lang="en-US" sz="1400" dirty="0">
                <a:solidFill>
                  <a:schemeClr val="tx1"/>
                </a:solidFill>
              </a:rPr>
              <a:t>Atlas by default; an office server only if all six conditions are met.</a:t>
            </a:r>
            <a:endParaRPr lang="en-US" sz="1400" dirty="0"/>
          </a:p>
        </p:txBody>
      </p:sp>
      <p:sp>
        <p:nvSpPr>
          <p:cNvPr id="20" name="Step 5"/>
          <p:cNvSpPr/>
          <p:nvPr/>
        </p:nvSpPr>
        <p:spPr>
          <a:xfrm>
            <a:off x="548640" y="4407408"/>
            <a:ext cx="11091672" cy="548640"/>
          </a:xfrm>
          <a:prstGeom prst="roundRect">
            <a:avLst>
              <a:gd name="adj" fmla="val 16667"/>
            </a:avLst>
          </a:prstGeom>
          <a:solidFill>
            <a:schemeClr val="bg2"/>
          </a:solidFill>
          <a:ln/>
        </p:spPr>
      </p:sp>
      <p:sp>
        <p:nvSpPr>
          <p:cNvPr id="21" name="Step 5 circle"/>
          <p:cNvSpPr/>
          <p:nvPr/>
        </p:nvSpPr>
        <p:spPr>
          <a:xfrm>
            <a:off x="658368" y="4480560"/>
            <a:ext cx="402336" cy="402336"/>
          </a:xfrm>
          <a:prstGeom prst="ellipse">
            <a:avLst/>
          </a:prstGeom>
          <a:solidFill>
            <a:schemeClr val="accent1"/>
          </a:solidFill>
          <a:ln/>
        </p:spPr>
      </p:sp>
      <p:sp>
        <p:nvSpPr>
          <p:cNvPr id="22" name="Step 5 number"/>
          <p:cNvSpPr txBox="1"/>
          <p:nvPr/>
        </p:nvSpPr>
        <p:spPr>
          <a:xfrm>
            <a:off x="658368" y="4480560"/>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3" name="Step 5 text"/>
          <p:cNvSpPr txBox="1"/>
          <p:nvPr/>
        </p:nvSpPr>
        <p:spPr>
          <a:xfrm>
            <a:off x="1280160" y="4407408"/>
            <a:ext cx="10241280" cy="548640"/>
          </a:xfrm>
          <a:prstGeom prst="rect">
            <a:avLst/>
          </a:prstGeom>
          <a:noFill/>
          <a:ln/>
        </p:spPr>
        <p:txBody>
          <a:bodyPr wrap="square" lIns="0" tIns="0" rIns="0" bIns="0" rtlCol="0" anchor="ctr"/>
          <a:lstStyle/>
          <a:p>
            <a:pPr indent="0" marL="0">
              <a:buNone/>
            </a:pPr>
            <a:r>
              <a:rPr lang="en-US" sz="1400" b="1" dirty="0">
                <a:solidFill>
                  <a:schemeClr val="tx1"/>
                </a:solidFill>
              </a:rPr>
              <a:t>If self-hosting, add a costed line </a:t>
            </a:r>
            <a:pPr indent="0" marL="0">
              <a:buNone/>
            </a:pPr>
            <a:r>
              <a:rPr lang="en-US" sz="1400" dirty="0">
                <a:solidFill>
                  <a:schemeClr val="tx1"/>
                </a:solidFill>
              </a:rPr>
              <a:t>for setup, hardening, backups and monitoring.</a:t>
            </a:r>
            <a:endParaRPr lang="en-US" sz="1400" dirty="0"/>
          </a:p>
        </p:txBody>
      </p:sp>
      <p:sp>
        <p:nvSpPr>
          <p:cNvPr id="24" name="Step 6"/>
          <p:cNvSpPr/>
          <p:nvPr/>
        </p:nvSpPr>
        <p:spPr>
          <a:xfrm>
            <a:off x="548640" y="5029200"/>
            <a:ext cx="11091672" cy="548640"/>
          </a:xfrm>
          <a:prstGeom prst="roundRect">
            <a:avLst>
              <a:gd name="adj" fmla="val 16667"/>
            </a:avLst>
          </a:prstGeom>
          <a:solidFill>
            <a:schemeClr val="bg2"/>
          </a:solidFill>
          <a:ln/>
        </p:spPr>
      </p:sp>
      <p:sp>
        <p:nvSpPr>
          <p:cNvPr id="25" name="Step 6 circle"/>
          <p:cNvSpPr/>
          <p:nvPr/>
        </p:nvSpPr>
        <p:spPr>
          <a:xfrm>
            <a:off x="658368" y="5102352"/>
            <a:ext cx="402336" cy="402336"/>
          </a:xfrm>
          <a:prstGeom prst="ellipse">
            <a:avLst/>
          </a:prstGeom>
          <a:solidFill>
            <a:schemeClr val="accent1"/>
          </a:solidFill>
          <a:ln/>
        </p:spPr>
      </p:sp>
      <p:sp>
        <p:nvSpPr>
          <p:cNvPr id="26" name="Step 6 number"/>
          <p:cNvSpPr txBox="1"/>
          <p:nvPr/>
        </p:nvSpPr>
        <p:spPr>
          <a:xfrm>
            <a:off x="658368" y="5102352"/>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7" name="Step 6 text"/>
          <p:cNvSpPr txBox="1"/>
          <p:nvPr/>
        </p:nvSpPr>
        <p:spPr>
          <a:xfrm>
            <a:off x="1280160" y="5029200"/>
            <a:ext cx="10241280" cy="548640"/>
          </a:xfrm>
          <a:prstGeom prst="rect">
            <a:avLst/>
          </a:prstGeom>
          <a:noFill/>
          <a:ln/>
        </p:spPr>
        <p:txBody>
          <a:bodyPr wrap="square" lIns="0" tIns="0" rIns="0" bIns="0" rtlCol="0" anchor="ctr"/>
          <a:lstStyle/>
          <a:p>
            <a:pPr indent="0" marL="0">
              <a:buNone/>
            </a:pPr>
            <a:r>
              <a:rPr lang="en-US" sz="1400" b="1" dirty="0">
                <a:solidFill>
                  <a:schemeClr val="tx1"/>
                </a:solidFill>
              </a:rPr>
              <a:t>Reconcile the hours and put the open questions to the client </a:t>
            </a:r>
            <a:pPr indent="0" marL="0">
              <a:buNone/>
            </a:pPr>
            <a:r>
              <a:rPr lang="en-US" sz="1400" dirty="0">
                <a:solidFill>
                  <a:schemeClr val="tx1"/>
                </a:solidFill>
              </a:rPr>
              <a:t>before Phase 1 starts.</a:t>
            </a:r>
            <a:endParaRPr lang="en-US" sz="1400" dirty="0"/>
          </a:p>
        </p:txBody>
      </p:sp>
      <p:sp>
        <p:nvSpPr>
          <p:cNvPr id="28" name="Step 7"/>
          <p:cNvSpPr/>
          <p:nvPr/>
        </p:nvSpPr>
        <p:spPr>
          <a:xfrm>
            <a:off x="548640" y="5650992"/>
            <a:ext cx="11091672" cy="548640"/>
          </a:xfrm>
          <a:prstGeom prst="roundRect">
            <a:avLst>
              <a:gd name="adj" fmla="val 16667"/>
            </a:avLst>
          </a:prstGeom>
          <a:solidFill>
            <a:schemeClr val="bg2"/>
          </a:solidFill>
          <a:ln/>
        </p:spPr>
      </p:sp>
      <p:sp>
        <p:nvSpPr>
          <p:cNvPr id="29" name="Step 7 circle"/>
          <p:cNvSpPr/>
          <p:nvPr/>
        </p:nvSpPr>
        <p:spPr>
          <a:xfrm>
            <a:off x="658368" y="5724144"/>
            <a:ext cx="402336" cy="402336"/>
          </a:xfrm>
          <a:prstGeom prst="ellipse">
            <a:avLst/>
          </a:prstGeom>
          <a:solidFill>
            <a:schemeClr val="accent1"/>
          </a:solidFill>
          <a:ln/>
        </p:spPr>
      </p:sp>
      <p:sp>
        <p:nvSpPr>
          <p:cNvPr id="30" name="Step 7 number"/>
          <p:cNvSpPr txBox="1"/>
          <p:nvPr/>
        </p:nvSpPr>
        <p:spPr>
          <a:xfrm>
            <a:off x="658368" y="5724144"/>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31" name="Step 7 text"/>
          <p:cNvSpPr txBox="1"/>
          <p:nvPr/>
        </p:nvSpPr>
        <p:spPr>
          <a:xfrm>
            <a:off x="1280160" y="5650992"/>
            <a:ext cx="10241280" cy="548640"/>
          </a:xfrm>
          <a:prstGeom prst="rect">
            <a:avLst/>
          </a:prstGeom>
          <a:noFill/>
          <a:ln/>
        </p:spPr>
        <p:txBody>
          <a:bodyPr wrap="square" lIns="0" tIns="0" rIns="0" bIns="0" rtlCol="0" anchor="ctr"/>
          <a:lstStyle/>
          <a:p>
            <a:pPr indent="0" marL="0">
              <a:buNone/>
            </a:pPr>
            <a:r>
              <a:rPr lang="en-US" sz="1400" b="1" dirty="0">
                <a:solidFill>
                  <a:schemeClr val="tx1"/>
                </a:solidFill>
              </a:rPr>
              <a:t>Measure before and after: </a:t>
            </a:r>
            <a:pPr indent="0" marL="0">
              <a:buNone/>
            </a:pPr>
            <a:r>
              <a:rPr lang="en-US" sz="1400" dirty="0">
                <a:solidFill>
                  <a:schemeClr val="tx1"/>
                </a:solidFill>
              </a:rPr>
              <a:t>weekly document growth by type, and one endpoint's latency.</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bg1"/>
                </a:solidFill>
              </a:rPr>
              <a:t>What we need from the client</a:t>
            </a:r>
            <a:endParaRPr lang="en-US" sz="3600" dirty="0"/>
          </a:p>
        </p:txBody>
      </p:sp>
      <p:sp>
        <p:nvSpPr>
          <p:cNvPr id="3" name="Lede"/>
          <p:cNvSpPr txBox="1"/>
          <p:nvPr/>
        </p:nvSpPr>
        <p:spPr>
          <a:xfrm>
            <a:off x="548640" y="1188720"/>
            <a:ext cx="11091672" cy="457200"/>
          </a:xfrm>
          <a:prstGeom prst="rect">
            <a:avLst/>
          </a:prstGeom>
          <a:noFill/>
          <a:ln/>
        </p:spPr>
        <p:txBody>
          <a:bodyPr wrap="square" lIns="0" tIns="0" rIns="0" bIns="0" rtlCol="0" anchor="t"/>
          <a:lstStyle/>
          <a:p>
            <a:pPr indent="0" marL="0">
              <a:buNone/>
            </a:pPr>
            <a:r>
              <a:rPr lang="en-US" sz="1600" dirty="0">
                <a:solidFill>
                  <a:schemeClr val="accent6"/>
                </a:solidFill>
              </a:rPr>
              <a:t>Six answers settle the hosting choice and unblock Phase 1.</a:t>
            </a:r>
            <a:endParaRPr lang="en-US" sz="1600" dirty="0"/>
          </a:p>
        </p:txBody>
      </p:sp>
      <p:sp>
        <p:nvSpPr>
          <p:cNvPr id="4" name="Question 1 card"/>
          <p:cNvSpPr/>
          <p:nvPr/>
        </p:nvSpPr>
        <p:spPr>
          <a:xfrm>
            <a:off x="548640" y="2011680"/>
            <a:ext cx="5422392" cy="1188720"/>
          </a:xfrm>
          <a:prstGeom prst="roundRect">
            <a:avLst>
              <a:gd name="adj" fmla="val 7692"/>
            </a:avLst>
          </a:prstGeom>
          <a:solidFill>
            <a:schemeClr val="accent1"/>
          </a:solidFill>
          <a:ln/>
        </p:spPr>
      </p:sp>
      <p:sp>
        <p:nvSpPr>
          <p:cNvPr id="5" name="Question 1 number"/>
          <p:cNvSpPr txBox="1"/>
          <p:nvPr/>
        </p:nvSpPr>
        <p:spPr>
          <a:xfrm>
            <a:off x="822960" y="2011680"/>
            <a:ext cx="548640" cy="1188720"/>
          </a:xfrm>
          <a:prstGeom prst="rect">
            <a:avLst/>
          </a:prstGeom>
          <a:noFill/>
          <a:ln/>
        </p:spPr>
        <p:txBody>
          <a:bodyPr wrap="square" lIns="0" tIns="0" rIns="0" bIns="0" rtlCol="0" anchor="ctr"/>
          <a:lstStyle/>
          <a:p>
            <a:pPr indent="0" marL="0">
              <a:buNone/>
            </a:pPr>
            <a:r>
              <a:rPr lang="en-US" sz="3200" b="1" dirty="0">
                <a:solidFill>
                  <a:schemeClr val="accent6"/>
                </a:solidFill>
                <a:latin typeface="+mj-lt" pitchFamily="34" charset="0"/>
                <a:ea typeface="+mj-lt" pitchFamily="34" charset="-122"/>
                <a:cs typeface="+mj-lt" pitchFamily="34" charset="-120"/>
              </a:rPr>
              <a:t>1</a:t>
            </a:r>
            <a:endParaRPr lang="en-US" sz="3200" dirty="0"/>
          </a:p>
        </p:txBody>
      </p:sp>
      <p:sp>
        <p:nvSpPr>
          <p:cNvPr id="6" name="Question 1 text"/>
          <p:cNvSpPr txBox="1"/>
          <p:nvPr/>
        </p:nvSpPr>
        <p:spPr>
          <a:xfrm>
            <a:off x="1463040" y="2011680"/>
            <a:ext cx="4297680" cy="1188720"/>
          </a:xfrm>
          <a:prstGeom prst="rect">
            <a:avLst/>
          </a:prstGeom>
          <a:noFill/>
          <a:ln/>
        </p:spPr>
        <p:txBody>
          <a:bodyPr wrap="square" lIns="0" tIns="0" rIns="0" bIns="0" rtlCol="0" anchor="ctr"/>
          <a:lstStyle/>
          <a:p>
            <a:pPr indent="0" marL="0">
              <a:buNone/>
            </a:pPr>
            <a:r>
              <a:rPr lang="en-US" sz="1600" dirty="0">
                <a:solidFill>
                  <a:schemeClr val="bg1"/>
                </a:solidFill>
              </a:rPr>
              <a:t>Does any attachment depend on Sanity's image CDN transforms?</a:t>
            </a:r>
            <a:endParaRPr lang="en-US" sz="1600" dirty="0"/>
          </a:p>
        </p:txBody>
      </p:sp>
      <p:sp>
        <p:nvSpPr>
          <p:cNvPr id="7" name="Question 2 card"/>
          <p:cNvSpPr/>
          <p:nvPr/>
        </p:nvSpPr>
        <p:spPr>
          <a:xfrm>
            <a:off x="6217920" y="2011680"/>
            <a:ext cx="5422392" cy="1188720"/>
          </a:xfrm>
          <a:prstGeom prst="roundRect">
            <a:avLst>
              <a:gd name="adj" fmla="val 7692"/>
            </a:avLst>
          </a:prstGeom>
          <a:solidFill>
            <a:schemeClr val="accent1"/>
          </a:solidFill>
          <a:ln/>
        </p:spPr>
      </p:sp>
      <p:sp>
        <p:nvSpPr>
          <p:cNvPr id="8" name="Question 2 number"/>
          <p:cNvSpPr txBox="1"/>
          <p:nvPr/>
        </p:nvSpPr>
        <p:spPr>
          <a:xfrm>
            <a:off x="6492240" y="2011680"/>
            <a:ext cx="548640" cy="1188720"/>
          </a:xfrm>
          <a:prstGeom prst="rect">
            <a:avLst/>
          </a:prstGeom>
          <a:noFill/>
          <a:ln/>
        </p:spPr>
        <p:txBody>
          <a:bodyPr wrap="square" lIns="0" tIns="0" rIns="0" bIns="0" rtlCol="0" anchor="ctr"/>
          <a:lstStyle/>
          <a:p>
            <a:pPr indent="0" marL="0">
              <a:buNone/>
            </a:pPr>
            <a:r>
              <a:rPr lang="en-US" sz="3200" b="1" dirty="0">
                <a:solidFill>
                  <a:schemeClr val="accent6"/>
                </a:solidFill>
                <a:latin typeface="+mj-lt" pitchFamily="34" charset="0"/>
                <a:ea typeface="+mj-lt" pitchFamily="34" charset="-122"/>
                <a:cs typeface="+mj-lt" pitchFamily="34" charset="-120"/>
              </a:rPr>
              <a:t>2</a:t>
            </a:r>
            <a:endParaRPr lang="en-US" sz="3200" dirty="0"/>
          </a:p>
        </p:txBody>
      </p:sp>
      <p:sp>
        <p:nvSpPr>
          <p:cNvPr id="9" name="Question 2 text"/>
          <p:cNvSpPr txBox="1"/>
          <p:nvPr/>
        </p:nvSpPr>
        <p:spPr>
          <a:xfrm>
            <a:off x="7132320" y="2011680"/>
            <a:ext cx="4297680" cy="1188720"/>
          </a:xfrm>
          <a:prstGeom prst="rect">
            <a:avLst/>
          </a:prstGeom>
          <a:noFill/>
          <a:ln/>
        </p:spPr>
        <p:txBody>
          <a:bodyPr wrap="square" lIns="0" tIns="0" rIns="0" bIns="0" rtlCol="0" anchor="ctr"/>
          <a:lstStyle/>
          <a:p>
            <a:pPr indent="0" marL="0">
              <a:buNone/>
            </a:pPr>
            <a:r>
              <a:rPr lang="en-US" sz="1600" dirty="0">
                <a:solidFill>
                  <a:schemeClr val="bg1"/>
                </a:solidFill>
              </a:rPr>
              <a:t>Does any person or tool use Sanity Studio directly?</a:t>
            </a:r>
            <a:endParaRPr lang="en-US" sz="1600" dirty="0"/>
          </a:p>
        </p:txBody>
      </p:sp>
      <p:sp>
        <p:nvSpPr>
          <p:cNvPr id="10" name="Question 3 card"/>
          <p:cNvSpPr/>
          <p:nvPr/>
        </p:nvSpPr>
        <p:spPr>
          <a:xfrm>
            <a:off x="548640" y="3383280"/>
            <a:ext cx="5422392" cy="1188720"/>
          </a:xfrm>
          <a:prstGeom prst="roundRect">
            <a:avLst>
              <a:gd name="adj" fmla="val 7692"/>
            </a:avLst>
          </a:prstGeom>
          <a:solidFill>
            <a:schemeClr val="accent1"/>
          </a:solidFill>
          <a:ln/>
        </p:spPr>
      </p:sp>
      <p:sp>
        <p:nvSpPr>
          <p:cNvPr id="11" name="Question 3 number"/>
          <p:cNvSpPr txBox="1"/>
          <p:nvPr/>
        </p:nvSpPr>
        <p:spPr>
          <a:xfrm>
            <a:off x="822960" y="3383280"/>
            <a:ext cx="548640" cy="1188720"/>
          </a:xfrm>
          <a:prstGeom prst="rect">
            <a:avLst/>
          </a:prstGeom>
          <a:noFill/>
          <a:ln/>
        </p:spPr>
        <p:txBody>
          <a:bodyPr wrap="square" lIns="0" tIns="0" rIns="0" bIns="0" rtlCol="0" anchor="ctr"/>
          <a:lstStyle/>
          <a:p>
            <a:pPr indent="0" marL="0">
              <a:buNone/>
            </a:pPr>
            <a:r>
              <a:rPr lang="en-US" sz="3200" b="1" dirty="0">
                <a:solidFill>
                  <a:schemeClr val="accent6"/>
                </a:solidFill>
                <a:latin typeface="+mj-lt" pitchFamily="34" charset="0"/>
                <a:ea typeface="+mj-lt" pitchFamily="34" charset="-122"/>
                <a:cs typeface="+mj-lt" pitchFamily="34" charset="-120"/>
              </a:rPr>
              <a:t>3</a:t>
            </a:r>
            <a:endParaRPr lang="en-US" sz="3200" dirty="0"/>
          </a:p>
        </p:txBody>
      </p:sp>
      <p:sp>
        <p:nvSpPr>
          <p:cNvPr id="12" name="Question 3 text"/>
          <p:cNvSpPr txBox="1"/>
          <p:nvPr/>
        </p:nvSpPr>
        <p:spPr>
          <a:xfrm>
            <a:off x="1463040" y="3383280"/>
            <a:ext cx="4297680" cy="1188720"/>
          </a:xfrm>
          <a:prstGeom prst="rect">
            <a:avLst/>
          </a:prstGeom>
          <a:noFill/>
          <a:ln/>
        </p:spPr>
        <p:txBody>
          <a:bodyPr wrap="square" lIns="0" tIns="0" rIns="0" bIns="0" rtlCol="0" anchor="ctr"/>
          <a:lstStyle/>
          <a:p>
            <a:pPr indent="0" marL="0">
              <a:buNone/>
            </a:pPr>
            <a:r>
              <a:rPr lang="en-US" sz="1600" dirty="0">
                <a:solidFill>
                  <a:schemeClr val="bg1"/>
                </a:solidFill>
              </a:rPr>
              <a:t>What downtime and rollback window is acceptable for cutover?</a:t>
            </a:r>
            <a:endParaRPr lang="en-US" sz="1600" dirty="0"/>
          </a:p>
        </p:txBody>
      </p:sp>
      <p:sp>
        <p:nvSpPr>
          <p:cNvPr id="13" name="Question 4 card"/>
          <p:cNvSpPr/>
          <p:nvPr/>
        </p:nvSpPr>
        <p:spPr>
          <a:xfrm>
            <a:off x="6217920" y="3383280"/>
            <a:ext cx="5422392" cy="1188720"/>
          </a:xfrm>
          <a:prstGeom prst="roundRect">
            <a:avLst>
              <a:gd name="adj" fmla="val 7692"/>
            </a:avLst>
          </a:prstGeom>
          <a:solidFill>
            <a:schemeClr val="accent1"/>
          </a:solidFill>
          <a:ln/>
        </p:spPr>
      </p:sp>
      <p:sp>
        <p:nvSpPr>
          <p:cNvPr id="14" name="Question 4 number"/>
          <p:cNvSpPr txBox="1"/>
          <p:nvPr/>
        </p:nvSpPr>
        <p:spPr>
          <a:xfrm>
            <a:off x="6492240" y="3383280"/>
            <a:ext cx="548640" cy="1188720"/>
          </a:xfrm>
          <a:prstGeom prst="rect">
            <a:avLst/>
          </a:prstGeom>
          <a:noFill/>
          <a:ln/>
        </p:spPr>
        <p:txBody>
          <a:bodyPr wrap="square" lIns="0" tIns="0" rIns="0" bIns="0" rtlCol="0" anchor="ctr"/>
          <a:lstStyle/>
          <a:p>
            <a:pPr indent="0" marL="0">
              <a:buNone/>
            </a:pPr>
            <a:r>
              <a:rPr lang="en-US" sz="3200" b="1" dirty="0">
                <a:solidFill>
                  <a:schemeClr val="accent6"/>
                </a:solidFill>
                <a:latin typeface="+mj-lt" pitchFamily="34" charset="0"/>
                <a:ea typeface="+mj-lt" pitchFamily="34" charset="-122"/>
                <a:cs typeface="+mj-lt" pitchFamily="34" charset="-120"/>
              </a:rPr>
              <a:t>4</a:t>
            </a:r>
            <a:endParaRPr lang="en-US" sz="3200" dirty="0"/>
          </a:p>
        </p:txBody>
      </p:sp>
      <p:sp>
        <p:nvSpPr>
          <p:cNvPr id="15" name="Question 4 text"/>
          <p:cNvSpPr txBox="1"/>
          <p:nvPr/>
        </p:nvSpPr>
        <p:spPr>
          <a:xfrm>
            <a:off x="7132320" y="3383280"/>
            <a:ext cx="4297680" cy="1188720"/>
          </a:xfrm>
          <a:prstGeom prst="rect">
            <a:avLst/>
          </a:prstGeom>
          <a:noFill/>
          <a:ln/>
        </p:spPr>
        <p:txBody>
          <a:bodyPr wrap="square" lIns="0" tIns="0" rIns="0" bIns="0" rtlCol="0" anchor="ctr"/>
          <a:lstStyle/>
          <a:p>
            <a:pPr indent="0" marL="0">
              <a:buNone/>
            </a:pPr>
            <a:r>
              <a:rPr lang="en-US" sz="1600" dirty="0">
                <a:solidFill>
                  <a:schemeClr val="bg1"/>
                </a:solidFill>
              </a:rPr>
              <a:t>Which hosting option is preferred, and who would maintain it?</a:t>
            </a:r>
            <a:endParaRPr lang="en-US" sz="1600" dirty="0"/>
          </a:p>
        </p:txBody>
      </p:sp>
      <p:sp>
        <p:nvSpPr>
          <p:cNvPr id="16" name="Question 5 card"/>
          <p:cNvSpPr/>
          <p:nvPr/>
        </p:nvSpPr>
        <p:spPr>
          <a:xfrm>
            <a:off x="548640" y="4754880"/>
            <a:ext cx="5422392" cy="1188720"/>
          </a:xfrm>
          <a:prstGeom prst="roundRect">
            <a:avLst>
              <a:gd name="adj" fmla="val 7692"/>
            </a:avLst>
          </a:prstGeom>
          <a:solidFill>
            <a:schemeClr val="accent1"/>
          </a:solidFill>
          <a:ln/>
        </p:spPr>
      </p:sp>
      <p:sp>
        <p:nvSpPr>
          <p:cNvPr id="17" name="Question 5 number"/>
          <p:cNvSpPr txBox="1"/>
          <p:nvPr/>
        </p:nvSpPr>
        <p:spPr>
          <a:xfrm>
            <a:off x="822960" y="4754880"/>
            <a:ext cx="548640" cy="1188720"/>
          </a:xfrm>
          <a:prstGeom prst="rect">
            <a:avLst/>
          </a:prstGeom>
          <a:noFill/>
          <a:ln/>
        </p:spPr>
        <p:txBody>
          <a:bodyPr wrap="square" lIns="0" tIns="0" rIns="0" bIns="0" rtlCol="0" anchor="ctr"/>
          <a:lstStyle/>
          <a:p>
            <a:pPr indent="0" marL="0">
              <a:buNone/>
            </a:pPr>
            <a:r>
              <a:rPr lang="en-US" sz="3200" b="1" dirty="0">
                <a:solidFill>
                  <a:schemeClr val="accent6"/>
                </a:solidFill>
                <a:latin typeface="+mj-lt" pitchFamily="34" charset="0"/>
                <a:ea typeface="+mj-lt" pitchFamily="34" charset="-122"/>
                <a:cs typeface="+mj-lt" pitchFamily="34" charset="-120"/>
              </a:rPr>
              <a:t>5</a:t>
            </a:r>
            <a:endParaRPr lang="en-US" sz="3200" dirty="0"/>
          </a:p>
        </p:txBody>
      </p:sp>
      <p:sp>
        <p:nvSpPr>
          <p:cNvPr id="18" name="Question 5 text"/>
          <p:cNvSpPr txBox="1"/>
          <p:nvPr/>
        </p:nvSpPr>
        <p:spPr>
          <a:xfrm>
            <a:off x="1463040" y="4754880"/>
            <a:ext cx="4297680" cy="1188720"/>
          </a:xfrm>
          <a:prstGeom prst="rect">
            <a:avLst/>
          </a:prstGeom>
          <a:noFill/>
          <a:ln/>
        </p:spPr>
        <p:txBody>
          <a:bodyPr wrap="square" lIns="0" tIns="0" rIns="0" bIns="0" rtlCol="0" anchor="ctr"/>
          <a:lstStyle/>
          <a:p>
            <a:pPr indent="0" marL="0">
              <a:buNone/>
            </a:pPr>
            <a:r>
              <a:rPr lang="en-US" sz="1600" dirty="0">
                <a:solidFill>
                  <a:schemeClr val="bg1"/>
                </a:solidFill>
              </a:rPr>
              <a:t>How reliable are the office's power and internet?</a:t>
            </a:r>
            <a:endParaRPr lang="en-US" sz="1600" dirty="0"/>
          </a:p>
        </p:txBody>
      </p:sp>
      <p:sp>
        <p:nvSpPr>
          <p:cNvPr id="19" name="Question 6 card"/>
          <p:cNvSpPr/>
          <p:nvPr/>
        </p:nvSpPr>
        <p:spPr>
          <a:xfrm>
            <a:off x="6217920" y="4754880"/>
            <a:ext cx="5422392" cy="1188720"/>
          </a:xfrm>
          <a:prstGeom prst="roundRect">
            <a:avLst>
              <a:gd name="adj" fmla="val 7692"/>
            </a:avLst>
          </a:prstGeom>
          <a:solidFill>
            <a:schemeClr val="accent1"/>
          </a:solidFill>
          <a:ln/>
        </p:spPr>
      </p:sp>
      <p:sp>
        <p:nvSpPr>
          <p:cNvPr id="20" name="Question 6 number"/>
          <p:cNvSpPr txBox="1"/>
          <p:nvPr/>
        </p:nvSpPr>
        <p:spPr>
          <a:xfrm>
            <a:off x="6492240" y="4754880"/>
            <a:ext cx="548640" cy="1188720"/>
          </a:xfrm>
          <a:prstGeom prst="rect">
            <a:avLst/>
          </a:prstGeom>
          <a:noFill/>
          <a:ln/>
        </p:spPr>
        <p:txBody>
          <a:bodyPr wrap="square" lIns="0" tIns="0" rIns="0" bIns="0" rtlCol="0" anchor="ctr"/>
          <a:lstStyle/>
          <a:p>
            <a:pPr indent="0" marL="0">
              <a:buNone/>
            </a:pPr>
            <a:r>
              <a:rPr lang="en-US" sz="3200" b="1" dirty="0">
                <a:solidFill>
                  <a:schemeClr val="accent6"/>
                </a:solidFill>
                <a:latin typeface="+mj-lt" pitchFamily="34" charset="0"/>
                <a:ea typeface="+mj-lt" pitchFamily="34" charset="-122"/>
                <a:cs typeface="+mj-lt" pitchFamily="34" charset="-120"/>
              </a:rPr>
              <a:t>6</a:t>
            </a:r>
            <a:endParaRPr lang="en-US" sz="3200" dirty="0"/>
          </a:p>
        </p:txBody>
      </p:sp>
      <p:sp>
        <p:nvSpPr>
          <p:cNvPr id="21" name="Question 6 text"/>
          <p:cNvSpPr txBox="1"/>
          <p:nvPr/>
        </p:nvSpPr>
        <p:spPr>
          <a:xfrm>
            <a:off x="7132320" y="4754880"/>
            <a:ext cx="4297680" cy="1188720"/>
          </a:xfrm>
          <a:prstGeom prst="rect">
            <a:avLst/>
          </a:prstGeom>
          <a:noFill/>
          <a:ln/>
        </p:spPr>
        <p:txBody>
          <a:bodyPr wrap="square" lIns="0" tIns="0" rIns="0" bIns="0" rtlCol="0" anchor="ctr"/>
          <a:lstStyle/>
          <a:p>
            <a:pPr indent="0" marL="0">
              <a:buNone/>
            </a:pPr>
            <a:r>
              <a:rPr lang="en-US" sz="1600" dirty="0">
                <a:solidFill>
                  <a:schemeClr val="bg1"/>
                </a:solidFill>
              </a:rPr>
              <a:t>What does the Sanity plan cost today?</a:t>
            </a:r>
            <a:endParaRPr lang="en-US" sz="16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C5B3"/>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aterFlow Forest">
  <a:themeElements>
    <a:clrScheme name="CaterFlow Forest">
      <a:dk1>
        <a:srgbClr val="16241F"/>
      </a:dk1>
      <a:lt1>
        <a:srgbClr val="FFFFFF"/>
      </a:lt1>
      <a:dk2>
        <a:srgbClr val="0E3B30"/>
      </a:dk2>
      <a:lt2>
        <a:srgbClr val="EAF2EE"/>
      </a:lt2>
      <a:accent1>
        <a:srgbClr val="1F8A5B"/>
      </a:accent1>
      <a:accent2>
        <a:srgbClr val="D99A00"/>
      </a:accent2>
      <a:accent3>
        <a:srgbClr val="B83A2E"/>
      </a:accent3>
      <a:accent4>
        <a:srgbClr val="2F6F8F"/>
      </a:accent4>
      <a:accent5>
        <a:srgbClr val="6B7F78"/>
      </a:accent5>
      <a:accent6>
        <a:srgbClr val="9CC5B3"/>
      </a:accent6>
      <a:hlink>
        <a:srgbClr val="2F6F8F"/>
      </a:hlink>
      <a:folHlink>
        <a:srgbClr val="6B7F78"/>
      </a:folHlink>
    </a:clrScheme>
    <a:fontScheme name="CaterFlow Fores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CaterFlow: moving from Sanity to MongoDB</dc:title>
  <dc:subject>Options, considerations and pricing</dc:subject>
  <dc:creator>G-Solutions²</dc:creator>
  <cp:lastModifiedBy>G-Solutions²</cp:lastModifiedBy>
  <cp:revision>1</cp:revision>
  <dcterms:created xsi:type="dcterms:W3CDTF">2026-10-04T15:25:36Z</dcterms:created>
  <dcterms:modified xsi:type="dcterms:W3CDTF">2026-10-04T15:25:36Z</dcterms:modified>
</cp:coreProperties>
</file>